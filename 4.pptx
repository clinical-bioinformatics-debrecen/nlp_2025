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018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832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79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61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0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9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963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524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31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64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09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958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88498-6BE3-4B85-A51A-914F2A51E9D6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B9E62-10DA-4C2F-A8EC-A6BC25BE3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18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inst/SentAlign/" TargetMode="External"/><Relationship Id="rId2" Type="http://schemas.openxmlformats.org/officeDocument/2006/relationships/hyperlink" Target="http://mokk.bme.hu/resources/hunalign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ketchengine.eu/wp-content/uploads/The_Sketch_Engine_2004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ketchengine.eu/guide/word-sketch-collocations-and-word-combination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ketchengine.eu/documentation/the-corpus-configuration-file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 smtClean="0"/>
              <a:t>Natural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Processing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sz="3200" i="1" dirty="0" err="1" smtClean="0"/>
              <a:t>Corpora</a:t>
            </a:r>
            <a:r>
              <a:rPr lang="hu-HU" sz="3200" i="1" dirty="0" smtClean="0"/>
              <a:t> and </a:t>
            </a:r>
            <a:r>
              <a:rPr lang="hu-HU" sz="3200" i="1" dirty="0" err="1" smtClean="0"/>
              <a:t>NoSketchEngine</a:t>
            </a:r>
            <a:endParaRPr lang="en-GB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smtClean="0"/>
              <a:t>Pethő Gergely</a:t>
            </a:r>
          </a:p>
          <a:p>
            <a:r>
              <a:rPr lang="hu-HU" dirty="0" err="1" smtClean="0"/>
              <a:t>October</a:t>
            </a:r>
            <a:r>
              <a:rPr lang="hu-HU" dirty="0" smtClean="0"/>
              <a:t> 14, 2025</a:t>
            </a:r>
          </a:p>
          <a:p>
            <a:r>
              <a:rPr lang="hu-HU" dirty="0" err="1" smtClean="0"/>
              <a:t>UD</a:t>
            </a:r>
            <a:r>
              <a:rPr lang="hu-HU" dirty="0" smtClean="0"/>
              <a:t> </a:t>
            </a:r>
            <a:r>
              <a:rPr lang="hu-HU" dirty="0" err="1" smtClean="0"/>
              <a:t>Faculty</a:t>
            </a:r>
            <a:r>
              <a:rPr lang="hu-HU" dirty="0" smtClean="0"/>
              <a:t> of Health Science,</a:t>
            </a:r>
          </a:p>
          <a:p>
            <a:r>
              <a:rPr lang="hu-HU" dirty="0" err="1" smtClean="0"/>
              <a:t>Department</a:t>
            </a:r>
            <a:r>
              <a:rPr lang="hu-HU" dirty="0" smtClean="0"/>
              <a:t> of </a:t>
            </a:r>
            <a:r>
              <a:rPr lang="hu-HU" dirty="0" err="1" smtClean="0"/>
              <a:t>Bioinformatics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93104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Corpora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A corpus (Latin </a:t>
            </a:r>
            <a:r>
              <a:rPr lang="hu-HU" dirty="0" err="1" smtClean="0"/>
              <a:t>for</a:t>
            </a:r>
            <a:r>
              <a:rPr lang="hu-HU" dirty="0" smtClean="0"/>
              <a:t> body) is </a:t>
            </a:r>
            <a:r>
              <a:rPr lang="hu-HU" dirty="0" err="1" smtClean="0"/>
              <a:t>simply</a:t>
            </a:r>
            <a:r>
              <a:rPr lang="hu-HU" dirty="0" smtClean="0"/>
              <a:t> a </a:t>
            </a:r>
            <a:r>
              <a:rPr lang="hu-HU" b="1" dirty="0" err="1" smtClean="0"/>
              <a:t>collection</a:t>
            </a:r>
            <a:r>
              <a:rPr lang="hu-HU" b="1" dirty="0" smtClean="0"/>
              <a:t> (body) of </a:t>
            </a:r>
            <a:r>
              <a:rPr lang="hu-HU" b="1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being </a:t>
            </a:r>
            <a:r>
              <a:rPr lang="hu-HU" b="1" dirty="0" err="1" smtClean="0"/>
              <a:t>stored</a:t>
            </a:r>
            <a:r>
              <a:rPr lang="hu-HU" dirty="0" smtClean="0"/>
              <a:t> and </a:t>
            </a:r>
            <a:r>
              <a:rPr lang="hu-HU" b="1" dirty="0" err="1" smtClean="0"/>
              <a:t>processed</a:t>
            </a:r>
            <a:r>
              <a:rPr lang="hu-HU" b="1" dirty="0" smtClean="0"/>
              <a:t> </a:t>
            </a:r>
            <a:r>
              <a:rPr lang="hu-HU" b="1" dirty="0" err="1" smtClean="0"/>
              <a:t>together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almost </a:t>
            </a:r>
            <a:r>
              <a:rPr lang="hu-HU" dirty="0" err="1" smtClean="0"/>
              <a:t>always</a:t>
            </a:r>
            <a:r>
              <a:rPr lang="hu-HU" dirty="0" smtClean="0"/>
              <a:t> </a:t>
            </a:r>
            <a:r>
              <a:rPr lang="hu-HU" dirty="0" err="1" smtClean="0"/>
              <a:t>electronic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practice</a:t>
            </a:r>
            <a:endParaRPr lang="hu-HU" dirty="0" smtClean="0"/>
          </a:p>
          <a:p>
            <a:pPr lvl="1"/>
            <a:r>
              <a:rPr lang="hu-HU" b="1" dirty="0" err="1" smtClean="0"/>
              <a:t>any</a:t>
            </a:r>
            <a:r>
              <a:rPr lang="hu-HU" b="1" dirty="0" smtClean="0"/>
              <a:t> </a:t>
            </a:r>
            <a:r>
              <a:rPr lang="hu-HU" b="1" dirty="0" err="1" smtClean="0"/>
              <a:t>number</a:t>
            </a:r>
            <a:r>
              <a:rPr lang="hu-HU" b="1" dirty="0" smtClean="0"/>
              <a:t> of </a:t>
            </a:r>
            <a:r>
              <a:rPr lang="hu-HU" b="1" dirty="0" err="1" smtClean="0"/>
              <a:t>texts</a:t>
            </a:r>
            <a:r>
              <a:rPr lang="hu-HU" dirty="0" smtClean="0"/>
              <a:t>,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extreme</a:t>
            </a:r>
            <a:r>
              <a:rPr lang="hu-HU" dirty="0" smtClean="0"/>
              <a:t> </a:t>
            </a:r>
            <a:r>
              <a:rPr lang="hu-HU" dirty="0" err="1" smtClean="0"/>
              <a:t>case</a:t>
            </a:r>
            <a:r>
              <a:rPr lang="hu-HU" dirty="0" smtClean="0"/>
              <a:t> </a:t>
            </a:r>
            <a:r>
              <a:rPr lang="hu-HU" dirty="0" err="1" smtClean="0"/>
              <a:t>even</a:t>
            </a:r>
            <a:r>
              <a:rPr lang="hu-HU" dirty="0" smtClean="0"/>
              <a:t> </a:t>
            </a:r>
            <a:r>
              <a:rPr lang="hu-HU" dirty="0" err="1" smtClean="0"/>
              <a:t>one</a:t>
            </a:r>
            <a:endParaRPr lang="hu-HU" dirty="0" smtClean="0"/>
          </a:p>
          <a:p>
            <a:pPr lvl="1"/>
            <a:r>
              <a:rPr lang="hu-HU" dirty="0" err="1" smtClean="0"/>
              <a:t>the</a:t>
            </a:r>
            <a:r>
              <a:rPr lang="hu-HU" dirty="0" smtClean="0"/>
              <a:t> web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regarded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a corpus (web </a:t>
            </a:r>
            <a:r>
              <a:rPr lang="hu-HU" dirty="0" err="1" smtClean="0"/>
              <a:t>as</a:t>
            </a:r>
            <a:r>
              <a:rPr lang="hu-HU" dirty="0" smtClean="0"/>
              <a:t> a corpus)</a:t>
            </a:r>
          </a:p>
          <a:p>
            <a:pPr lvl="1"/>
            <a:r>
              <a:rPr lang="hu-HU" i="1" dirty="0" err="1" smtClean="0"/>
              <a:t>corpora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Latin </a:t>
            </a:r>
            <a:r>
              <a:rPr lang="hu-HU" dirty="0" err="1" smtClean="0"/>
              <a:t>plural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noun</a:t>
            </a:r>
            <a:r>
              <a:rPr lang="hu-HU" dirty="0" smtClean="0"/>
              <a:t> corpus and is 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English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plural</a:t>
            </a:r>
            <a:r>
              <a:rPr lang="hu-HU" dirty="0" smtClean="0"/>
              <a:t>, </a:t>
            </a:r>
            <a:r>
              <a:rPr lang="hu-HU" dirty="0" err="1" smtClean="0"/>
              <a:t>as</a:t>
            </a:r>
            <a:r>
              <a:rPr lang="hu-HU" dirty="0" smtClean="0"/>
              <a:t> is </a:t>
            </a:r>
            <a:r>
              <a:rPr lang="hu-HU" dirty="0" err="1" smtClean="0"/>
              <a:t>customary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English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Latinate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endParaRPr lang="hu-HU" dirty="0" smtClean="0"/>
          </a:p>
          <a:p>
            <a:pPr lvl="2"/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dirty="0"/>
              <a:t>–</a:t>
            </a:r>
            <a:r>
              <a:rPr lang="hu-HU" dirty="0" smtClean="0"/>
              <a:t> </a:t>
            </a:r>
            <a:r>
              <a:rPr lang="hu-HU" dirty="0" err="1" smtClean="0"/>
              <a:t>matrices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matrixes</a:t>
            </a:r>
            <a:r>
              <a:rPr lang="hu-HU" dirty="0" smtClean="0"/>
              <a:t>; corpus – </a:t>
            </a:r>
            <a:r>
              <a:rPr lang="hu-HU" dirty="0" err="1" smtClean="0"/>
              <a:t>corpora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corpuses</a:t>
            </a:r>
            <a:endParaRPr lang="hu-HU" dirty="0" smtClean="0"/>
          </a:p>
          <a:p>
            <a:pPr lvl="1"/>
            <a:r>
              <a:rPr lang="hu-HU" dirty="0" err="1" smtClean="0"/>
              <a:t>appears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original</a:t>
            </a:r>
            <a:r>
              <a:rPr lang="hu-HU" dirty="0" smtClean="0"/>
              <a:t> </a:t>
            </a:r>
            <a:r>
              <a:rPr lang="hu-HU" dirty="0" err="1" smtClean="0"/>
              <a:t>meaning</a:t>
            </a:r>
            <a:r>
              <a:rPr lang="hu-HU" dirty="0" smtClean="0"/>
              <a:t> of body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literally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metaphorically</a:t>
            </a:r>
            <a:r>
              <a:rPr lang="hu-HU" dirty="0" smtClean="0"/>
              <a:t> </a:t>
            </a:r>
            <a:r>
              <a:rPr lang="hu-HU" dirty="0" err="1" smtClean="0"/>
              <a:t>understood</a:t>
            </a:r>
            <a:r>
              <a:rPr lang="hu-HU" dirty="0" smtClean="0"/>
              <a:t> </a:t>
            </a:r>
            <a:r>
              <a:rPr lang="hu-HU" dirty="0" err="1" smtClean="0"/>
              <a:t>root</a:t>
            </a:r>
            <a:r>
              <a:rPr lang="hu-HU" dirty="0" smtClean="0"/>
              <a:t> of </a:t>
            </a:r>
            <a:r>
              <a:rPr lang="hu-HU" dirty="0" err="1" smtClean="0"/>
              <a:t>many</a:t>
            </a:r>
            <a:r>
              <a:rPr lang="hu-HU" dirty="0" smtClean="0"/>
              <a:t> English </a:t>
            </a:r>
            <a:r>
              <a:rPr lang="hu-HU" dirty="0" err="1" smtClean="0"/>
              <a:t>words</a:t>
            </a:r>
            <a:r>
              <a:rPr lang="hu-HU" dirty="0" smtClean="0"/>
              <a:t> and part of </a:t>
            </a:r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phrases</a:t>
            </a:r>
            <a:endParaRPr lang="hu-HU" dirty="0" smtClean="0"/>
          </a:p>
          <a:p>
            <a:pPr lvl="2"/>
            <a:r>
              <a:rPr lang="hu-HU" dirty="0" err="1" smtClean="0"/>
              <a:t>corporeal</a:t>
            </a:r>
            <a:r>
              <a:rPr lang="hu-HU" dirty="0" smtClean="0"/>
              <a:t>, </a:t>
            </a:r>
            <a:r>
              <a:rPr lang="hu-HU" dirty="0" err="1" smtClean="0"/>
              <a:t>incorporate</a:t>
            </a:r>
            <a:r>
              <a:rPr lang="hu-HU" dirty="0" smtClean="0"/>
              <a:t>, </a:t>
            </a:r>
            <a:r>
              <a:rPr lang="hu-HU" dirty="0" err="1" smtClean="0"/>
              <a:t>corporation</a:t>
            </a:r>
            <a:r>
              <a:rPr lang="hu-HU" dirty="0" smtClean="0"/>
              <a:t>, </a:t>
            </a:r>
            <a:r>
              <a:rPr lang="hu-HU" dirty="0" err="1" smtClean="0"/>
              <a:t>habeas</a:t>
            </a:r>
            <a:r>
              <a:rPr lang="hu-HU" dirty="0" smtClean="0"/>
              <a:t> corpus, </a:t>
            </a:r>
            <a:r>
              <a:rPr lang="hu-HU" dirty="0" err="1" smtClean="0"/>
              <a:t>corpus</a:t>
            </a:r>
            <a:r>
              <a:rPr lang="hu-HU" dirty="0" smtClean="0"/>
              <a:t> </a:t>
            </a:r>
            <a:r>
              <a:rPr lang="hu-HU" dirty="0" err="1" smtClean="0"/>
              <a:t>delicti</a:t>
            </a:r>
            <a:r>
              <a:rPr lang="hu-HU" dirty="0" smtClean="0"/>
              <a:t>, etc.</a:t>
            </a:r>
          </a:p>
          <a:p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addition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themselves</a:t>
            </a:r>
            <a:r>
              <a:rPr lang="hu-HU" dirty="0" smtClean="0"/>
              <a:t>, a corpus </a:t>
            </a:r>
            <a:r>
              <a:rPr lang="hu-HU" dirty="0" err="1" smtClean="0"/>
              <a:t>normally</a:t>
            </a:r>
            <a:r>
              <a:rPr lang="hu-HU" dirty="0" smtClean="0"/>
              <a:t>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b="1" dirty="0" err="1" smtClean="0"/>
              <a:t>metadata</a:t>
            </a:r>
            <a:r>
              <a:rPr lang="hu-HU" b="1" dirty="0" smtClean="0"/>
              <a:t> </a:t>
            </a:r>
            <a:r>
              <a:rPr lang="hu-HU" dirty="0" err="1" smtClean="0"/>
              <a:t>describing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endParaRPr lang="hu-HU" dirty="0" smtClean="0"/>
          </a:p>
          <a:p>
            <a:pPr lvl="1"/>
            <a:r>
              <a:rPr lang="hu-HU" dirty="0" err="1" smtClean="0"/>
              <a:t>author</a:t>
            </a:r>
            <a:r>
              <a:rPr lang="hu-HU" dirty="0" smtClean="0"/>
              <a:t>, </a:t>
            </a:r>
            <a:r>
              <a:rPr lang="hu-HU" dirty="0" err="1" smtClean="0"/>
              <a:t>title</a:t>
            </a:r>
            <a:r>
              <a:rPr lang="hu-HU" dirty="0" smtClean="0"/>
              <a:t>, </a:t>
            </a:r>
            <a:r>
              <a:rPr lang="hu-HU" dirty="0" err="1" smtClean="0"/>
              <a:t>date</a:t>
            </a:r>
            <a:endParaRPr lang="hu-HU" dirty="0" smtClean="0"/>
          </a:p>
          <a:p>
            <a:pPr lvl="1"/>
            <a:r>
              <a:rPr lang="hu-HU" dirty="0" err="1" smtClean="0"/>
              <a:t>source</a:t>
            </a:r>
            <a:r>
              <a:rPr lang="hu-HU" dirty="0" smtClean="0"/>
              <a:t>: </a:t>
            </a:r>
            <a:r>
              <a:rPr lang="hu-HU" dirty="0" err="1" smtClean="0"/>
              <a:t>where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text </a:t>
            </a:r>
            <a:r>
              <a:rPr lang="hu-HU" dirty="0" err="1" smtClean="0"/>
              <a:t>from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what</a:t>
            </a:r>
            <a:r>
              <a:rPr lang="hu-HU" dirty="0" smtClean="0"/>
              <a:t> URL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downloaded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, </a:t>
            </a:r>
            <a:r>
              <a:rPr lang="hu-HU" dirty="0" err="1" smtClean="0"/>
              <a:t>when</a:t>
            </a:r>
            <a:endParaRPr lang="hu-HU" dirty="0" smtClean="0"/>
          </a:p>
          <a:p>
            <a:pPr lvl="1"/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descriptive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,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keywords</a:t>
            </a:r>
            <a:r>
              <a:rPr lang="hu-HU" dirty="0" smtClean="0"/>
              <a:t>, </a:t>
            </a:r>
            <a:r>
              <a:rPr lang="hu-HU" dirty="0" err="1" smtClean="0"/>
              <a:t>genre</a:t>
            </a:r>
            <a:r>
              <a:rPr lang="hu-HU" dirty="0" smtClean="0"/>
              <a:t> </a:t>
            </a:r>
            <a:r>
              <a:rPr lang="hu-HU" dirty="0" err="1" smtClean="0"/>
              <a:t>labels</a:t>
            </a:r>
            <a:r>
              <a:rPr lang="hu-HU" dirty="0" smtClean="0"/>
              <a:t>, </a:t>
            </a:r>
            <a:r>
              <a:rPr lang="hu-HU" dirty="0" err="1" smtClean="0"/>
              <a:t>language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403222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Main </a:t>
            </a:r>
            <a:r>
              <a:rPr lang="hu-HU" dirty="0" err="1" smtClean="0"/>
              <a:t>Types</a:t>
            </a:r>
            <a:r>
              <a:rPr lang="hu-HU" dirty="0" smtClean="0"/>
              <a:t> of </a:t>
            </a:r>
            <a:r>
              <a:rPr lang="hu-HU" dirty="0" err="1" smtClean="0"/>
              <a:t>Corpora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respect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language</a:t>
            </a:r>
            <a:r>
              <a:rPr lang="hu-HU" dirty="0" smtClean="0"/>
              <a:t>:</a:t>
            </a:r>
          </a:p>
          <a:p>
            <a:pPr lvl="1"/>
            <a:r>
              <a:rPr lang="hu-HU" b="1" dirty="0" err="1" smtClean="0"/>
              <a:t>monolingual</a:t>
            </a:r>
            <a:endParaRPr lang="hu-HU" b="1" dirty="0" smtClean="0"/>
          </a:p>
          <a:p>
            <a:pPr lvl="1"/>
            <a:r>
              <a:rPr lang="hu-HU" b="1" dirty="0" err="1" smtClean="0"/>
              <a:t>multilingual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including</a:t>
            </a:r>
            <a:r>
              <a:rPr lang="hu-HU" dirty="0" smtClean="0"/>
              <a:t> </a:t>
            </a:r>
            <a:r>
              <a:rPr lang="hu-HU" dirty="0" err="1" smtClean="0"/>
              <a:t>bilingual</a:t>
            </a:r>
            <a:r>
              <a:rPr lang="hu-HU" dirty="0" smtClean="0"/>
              <a:t>)</a:t>
            </a:r>
          </a:p>
          <a:p>
            <a:pPr lvl="2"/>
            <a:r>
              <a:rPr lang="hu-HU" b="1" dirty="0" smtClean="0"/>
              <a:t>parallel </a:t>
            </a:r>
            <a:r>
              <a:rPr lang="hu-HU" dirty="0" smtClean="0"/>
              <a:t>corpus: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dirty="0" err="1"/>
              <a:t>translation</a:t>
            </a:r>
            <a:r>
              <a:rPr lang="hu-HU" dirty="0"/>
              <a:t>(s</a:t>
            </a:r>
            <a:r>
              <a:rPr lang="hu-HU" dirty="0" smtClean="0"/>
              <a:t>)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text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several</a:t>
            </a:r>
            <a:r>
              <a:rPr lang="hu-HU" dirty="0" smtClean="0"/>
              <a:t> </a:t>
            </a:r>
            <a:r>
              <a:rPr lang="hu-HU" dirty="0" err="1" smtClean="0"/>
              <a:t>languages</a:t>
            </a:r>
            <a:r>
              <a:rPr lang="hu-HU" dirty="0" smtClean="0"/>
              <a:t>, </a:t>
            </a:r>
            <a:r>
              <a:rPr lang="hu-HU" dirty="0" err="1" smtClean="0"/>
              <a:t>best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/>
              <a:t>: </a:t>
            </a:r>
            <a:r>
              <a:rPr lang="hu-HU" dirty="0" err="1"/>
              <a:t>https</a:t>
            </a:r>
            <a:r>
              <a:rPr lang="hu-HU" dirty="0"/>
              <a:t>://</a:t>
            </a:r>
            <a:r>
              <a:rPr lang="hu-HU" dirty="0" err="1"/>
              <a:t>opus.nlpl.eu</a:t>
            </a:r>
            <a:r>
              <a:rPr lang="hu-HU" dirty="0" smtClean="0"/>
              <a:t>/</a:t>
            </a:r>
          </a:p>
          <a:p>
            <a:pPr lvl="3"/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machine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</a:t>
            </a:r>
            <a:r>
              <a:rPr lang="hu-HU" dirty="0" err="1" smtClean="0"/>
              <a:t>systems</a:t>
            </a:r>
            <a:r>
              <a:rPr lang="hu-HU" dirty="0" smtClean="0"/>
              <a:t>,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support</a:t>
            </a:r>
            <a:r>
              <a:rPr lang="hu-HU" dirty="0" smtClean="0"/>
              <a:t> human </a:t>
            </a:r>
            <a:r>
              <a:rPr lang="hu-HU" dirty="0" err="1" smtClean="0"/>
              <a:t>translators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a </a:t>
            </a:r>
            <a:r>
              <a:rPr lang="hu-HU" dirty="0" err="1" smtClean="0"/>
              <a:t>tool</a:t>
            </a:r>
            <a:r>
              <a:rPr lang="hu-HU" dirty="0" smtClean="0"/>
              <a:t> (</a:t>
            </a:r>
            <a:r>
              <a:rPr lang="hu-HU" dirty="0" err="1" smtClean="0"/>
              <a:t>computer-assisted</a:t>
            </a:r>
            <a:r>
              <a:rPr lang="hu-HU" dirty="0" smtClean="0"/>
              <a:t> </a:t>
            </a:r>
            <a:r>
              <a:rPr lang="hu-HU" dirty="0" err="1" smtClean="0"/>
              <a:t>translation</a:t>
            </a:r>
            <a:r>
              <a:rPr lang="hu-HU" dirty="0" smtClean="0"/>
              <a:t>)</a:t>
            </a:r>
          </a:p>
          <a:p>
            <a:pPr lvl="2"/>
            <a:r>
              <a:rPr lang="hu-HU" b="1" dirty="0" err="1" smtClean="0"/>
              <a:t>comparable</a:t>
            </a:r>
            <a:r>
              <a:rPr lang="hu-HU" b="1" dirty="0" smtClean="0"/>
              <a:t> </a:t>
            </a:r>
            <a:r>
              <a:rPr lang="hu-HU" dirty="0" smtClean="0"/>
              <a:t>corpus: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dirty="0" err="1" smtClean="0"/>
              <a:t>different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different</a:t>
            </a:r>
            <a:r>
              <a:rPr lang="hu-HU" dirty="0" smtClean="0"/>
              <a:t> </a:t>
            </a:r>
            <a:r>
              <a:rPr lang="hu-HU" dirty="0" err="1" smtClean="0"/>
              <a:t>languages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genre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social</a:t>
            </a:r>
            <a:r>
              <a:rPr lang="hu-HU" dirty="0" smtClean="0"/>
              <a:t> </a:t>
            </a:r>
            <a:r>
              <a:rPr lang="hu-HU" dirty="0" err="1" smtClean="0"/>
              <a:t>media</a:t>
            </a:r>
            <a:r>
              <a:rPr lang="hu-HU" dirty="0" smtClean="0"/>
              <a:t> post </a:t>
            </a:r>
            <a:r>
              <a:rPr lang="hu-HU" dirty="0" err="1" smtClean="0"/>
              <a:t>in</a:t>
            </a:r>
            <a:r>
              <a:rPr lang="hu-HU" dirty="0" smtClean="0"/>
              <a:t> English and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Hungarian</a:t>
            </a:r>
            <a:endParaRPr lang="hu-HU" dirty="0" smtClean="0"/>
          </a:p>
          <a:p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respect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content</a:t>
            </a:r>
            <a:r>
              <a:rPr lang="hu-HU" dirty="0" smtClean="0"/>
              <a:t>:</a:t>
            </a:r>
          </a:p>
          <a:p>
            <a:pPr lvl="1"/>
            <a:r>
              <a:rPr lang="hu-HU" b="1" dirty="0" err="1" smtClean="0"/>
              <a:t>general</a:t>
            </a:r>
            <a:r>
              <a:rPr lang="hu-HU" dirty="0" smtClean="0"/>
              <a:t>: </a:t>
            </a:r>
            <a:r>
              <a:rPr lang="hu-HU" dirty="0" err="1" smtClean="0"/>
              <a:t>different</a:t>
            </a:r>
            <a:r>
              <a:rPr lang="hu-HU" dirty="0" smtClean="0"/>
              <a:t> </a:t>
            </a:r>
            <a:r>
              <a:rPr lang="hu-HU" dirty="0" err="1" smtClean="0"/>
              <a:t>sorts</a:t>
            </a:r>
            <a:r>
              <a:rPr lang="hu-HU" dirty="0" smtClean="0"/>
              <a:t> of </a:t>
            </a:r>
            <a:r>
              <a:rPr lang="hu-HU" dirty="0" err="1" smtClean="0"/>
              <a:t>texts</a:t>
            </a:r>
            <a:r>
              <a:rPr lang="hu-HU" dirty="0" smtClean="0"/>
              <a:t>, </a:t>
            </a:r>
            <a:r>
              <a:rPr lang="hu-HU" dirty="0" err="1" smtClean="0"/>
              <a:t>usually</a:t>
            </a:r>
            <a:r>
              <a:rPr lang="hu-HU" dirty="0" smtClean="0"/>
              <a:t> a </a:t>
            </a:r>
            <a:r>
              <a:rPr lang="hu-HU" dirty="0" err="1" smtClean="0"/>
              <a:t>convenience</a:t>
            </a:r>
            <a:r>
              <a:rPr lang="hu-HU" dirty="0" smtClean="0"/>
              <a:t> </a:t>
            </a:r>
            <a:r>
              <a:rPr lang="hu-HU" dirty="0" err="1" smtClean="0"/>
              <a:t>sample</a:t>
            </a:r>
            <a:r>
              <a:rPr lang="hu-HU" dirty="0" smtClean="0"/>
              <a:t> of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a </a:t>
            </a:r>
            <a:r>
              <a:rPr lang="hu-HU" dirty="0" err="1" smtClean="0"/>
              <a:t>language</a:t>
            </a:r>
            <a:r>
              <a:rPr lang="hu-HU" dirty="0" smtClean="0"/>
              <a:t> (</a:t>
            </a:r>
            <a:r>
              <a:rPr lang="hu-HU" dirty="0" err="1" smtClean="0"/>
              <a:t>what</a:t>
            </a:r>
            <a:r>
              <a:rPr lang="hu-HU" dirty="0" smtClean="0"/>
              <a:t> is </a:t>
            </a:r>
            <a:r>
              <a:rPr lang="hu-HU" dirty="0" err="1" smtClean="0"/>
              <a:t>easily</a:t>
            </a:r>
            <a:r>
              <a:rPr lang="hu-HU" dirty="0" smtClean="0"/>
              <a:t> </a:t>
            </a:r>
            <a:r>
              <a:rPr lang="hu-HU" dirty="0" err="1" smtClean="0"/>
              <a:t>available</a:t>
            </a:r>
            <a:r>
              <a:rPr lang="hu-HU" dirty="0" smtClean="0"/>
              <a:t>?)</a:t>
            </a:r>
          </a:p>
          <a:p>
            <a:pPr lvl="1"/>
            <a:r>
              <a:rPr lang="hu-HU" b="1" dirty="0" err="1" smtClean="0"/>
              <a:t>balanced</a:t>
            </a:r>
            <a:r>
              <a:rPr lang="hu-HU" dirty="0" smtClean="0"/>
              <a:t>: a </a:t>
            </a:r>
            <a:r>
              <a:rPr lang="hu-HU" dirty="0" err="1" smtClean="0"/>
              <a:t>stratified</a:t>
            </a:r>
            <a:r>
              <a:rPr lang="hu-HU" dirty="0" smtClean="0"/>
              <a:t> </a:t>
            </a:r>
            <a:r>
              <a:rPr lang="hu-HU" dirty="0" err="1" smtClean="0"/>
              <a:t>sample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tries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collect</a:t>
            </a:r>
            <a:r>
              <a:rPr lang="hu-HU" dirty="0" smtClean="0"/>
              <a:t> </a:t>
            </a:r>
            <a:r>
              <a:rPr lang="hu-HU" dirty="0" err="1" smtClean="0"/>
              <a:t>samples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text </a:t>
            </a:r>
            <a:r>
              <a:rPr lang="hu-HU" dirty="0" err="1" smtClean="0"/>
              <a:t>types</a:t>
            </a:r>
            <a:r>
              <a:rPr lang="hu-HU" dirty="0" smtClean="0"/>
              <a:t> / </a:t>
            </a:r>
            <a:r>
              <a:rPr lang="hu-HU" dirty="0" err="1" smtClean="0"/>
              <a:t>genres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produced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language</a:t>
            </a:r>
            <a:r>
              <a:rPr lang="hu-HU" dirty="0" smtClean="0"/>
              <a:t> and </a:t>
            </a:r>
            <a:r>
              <a:rPr lang="hu-HU" dirty="0" err="1" smtClean="0"/>
              <a:t>tries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reflect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relative</a:t>
            </a:r>
            <a:r>
              <a:rPr lang="hu-HU" dirty="0" smtClean="0"/>
              <a:t> </a:t>
            </a:r>
            <a:r>
              <a:rPr lang="hu-HU" dirty="0" err="1" smtClean="0"/>
              <a:t>amount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genres</a:t>
            </a:r>
            <a:r>
              <a:rPr lang="hu-HU" dirty="0" smtClean="0"/>
              <a:t> being </a:t>
            </a:r>
            <a:r>
              <a:rPr lang="hu-HU" dirty="0" err="1" smtClean="0"/>
              <a:t>produced</a:t>
            </a:r>
            <a:endParaRPr lang="hu-HU" dirty="0"/>
          </a:p>
          <a:p>
            <a:pPr lvl="2"/>
            <a:r>
              <a:rPr lang="hu-HU" dirty="0" err="1" smtClean="0"/>
              <a:t>classic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: </a:t>
            </a:r>
            <a:r>
              <a:rPr lang="hu-HU" dirty="0" err="1" smtClean="0"/>
              <a:t>the</a:t>
            </a:r>
            <a:r>
              <a:rPr lang="hu-HU" dirty="0" smtClean="0"/>
              <a:t> British National Corpus (</a:t>
            </a:r>
            <a:r>
              <a:rPr lang="hu-HU" dirty="0" err="1" smtClean="0"/>
              <a:t>BNC</a:t>
            </a:r>
            <a:r>
              <a:rPr lang="hu-HU" dirty="0" smtClean="0"/>
              <a:t>)</a:t>
            </a:r>
          </a:p>
          <a:p>
            <a:pPr lvl="1"/>
            <a:r>
              <a:rPr lang="hu-HU" b="1" dirty="0" err="1" smtClean="0"/>
              <a:t>genre-specific</a:t>
            </a:r>
            <a:r>
              <a:rPr lang="hu-HU" dirty="0" smtClean="0"/>
              <a:t>: 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journalistic</a:t>
            </a:r>
            <a:r>
              <a:rPr lang="hu-HU" dirty="0" smtClean="0"/>
              <a:t>, </a:t>
            </a:r>
            <a:r>
              <a:rPr lang="hu-HU" dirty="0" err="1" smtClean="0"/>
              <a:t>legal</a:t>
            </a:r>
            <a:r>
              <a:rPr lang="hu-HU" dirty="0" smtClean="0"/>
              <a:t>, </a:t>
            </a:r>
            <a:r>
              <a:rPr lang="hu-HU" dirty="0" err="1" smtClean="0"/>
              <a:t>children</a:t>
            </a:r>
            <a:r>
              <a:rPr lang="hu-HU" dirty="0" smtClean="0"/>
              <a:t>’s </a:t>
            </a:r>
            <a:r>
              <a:rPr lang="hu-HU" dirty="0" err="1" smtClean="0"/>
              <a:t>books</a:t>
            </a:r>
            <a:r>
              <a:rPr lang="hu-HU" dirty="0" smtClean="0"/>
              <a:t>, </a:t>
            </a:r>
            <a:r>
              <a:rPr lang="hu-HU" dirty="0" err="1" smtClean="0"/>
              <a:t>speeches</a:t>
            </a:r>
            <a:r>
              <a:rPr lang="hu-HU" dirty="0" smtClean="0"/>
              <a:t> </a:t>
            </a:r>
            <a:r>
              <a:rPr lang="hu-HU" dirty="0" err="1" smtClean="0"/>
              <a:t>given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parliament</a:t>
            </a:r>
            <a:endParaRPr lang="hu-HU" dirty="0" smtClean="0"/>
          </a:p>
          <a:p>
            <a:pPr lvl="2"/>
            <a:r>
              <a:rPr lang="hu-HU" dirty="0" err="1" smtClean="0"/>
              <a:t>example</a:t>
            </a:r>
            <a:r>
              <a:rPr lang="hu-HU" dirty="0" smtClean="0"/>
              <a:t>: </a:t>
            </a:r>
            <a:r>
              <a:rPr lang="hu-HU" dirty="0" err="1" smtClean="0"/>
              <a:t>https</a:t>
            </a:r>
            <a:r>
              <a:rPr lang="hu-HU" dirty="0"/>
              <a:t>://</a:t>
            </a:r>
            <a:r>
              <a:rPr lang="hu-HU" dirty="0" err="1"/>
              <a:t>www.english-corpora.org</a:t>
            </a:r>
            <a:r>
              <a:rPr lang="hu-HU" dirty="0"/>
              <a:t>/</a:t>
            </a:r>
            <a:endParaRPr lang="hu-HU" dirty="0" smtClean="0"/>
          </a:p>
          <a:p>
            <a:pPr lvl="1"/>
            <a:r>
              <a:rPr lang="hu-HU" b="1" dirty="0" err="1" smtClean="0"/>
              <a:t>historical</a:t>
            </a:r>
            <a:r>
              <a:rPr lang="hu-HU" dirty="0" smtClean="0"/>
              <a:t>: </a:t>
            </a:r>
            <a:r>
              <a:rPr lang="hu-HU" dirty="0" err="1" smtClean="0"/>
              <a:t>collection</a:t>
            </a:r>
            <a:r>
              <a:rPr lang="hu-HU" dirty="0" smtClean="0"/>
              <a:t> of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a </a:t>
            </a:r>
            <a:r>
              <a:rPr lang="hu-HU" dirty="0" err="1" smtClean="0"/>
              <a:t>historical</a:t>
            </a:r>
            <a:r>
              <a:rPr lang="hu-HU" dirty="0" smtClean="0"/>
              <a:t> </a:t>
            </a:r>
            <a:r>
              <a:rPr lang="hu-HU" dirty="0" err="1" smtClean="0"/>
              <a:t>period</a:t>
            </a:r>
            <a:r>
              <a:rPr lang="hu-HU" dirty="0" smtClean="0"/>
              <a:t> of a </a:t>
            </a:r>
            <a:r>
              <a:rPr lang="hu-HU" dirty="0" err="1" smtClean="0"/>
              <a:t>language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 Old English</a:t>
            </a:r>
          </a:p>
          <a:p>
            <a:pPr lvl="2"/>
            <a:r>
              <a:rPr lang="hu-HU" dirty="0" err="1" smtClean="0"/>
              <a:t>sometimes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goal</a:t>
            </a:r>
            <a:r>
              <a:rPr lang="hu-HU" dirty="0" smtClean="0"/>
              <a:t> is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collect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surviving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a </a:t>
            </a:r>
            <a:r>
              <a:rPr lang="hu-HU" dirty="0" err="1" smtClean="0"/>
              <a:t>period</a:t>
            </a:r>
            <a:r>
              <a:rPr lang="hu-HU" dirty="0" smtClean="0"/>
              <a:t> and </a:t>
            </a:r>
            <a:r>
              <a:rPr lang="hu-HU" dirty="0" err="1" smtClean="0"/>
              <a:t>publish</a:t>
            </a:r>
            <a:r>
              <a:rPr lang="hu-HU" dirty="0" smtClean="0"/>
              <a:t> </a:t>
            </a:r>
            <a:r>
              <a:rPr lang="hu-HU" dirty="0" err="1" smtClean="0"/>
              <a:t>them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11917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Main </a:t>
            </a:r>
            <a:r>
              <a:rPr lang="hu-HU" dirty="0" err="1"/>
              <a:t>Types</a:t>
            </a:r>
            <a:r>
              <a:rPr lang="hu-HU" dirty="0"/>
              <a:t> of </a:t>
            </a:r>
            <a:r>
              <a:rPr lang="hu-HU" dirty="0" err="1"/>
              <a:t>Corpora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respect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modality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written</a:t>
            </a:r>
            <a:r>
              <a:rPr lang="hu-HU" dirty="0" smtClean="0"/>
              <a:t>: most </a:t>
            </a:r>
            <a:r>
              <a:rPr lang="hu-HU" dirty="0" err="1" smtClean="0"/>
              <a:t>corpora</a:t>
            </a:r>
            <a:endParaRPr lang="hu-HU" dirty="0" smtClean="0"/>
          </a:p>
          <a:p>
            <a:pPr lvl="1"/>
            <a:r>
              <a:rPr lang="hu-HU" dirty="0" err="1" smtClean="0"/>
              <a:t>multimodal</a:t>
            </a:r>
            <a:r>
              <a:rPr lang="hu-HU" dirty="0" smtClean="0"/>
              <a:t>: </a:t>
            </a:r>
            <a:r>
              <a:rPr lang="hu-HU" dirty="0" err="1" smtClean="0"/>
              <a:t>written</a:t>
            </a:r>
            <a:r>
              <a:rPr lang="hu-HU" dirty="0" smtClean="0"/>
              <a:t> + </a:t>
            </a:r>
            <a:r>
              <a:rPr lang="hu-HU" dirty="0" err="1" smtClean="0"/>
              <a:t>audio</a:t>
            </a:r>
            <a:r>
              <a:rPr lang="hu-HU" dirty="0" smtClean="0"/>
              <a:t> and/</a:t>
            </a:r>
            <a:r>
              <a:rPr lang="hu-HU" dirty="0" err="1" smtClean="0"/>
              <a:t>or</a:t>
            </a:r>
            <a:r>
              <a:rPr lang="hu-HU" dirty="0" smtClean="0"/>
              <a:t> video</a:t>
            </a:r>
          </a:p>
          <a:p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respect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annotation</a:t>
            </a:r>
            <a:r>
              <a:rPr lang="hu-HU" dirty="0" smtClean="0"/>
              <a:t>:</a:t>
            </a:r>
          </a:p>
          <a:p>
            <a:pPr lvl="1"/>
            <a:r>
              <a:rPr lang="hu-HU" b="1" dirty="0" err="1" smtClean="0"/>
              <a:t>raw</a:t>
            </a:r>
            <a:r>
              <a:rPr lang="hu-HU" b="1" dirty="0" smtClean="0"/>
              <a:t> text </a:t>
            </a:r>
            <a:r>
              <a:rPr lang="hu-HU" dirty="0" smtClean="0"/>
              <a:t>corpus: </a:t>
            </a:r>
            <a:r>
              <a:rPr lang="hu-HU" dirty="0" err="1" smtClean="0"/>
              <a:t>just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, </a:t>
            </a:r>
            <a:r>
              <a:rPr lang="hu-HU" dirty="0" err="1" smtClean="0"/>
              <a:t>possibly</a:t>
            </a:r>
            <a:r>
              <a:rPr lang="hu-HU" dirty="0" smtClean="0"/>
              <a:t> </a:t>
            </a:r>
            <a:r>
              <a:rPr lang="hu-HU" dirty="0" err="1" smtClean="0"/>
              <a:t>tokenised</a:t>
            </a:r>
            <a:r>
              <a:rPr lang="hu-HU" dirty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sentence-segmented</a:t>
            </a:r>
            <a:r>
              <a:rPr lang="hu-HU" dirty="0" smtClean="0"/>
              <a:t>, </a:t>
            </a:r>
            <a:r>
              <a:rPr lang="hu-HU" dirty="0" err="1" smtClean="0"/>
              <a:t>text-level</a:t>
            </a:r>
            <a:r>
              <a:rPr lang="hu-HU" dirty="0" smtClean="0"/>
              <a:t> </a:t>
            </a:r>
            <a:r>
              <a:rPr lang="hu-HU" dirty="0" err="1" smtClean="0"/>
              <a:t>metadata</a:t>
            </a:r>
            <a:endParaRPr lang="hu-HU" dirty="0" smtClean="0"/>
          </a:p>
          <a:p>
            <a:pPr lvl="1"/>
            <a:r>
              <a:rPr lang="hu-HU" b="1" dirty="0" err="1" smtClean="0"/>
              <a:t>annotated</a:t>
            </a:r>
            <a:r>
              <a:rPr lang="hu-HU" b="1" dirty="0" smtClean="0"/>
              <a:t> </a:t>
            </a:r>
            <a:r>
              <a:rPr lang="hu-HU" dirty="0" smtClean="0"/>
              <a:t>corpus: </a:t>
            </a:r>
            <a:r>
              <a:rPr lang="hu-HU" dirty="0" err="1" smtClean="0"/>
              <a:t>always</a:t>
            </a:r>
            <a:r>
              <a:rPr lang="hu-HU" dirty="0" smtClean="0"/>
              <a:t> </a:t>
            </a:r>
            <a:r>
              <a:rPr lang="hu-HU" dirty="0" err="1" smtClean="0"/>
              <a:t>tokenised</a:t>
            </a:r>
            <a:r>
              <a:rPr lang="hu-HU" dirty="0" smtClean="0"/>
              <a:t>,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dirty="0" err="1" smtClean="0"/>
              <a:t>token-level</a:t>
            </a:r>
            <a:r>
              <a:rPr lang="hu-HU" dirty="0" smtClean="0"/>
              <a:t> </a:t>
            </a:r>
            <a:r>
              <a:rPr lang="hu-HU" dirty="0" err="1" smtClean="0"/>
              <a:t>annotation</a:t>
            </a:r>
            <a:r>
              <a:rPr lang="hu-HU" dirty="0" smtClean="0"/>
              <a:t>,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include</a:t>
            </a:r>
            <a:r>
              <a:rPr lang="hu-HU" dirty="0" smtClean="0"/>
              <a:t>:</a:t>
            </a:r>
          </a:p>
          <a:p>
            <a:pPr lvl="2"/>
            <a:r>
              <a:rPr lang="hu-HU" dirty="0" err="1" smtClean="0"/>
              <a:t>part-of-speech</a:t>
            </a:r>
            <a:endParaRPr lang="hu-HU" dirty="0" smtClean="0"/>
          </a:p>
          <a:p>
            <a:pPr lvl="2"/>
            <a:r>
              <a:rPr lang="hu-HU" dirty="0" err="1" smtClean="0"/>
              <a:t>morphological</a:t>
            </a:r>
            <a:r>
              <a:rPr lang="hu-HU" dirty="0" smtClean="0"/>
              <a:t> </a:t>
            </a:r>
            <a:r>
              <a:rPr lang="hu-HU" dirty="0" err="1" smtClean="0"/>
              <a:t>features</a:t>
            </a:r>
            <a:endParaRPr lang="hu-HU" dirty="0" smtClean="0"/>
          </a:p>
          <a:p>
            <a:pPr lvl="2"/>
            <a:r>
              <a:rPr lang="hu-HU" dirty="0" err="1" smtClean="0"/>
              <a:t>lemmatisation</a:t>
            </a:r>
            <a:endParaRPr lang="hu-HU" dirty="0" smtClean="0"/>
          </a:p>
          <a:p>
            <a:pPr lvl="2"/>
            <a:r>
              <a:rPr lang="hu-HU" dirty="0" err="1" smtClean="0"/>
              <a:t>syntactic</a:t>
            </a:r>
            <a:r>
              <a:rPr lang="hu-HU" dirty="0" smtClean="0"/>
              <a:t> </a:t>
            </a:r>
            <a:r>
              <a:rPr lang="hu-HU" dirty="0" err="1" smtClean="0"/>
              <a:t>annotation</a:t>
            </a:r>
            <a:endParaRPr lang="hu-HU" dirty="0" smtClean="0"/>
          </a:p>
          <a:p>
            <a:pPr lvl="2"/>
            <a:r>
              <a:rPr lang="hu-HU" dirty="0" err="1" smtClean="0"/>
              <a:t>named</a:t>
            </a:r>
            <a:r>
              <a:rPr lang="hu-HU" dirty="0" smtClean="0"/>
              <a:t> </a:t>
            </a:r>
            <a:r>
              <a:rPr lang="hu-HU" dirty="0" err="1" smtClean="0"/>
              <a:t>entities</a:t>
            </a:r>
            <a:r>
              <a:rPr lang="hu-HU" dirty="0" smtClean="0"/>
              <a:t>, </a:t>
            </a:r>
            <a:r>
              <a:rPr lang="hu-HU" dirty="0" err="1" smtClean="0"/>
              <a:t>coreference</a:t>
            </a:r>
            <a:r>
              <a:rPr lang="hu-HU" dirty="0" smtClean="0"/>
              <a:t>, etc.</a:t>
            </a:r>
          </a:p>
          <a:p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respect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size</a:t>
            </a:r>
            <a:r>
              <a:rPr lang="hu-HU" dirty="0" smtClean="0"/>
              <a:t>: </a:t>
            </a:r>
            <a:r>
              <a:rPr lang="hu-HU" dirty="0" err="1" smtClean="0"/>
              <a:t>always</a:t>
            </a:r>
            <a:r>
              <a:rPr lang="hu-HU" dirty="0" smtClean="0"/>
              <a:t> </a:t>
            </a:r>
            <a:r>
              <a:rPr lang="hu-HU" dirty="0" err="1" smtClean="0"/>
              <a:t>measured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terms</a:t>
            </a:r>
            <a:r>
              <a:rPr lang="hu-HU" dirty="0" smtClean="0"/>
              <a:t> of </a:t>
            </a:r>
            <a:r>
              <a:rPr lang="hu-HU" dirty="0" err="1" smtClean="0"/>
              <a:t>numbers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endParaRPr lang="hu-HU" dirty="0" smtClean="0"/>
          </a:p>
          <a:p>
            <a:pPr lvl="1"/>
            <a:r>
              <a:rPr lang="hu-HU" b="1" dirty="0" err="1" smtClean="0"/>
              <a:t>small</a:t>
            </a:r>
            <a:r>
              <a:rPr lang="hu-HU" b="1" dirty="0" smtClean="0"/>
              <a:t> </a:t>
            </a:r>
            <a:r>
              <a:rPr lang="hu-HU" b="1" dirty="0" err="1" smtClean="0"/>
              <a:t>corpora</a:t>
            </a:r>
            <a:r>
              <a:rPr lang="hu-HU" b="1" dirty="0" smtClean="0"/>
              <a:t>: </a:t>
            </a:r>
            <a:r>
              <a:rPr lang="hu-HU" dirty="0" smtClean="0"/>
              <a:t>a </a:t>
            </a:r>
            <a:r>
              <a:rPr lang="hu-HU" dirty="0" err="1" smtClean="0"/>
              <a:t>couple</a:t>
            </a:r>
            <a:r>
              <a:rPr lang="hu-HU" dirty="0" smtClean="0"/>
              <a:t> </a:t>
            </a:r>
            <a:r>
              <a:rPr lang="hu-HU" dirty="0" err="1" smtClean="0"/>
              <a:t>million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typically</a:t>
            </a:r>
            <a:r>
              <a:rPr lang="hu-HU" dirty="0" smtClean="0"/>
              <a:t>, </a:t>
            </a:r>
            <a:r>
              <a:rPr lang="hu-HU" dirty="0" err="1" smtClean="0"/>
              <a:t>classic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: Brown Corpus</a:t>
            </a:r>
          </a:p>
          <a:p>
            <a:pPr lvl="1"/>
            <a:r>
              <a:rPr lang="hu-HU" b="1" dirty="0" err="1" smtClean="0"/>
              <a:t>mid-size</a:t>
            </a:r>
            <a:r>
              <a:rPr lang="hu-HU" b="1" dirty="0" smtClean="0"/>
              <a:t> </a:t>
            </a:r>
            <a:r>
              <a:rPr lang="hu-HU" b="1" dirty="0" err="1" smtClean="0"/>
              <a:t>corpora</a:t>
            </a:r>
            <a:r>
              <a:rPr lang="hu-HU" b="1" dirty="0" smtClean="0"/>
              <a:t>: </a:t>
            </a:r>
            <a:r>
              <a:rPr lang="hu-HU" dirty="0" smtClean="0"/>
              <a:t>100+ </a:t>
            </a:r>
            <a:r>
              <a:rPr lang="hu-HU" dirty="0" err="1" smtClean="0"/>
              <a:t>million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endParaRPr lang="hu-HU" dirty="0" smtClean="0"/>
          </a:p>
          <a:p>
            <a:pPr lvl="2"/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sufficient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corpus </a:t>
            </a:r>
            <a:r>
              <a:rPr lang="hu-HU" dirty="0" err="1" smtClean="0"/>
              <a:t>linguistics</a:t>
            </a:r>
            <a:r>
              <a:rPr lang="hu-HU" dirty="0" smtClean="0"/>
              <a:t> and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statistical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endParaRPr lang="hu-HU" dirty="0" smtClean="0"/>
          </a:p>
          <a:p>
            <a:pPr lvl="1"/>
            <a:r>
              <a:rPr lang="hu-HU" b="1" dirty="0" err="1" smtClean="0"/>
              <a:t>large</a:t>
            </a:r>
            <a:r>
              <a:rPr lang="hu-HU" b="1" dirty="0" smtClean="0"/>
              <a:t> </a:t>
            </a:r>
            <a:r>
              <a:rPr lang="hu-HU" b="1" dirty="0" err="1" smtClean="0"/>
              <a:t>corpora</a:t>
            </a:r>
            <a:r>
              <a:rPr lang="hu-HU" b="1" dirty="0" smtClean="0"/>
              <a:t>: </a:t>
            </a:r>
            <a:r>
              <a:rPr lang="hu-HU" dirty="0" smtClean="0"/>
              <a:t>1 </a:t>
            </a:r>
            <a:r>
              <a:rPr lang="hu-HU" dirty="0" err="1" smtClean="0"/>
              <a:t>billion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and </a:t>
            </a:r>
            <a:r>
              <a:rPr lang="hu-HU" dirty="0" err="1" smtClean="0"/>
              <a:t>above</a:t>
            </a:r>
            <a:r>
              <a:rPr lang="hu-HU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gigaword</a:t>
            </a:r>
            <a:r>
              <a:rPr lang="hu-HU" dirty="0" smtClean="0"/>
              <a:t> </a:t>
            </a:r>
            <a:r>
              <a:rPr lang="hu-HU" dirty="0" err="1" smtClean="0"/>
              <a:t>corpora</a:t>
            </a:r>
            <a:r>
              <a:rPr lang="hu-HU" dirty="0" smtClean="0"/>
              <a:t>, </a:t>
            </a:r>
            <a:r>
              <a:rPr lang="hu-HU" dirty="0" err="1" smtClean="0"/>
              <a:t>TenTen</a:t>
            </a:r>
            <a:r>
              <a:rPr lang="hu-HU" dirty="0" smtClean="0"/>
              <a:t> </a:t>
            </a:r>
            <a:r>
              <a:rPr lang="hu-HU" dirty="0" err="1" smtClean="0"/>
              <a:t>family</a:t>
            </a:r>
            <a:r>
              <a:rPr lang="hu-HU" dirty="0" smtClean="0"/>
              <a:t> of </a:t>
            </a:r>
            <a:r>
              <a:rPr lang="hu-HU" dirty="0" err="1" smtClean="0"/>
              <a:t>corpora</a:t>
            </a:r>
            <a:r>
              <a:rPr lang="hu-HU" dirty="0" smtClean="0"/>
              <a:t>)</a:t>
            </a:r>
          </a:p>
          <a:p>
            <a:pPr lvl="2"/>
            <a:r>
              <a:rPr lang="hu-HU" dirty="0" err="1" smtClean="0"/>
              <a:t>might</a:t>
            </a:r>
            <a:r>
              <a:rPr lang="hu-HU" dirty="0" smtClean="0"/>
              <a:t> </a:t>
            </a:r>
            <a:r>
              <a:rPr lang="hu-HU" dirty="0" err="1" smtClean="0"/>
              <a:t>cover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accessible</a:t>
            </a:r>
            <a:r>
              <a:rPr lang="hu-HU" dirty="0" smtClean="0"/>
              <a:t> </a:t>
            </a:r>
            <a:r>
              <a:rPr lang="hu-HU" dirty="0" err="1" smtClean="0"/>
              <a:t>electronic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largest</a:t>
            </a:r>
            <a:r>
              <a:rPr lang="hu-HU" dirty="0" smtClean="0"/>
              <a:t> </a:t>
            </a:r>
            <a:r>
              <a:rPr lang="hu-HU" dirty="0" err="1" smtClean="0"/>
              <a:t>languages</a:t>
            </a:r>
            <a:endParaRPr lang="hu-HU" dirty="0"/>
          </a:p>
          <a:p>
            <a:pPr lvl="1"/>
            <a:r>
              <a:rPr lang="hu-HU" b="1" dirty="0" err="1" smtClean="0"/>
              <a:t>Common</a:t>
            </a:r>
            <a:r>
              <a:rPr lang="hu-HU" b="1" dirty="0" smtClean="0"/>
              <a:t> </a:t>
            </a:r>
            <a:r>
              <a:rPr lang="hu-HU" b="1" dirty="0" err="1" smtClean="0"/>
              <a:t>Crawl</a:t>
            </a:r>
            <a:r>
              <a:rPr lang="hu-HU" b="1" dirty="0" smtClean="0"/>
              <a:t> </a:t>
            </a:r>
            <a:r>
              <a:rPr lang="hu-HU" dirty="0" err="1" smtClean="0"/>
              <a:t>dataset</a:t>
            </a:r>
            <a:r>
              <a:rPr lang="hu-HU" dirty="0" smtClean="0"/>
              <a:t>: </a:t>
            </a:r>
            <a:r>
              <a:rPr lang="hu-HU" dirty="0" err="1" smtClean="0"/>
              <a:t>largest</a:t>
            </a:r>
            <a:r>
              <a:rPr lang="hu-HU" dirty="0" smtClean="0"/>
              <a:t> </a:t>
            </a:r>
            <a:r>
              <a:rPr lang="hu-HU" dirty="0" err="1" smtClean="0"/>
              <a:t>corpus-like</a:t>
            </a:r>
            <a:r>
              <a:rPr lang="hu-HU" dirty="0" smtClean="0"/>
              <a:t> </a:t>
            </a:r>
            <a:r>
              <a:rPr lang="hu-HU" dirty="0" err="1" smtClean="0"/>
              <a:t>structure</a:t>
            </a:r>
            <a:r>
              <a:rPr lang="hu-HU" dirty="0" smtClean="0"/>
              <a:t> </a:t>
            </a:r>
            <a:r>
              <a:rPr lang="hu-HU" dirty="0" err="1" smtClean="0"/>
              <a:t>crawled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web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LLMs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681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Uses</a:t>
            </a:r>
            <a:r>
              <a:rPr lang="hu-HU" dirty="0" smtClean="0"/>
              <a:t> of </a:t>
            </a:r>
            <a:r>
              <a:rPr lang="hu-HU" dirty="0" err="1" smtClean="0"/>
              <a:t>Corpora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err="1" smtClean="0"/>
              <a:t>Linguistics</a:t>
            </a:r>
            <a:endParaRPr lang="hu-HU" dirty="0" smtClean="0"/>
          </a:p>
          <a:p>
            <a:pPr lvl="1"/>
            <a:r>
              <a:rPr lang="hu-HU" dirty="0" err="1"/>
              <a:t>a</a:t>
            </a:r>
            <a:r>
              <a:rPr lang="hu-HU" dirty="0" err="1" smtClean="0"/>
              <a:t>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foundation</a:t>
            </a:r>
            <a:r>
              <a:rPr lang="hu-HU" dirty="0" smtClean="0"/>
              <a:t> of </a:t>
            </a:r>
            <a:r>
              <a:rPr lang="hu-HU" b="1" dirty="0" err="1" smtClean="0"/>
              <a:t>linguistics</a:t>
            </a:r>
            <a:r>
              <a:rPr lang="hu-HU" b="1" dirty="0" smtClean="0"/>
              <a:t> </a:t>
            </a:r>
            <a:r>
              <a:rPr lang="hu-HU" b="1" dirty="0" err="1" smtClean="0"/>
              <a:t>as</a:t>
            </a:r>
            <a:r>
              <a:rPr lang="hu-HU" b="1" dirty="0" smtClean="0"/>
              <a:t> an </a:t>
            </a:r>
            <a:r>
              <a:rPr lang="hu-HU" b="1" dirty="0" err="1" smtClean="0"/>
              <a:t>empirical</a:t>
            </a:r>
            <a:r>
              <a:rPr lang="hu-HU" b="1" dirty="0" smtClean="0"/>
              <a:t> </a:t>
            </a:r>
            <a:r>
              <a:rPr lang="hu-HU" b="1" dirty="0" err="1" smtClean="0"/>
              <a:t>science</a:t>
            </a:r>
            <a:endParaRPr lang="hu-HU" b="1" dirty="0" smtClean="0"/>
          </a:p>
          <a:p>
            <a:pPr lvl="1"/>
            <a:r>
              <a:rPr lang="hu-HU" dirty="0" err="1" smtClean="0"/>
              <a:t>general</a:t>
            </a:r>
            <a:r>
              <a:rPr lang="hu-HU" dirty="0" smtClean="0"/>
              <a:t> </a:t>
            </a:r>
            <a:r>
              <a:rPr lang="hu-HU" dirty="0" err="1" smtClean="0"/>
              <a:t>claims</a:t>
            </a:r>
            <a:r>
              <a:rPr lang="hu-HU" dirty="0" smtClean="0"/>
              <a:t> </a:t>
            </a:r>
            <a:r>
              <a:rPr lang="hu-HU" dirty="0" err="1" smtClean="0"/>
              <a:t>about</a:t>
            </a:r>
            <a:r>
              <a:rPr lang="hu-HU" dirty="0" smtClean="0"/>
              <a:t> </a:t>
            </a:r>
            <a:r>
              <a:rPr lang="hu-HU" dirty="0" err="1" smtClean="0"/>
              <a:t>linguistic</a:t>
            </a:r>
            <a:r>
              <a:rPr lang="hu-HU" dirty="0" smtClean="0"/>
              <a:t> </a:t>
            </a:r>
            <a:r>
              <a:rPr lang="hu-HU" dirty="0" err="1" smtClean="0"/>
              <a:t>structures</a:t>
            </a:r>
            <a:r>
              <a:rPr lang="hu-HU" dirty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b="1" dirty="0" err="1" smtClean="0"/>
              <a:t>verified</a:t>
            </a:r>
            <a:r>
              <a:rPr lang="hu-HU" b="1" dirty="0" smtClean="0"/>
              <a:t> </a:t>
            </a:r>
            <a:r>
              <a:rPr lang="hu-HU" b="1" dirty="0" err="1" smtClean="0"/>
              <a:t>or</a:t>
            </a:r>
            <a:r>
              <a:rPr lang="hu-HU" b="1" dirty="0" smtClean="0"/>
              <a:t> </a:t>
            </a:r>
            <a:r>
              <a:rPr lang="hu-HU" b="1" dirty="0" err="1" smtClean="0"/>
              <a:t>falsified</a:t>
            </a:r>
            <a:r>
              <a:rPr lang="hu-HU" b="1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a </a:t>
            </a:r>
            <a:r>
              <a:rPr lang="hu-HU" dirty="0" err="1" smtClean="0"/>
              <a:t>suitable</a:t>
            </a:r>
            <a:r>
              <a:rPr lang="hu-HU" dirty="0" smtClean="0"/>
              <a:t> corpus</a:t>
            </a:r>
          </a:p>
          <a:p>
            <a:pPr lvl="1"/>
            <a:r>
              <a:rPr lang="hu-HU" dirty="0" err="1" smtClean="0"/>
              <a:t>linguistic</a:t>
            </a:r>
            <a:r>
              <a:rPr lang="hu-HU" dirty="0" smtClean="0"/>
              <a:t> </a:t>
            </a:r>
            <a:r>
              <a:rPr lang="hu-HU" dirty="0" err="1" smtClean="0"/>
              <a:t>varieties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dialects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b="1" dirty="0" err="1" smtClean="0"/>
              <a:t>compared</a:t>
            </a:r>
            <a:r>
              <a:rPr lang="hu-HU" b="1" dirty="0" smtClean="0"/>
              <a:t> </a:t>
            </a:r>
            <a:r>
              <a:rPr lang="hu-HU" dirty="0" err="1" smtClean="0"/>
              <a:t>systematically</a:t>
            </a:r>
            <a:r>
              <a:rPr lang="hu-HU" dirty="0" smtClean="0"/>
              <a:t> (</a:t>
            </a:r>
            <a:r>
              <a:rPr lang="hu-HU" dirty="0" err="1" smtClean="0"/>
              <a:t>syntactic</a:t>
            </a:r>
            <a:r>
              <a:rPr lang="hu-HU" dirty="0" smtClean="0"/>
              <a:t>, </a:t>
            </a:r>
            <a:r>
              <a:rPr lang="hu-HU" dirty="0" err="1" smtClean="0"/>
              <a:t>morphological</a:t>
            </a:r>
            <a:r>
              <a:rPr lang="hu-HU" dirty="0" smtClean="0"/>
              <a:t>, </a:t>
            </a:r>
            <a:r>
              <a:rPr lang="hu-HU" dirty="0" err="1" smtClean="0"/>
              <a:t>lexical</a:t>
            </a:r>
            <a:r>
              <a:rPr lang="hu-HU" dirty="0" smtClean="0"/>
              <a:t> </a:t>
            </a:r>
            <a:r>
              <a:rPr lang="hu-HU" dirty="0" err="1" smtClean="0"/>
              <a:t>differences</a:t>
            </a:r>
            <a:r>
              <a:rPr lang="hu-HU" dirty="0" smtClean="0"/>
              <a:t>)</a:t>
            </a:r>
          </a:p>
          <a:p>
            <a:pPr lvl="1"/>
            <a:r>
              <a:rPr lang="hu-HU" b="1" dirty="0" smtClean="0"/>
              <a:t>corpus </a:t>
            </a:r>
            <a:r>
              <a:rPr lang="hu-HU" b="1" dirty="0" err="1" smtClean="0"/>
              <a:t>linguistics</a:t>
            </a:r>
            <a:r>
              <a:rPr lang="hu-HU" dirty="0" smtClean="0"/>
              <a:t>: </a:t>
            </a:r>
            <a:r>
              <a:rPr lang="hu-HU" dirty="0" err="1" smtClean="0"/>
              <a:t>specialised</a:t>
            </a:r>
            <a:r>
              <a:rPr lang="hu-HU" dirty="0" smtClean="0"/>
              <a:t> </a:t>
            </a:r>
            <a:r>
              <a:rPr lang="hu-HU" dirty="0" err="1" smtClean="0"/>
              <a:t>branch</a:t>
            </a:r>
            <a:r>
              <a:rPr lang="hu-HU" dirty="0" smtClean="0"/>
              <a:t> of </a:t>
            </a:r>
            <a:r>
              <a:rPr lang="hu-HU" dirty="0" err="1" smtClean="0"/>
              <a:t>linguistics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either</a:t>
            </a:r>
            <a:r>
              <a:rPr lang="hu-HU" dirty="0" smtClean="0"/>
              <a:t> </a:t>
            </a:r>
            <a:r>
              <a:rPr lang="hu-HU" dirty="0" err="1" smtClean="0"/>
              <a:t>specifically</a:t>
            </a:r>
            <a:r>
              <a:rPr lang="hu-HU" dirty="0" smtClean="0"/>
              <a:t> </a:t>
            </a:r>
            <a:r>
              <a:rPr lang="hu-HU" dirty="0" err="1" smtClean="0"/>
              <a:t>uses</a:t>
            </a:r>
            <a:r>
              <a:rPr lang="hu-HU" dirty="0" smtClean="0"/>
              <a:t> corpus </a:t>
            </a:r>
            <a:r>
              <a:rPr lang="hu-HU" dirty="0" err="1" smtClean="0"/>
              <a:t>analysis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empirical</a:t>
            </a:r>
            <a:r>
              <a:rPr lang="hu-HU" dirty="0" smtClean="0"/>
              <a:t> </a:t>
            </a:r>
            <a:r>
              <a:rPr lang="hu-HU" dirty="0" err="1" smtClean="0"/>
              <a:t>basis</a:t>
            </a:r>
            <a:r>
              <a:rPr lang="hu-HU" dirty="0" smtClean="0"/>
              <a:t> of a </a:t>
            </a:r>
            <a:r>
              <a:rPr lang="hu-HU" dirty="0" err="1" smtClean="0"/>
              <a:t>linguistic</a:t>
            </a:r>
            <a:r>
              <a:rPr lang="hu-HU" dirty="0" smtClean="0"/>
              <a:t> </a:t>
            </a:r>
            <a:r>
              <a:rPr lang="hu-HU" dirty="0" err="1" smtClean="0"/>
              <a:t>study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explores</a:t>
            </a:r>
            <a:r>
              <a:rPr lang="hu-HU" dirty="0" smtClean="0"/>
              <a:t> </a:t>
            </a:r>
            <a:r>
              <a:rPr lang="hu-HU" dirty="0" err="1" smtClean="0"/>
              <a:t>methods</a:t>
            </a:r>
            <a:r>
              <a:rPr lang="hu-HU" dirty="0" smtClean="0"/>
              <a:t> of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corpora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problems</a:t>
            </a:r>
            <a:r>
              <a:rPr lang="hu-HU" dirty="0" smtClean="0"/>
              <a:t> </a:t>
            </a:r>
            <a:r>
              <a:rPr lang="hu-HU" dirty="0" err="1" smtClean="0"/>
              <a:t>relevant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linguistics</a:t>
            </a:r>
            <a:endParaRPr lang="hu-HU" dirty="0" smtClean="0"/>
          </a:p>
          <a:p>
            <a:pPr lvl="1"/>
            <a:r>
              <a:rPr lang="hu-HU" b="1" dirty="0" err="1" smtClean="0"/>
              <a:t>quantitative</a:t>
            </a:r>
            <a:r>
              <a:rPr lang="hu-HU" b="1" dirty="0" smtClean="0"/>
              <a:t> </a:t>
            </a:r>
            <a:r>
              <a:rPr lang="hu-HU" b="1" dirty="0" err="1" smtClean="0"/>
              <a:t>linguistics</a:t>
            </a:r>
            <a:r>
              <a:rPr lang="hu-HU" b="1" dirty="0" smtClean="0"/>
              <a:t>: </a:t>
            </a:r>
            <a:r>
              <a:rPr lang="hu-HU" dirty="0" err="1" smtClean="0"/>
              <a:t>focuses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numerical</a:t>
            </a:r>
            <a:r>
              <a:rPr lang="hu-HU" dirty="0" smtClean="0"/>
              <a:t> </a:t>
            </a:r>
            <a:r>
              <a:rPr lang="hu-HU" dirty="0" err="1" smtClean="0"/>
              <a:t>properties</a:t>
            </a:r>
            <a:r>
              <a:rPr lang="hu-HU" dirty="0" smtClean="0"/>
              <a:t> of </a:t>
            </a:r>
            <a:r>
              <a:rPr lang="hu-HU" dirty="0" err="1" smtClean="0"/>
              <a:t>languages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frequencies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use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different</a:t>
            </a:r>
            <a:r>
              <a:rPr lang="hu-HU" dirty="0" smtClean="0"/>
              <a:t> </a:t>
            </a:r>
            <a:r>
              <a:rPr lang="hu-HU" dirty="0" err="1" smtClean="0"/>
              <a:t>linguistic</a:t>
            </a:r>
            <a:r>
              <a:rPr lang="hu-HU" dirty="0" smtClean="0"/>
              <a:t> </a:t>
            </a:r>
            <a:r>
              <a:rPr lang="hu-HU" dirty="0" err="1" smtClean="0"/>
              <a:t>phenomena</a:t>
            </a:r>
            <a:r>
              <a:rPr lang="hu-HU" dirty="0" smtClean="0"/>
              <a:t>; </a:t>
            </a:r>
            <a:r>
              <a:rPr lang="hu-HU" dirty="0" err="1" smtClean="0"/>
              <a:t>always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a corpus</a:t>
            </a:r>
          </a:p>
          <a:p>
            <a:r>
              <a:rPr lang="hu-HU" b="1" dirty="0" err="1" smtClean="0"/>
              <a:t>Lexicography</a:t>
            </a:r>
            <a:r>
              <a:rPr lang="hu-HU" b="1" dirty="0"/>
              <a:t> </a:t>
            </a:r>
            <a:r>
              <a:rPr lang="hu-HU" dirty="0" smtClean="0"/>
              <a:t>(= </a:t>
            </a:r>
            <a:r>
              <a:rPr lang="hu-HU" dirty="0" err="1" smtClean="0"/>
              <a:t>creation</a:t>
            </a:r>
            <a:r>
              <a:rPr lang="hu-HU" dirty="0" smtClean="0"/>
              <a:t> of </a:t>
            </a:r>
            <a:r>
              <a:rPr lang="hu-HU" dirty="0" err="1" smtClean="0"/>
              <a:t>dictionaries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corpora</a:t>
            </a:r>
            <a:r>
              <a:rPr lang="hu-HU" dirty="0" smtClean="0"/>
              <a:t> </a:t>
            </a:r>
            <a:r>
              <a:rPr lang="hu-HU" dirty="0" err="1" smtClean="0"/>
              <a:t>support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work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lexicographer</a:t>
            </a:r>
            <a:r>
              <a:rPr lang="hu-HU" dirty="0" smtClean="0"/>
              <a:t> (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dictionary</a:t>
            </a:r>
            <a:r>
              <a:rPr lang="hu-HU" dirty="0" smtClean="0"/>
              <a:t> editor </a:t>
            </a:r>
            <a:r>
              <a:rPr lang="hu-HU" dirty="0" err="1" smtClean="0"/>
              <a:t>who</a:t>
            </a:r>
            <a:r>
              <a:rPr lang="hu-HU" dirty="0" smtClean="0"/>
              <a:t> </a:t>
            </a:r>
            <a:r>
              <a:rPr lang="hu-HU" dirty="0" err="1" smtClean="0"/>
              <a:t>writes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dictionary</a:t>
            </a:r>
            <a:r>
              <a:rPr lang="hu-HU" dirty="0" smtClean="0"/>
              <a:t> </a:t>
            </a:r>
            <a:r>
              <a:rPr lang="hu-HU" dirty="0" err="1" smtClean="0"/>
              <a:t>articles</a:t>
            </a:r>
            <a:r>
              <a:rPr lang="hu-HU" dirty="0" smtClean="0"/>
              <a:t>, </a:t>
            </a:r>
            <a:r>
              <a:rPr lang="hu-HU" dirty="0" err="1" smtClean="0"/>
              <a:t>entries</a:t>
            </a:r>
            <a:r>
              <a:rPr lang="hu-HU" dirty="0" smtClean="0"/>
              <a:t>)</a:t>
            </a:r>
          </a:p>
          <a:p>
            <a:pPr lvl="1"/>
            <a:r>
              <a:rPr lang="hu-HU" b="1" dirty="0" err="1" smtClean="0"/>
              <a:t>selection</a:t>
            </a:r>
            <a:r>
              <a:rPr lang="hu-HU" b="1" dirty="0" smtClean="0"/>
              <a:t> of </a:t>
            </a:r>
            <a:r>
              <a:rPr lang="hu-HU" b="1" dirty="0" err="1" smtClean="0"/>
              <a:t>headwords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lemmata</a:t>
            </a:r>
            <a:r>
              <a:rPr lang="hu-HU" dirty="0" smtClean="0"/>
              <a:t>)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a </a:t>
            </a:r>
            <a:r>
              <a:rPr lang="hu-HU" dirty="0" err="1" smtClean="0"/>
              <a:t>frequency</a:t>
            </a:r>
            <a:r>
              <a:rPr lang="hu-HU" dirty="0" smtClean="0"/>
              <a:t> </a:t>
            </a:r>
            <a:r>
              <a:rPr lang="hu-HU" dirty="0" err="1" smtClean="0"/>
              <a:t>list</a:t>
            </a:r>
            <a:r>
              <a:rPr lang="hu-HU" dirty="0" smtClean="0"/>
              <a:t> of </a:t>
            </a:r>
            <a:r>
              <a:rPr lang="hu-HU" dirty="0" err="1" smtClean="0"/>
              <a:t>lemmata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corpus</a:t>
            </a:r>
          </a:p>
          <a:p>
            <a:pPr lvl="1"/>
            <a:r>
              <a:rPr lang="hu-HU" dirty="0" err="1" smtClean="0"/>
              <a:t>examining</a:t>
            </a:r>
            <a:r>
              <a:rPr lang="hu-HU" dirty="0" smtClean="0"/>
              <a:t> and </a:t>
            </a:r>
            <a:r>
              <a:rPr lang="hu-HU" dirty="0" err="1" smtClean="0"/>
              <a:t>grouping</a:t>
            </a:r>
            <a:r>
              <a:rPr lang="hu-HU" dirty="0" smtClean="0"/>
              <a:t> </a:t>
            </a:r>
            <a:r>
              <a:rPr lang="hu-HU" dirty="0" err="1" smtClean="0"/>
              <a:t>occurrences</a:t>
            </a:r>
            <a:r>
              <a:rPr lang="hu-HU" dirty="0" smtClean="0"/>
              <a:t> of a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corpus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establish</a:t>
            </a:r>
            <a:r>
              <a:rPr lang="hu-HU" b="1" dirty="0" smtClean="0"/>
              <a:t> </a:t>
            </a:r>
            <a:r>
              <a:rPr lang="hu-HU" b="1" dirty="0" err="1" smtClean="0"/>
              <a:t>its</a:t>
            </a:r>
            <a:r>
              <a:rPr lang="hu-HU" b="1" dirty="0" smtClean="0"/>
              <a:t> </a:t>
            </a:r>
            <a:r>
              <a:rPr lang="hu-HU" b="1" dirty="0" err="1" smtClean="0"/>
              <a:t>meanings</a:t>
            </a:r>
            <a:r>
              <a:rPr lang="hu-HU" b="1" dirty="0" smtClean="0"/>
              <a:t> and </a:t>
            </a:r>
            <a:r>
              <a:rPr lang="hu-HU" b="1" dirty="0" err="1" smtClean="0"/>
              <a:t>patterns</a:t>
            </a:r>
            <a:r>
              <a:rPr lang="hu-HU" b="1" dirty="0" smtClean="0"/>
              <a:t> of </a:t>
            </a:r>
            <a:r>
              <a:rPr lang="hu-HU" b="1" dirty="0" err="1" smtClean="0"/>
              <a:t>use</a:t>
            </a:r>
            <a:endParaRPr lang="hu-HU" b="1" dirty="0" smtClean="0"/>
          </a:p>
          <a:p>
            <a:pPr lvl="1"/>
            <a:r>
              <a:rPr lang="hu-HU" dirty="0" err="1" smtClean="0"/>
              <a:t>supporting</a:t>
            </a:r>
            <a:r>
              <a:rPr lang="hu-HU" dirty="0" smtClean="0"/>
              <a:t> </a:t>
            </a:r>
            <a:r>
              <a:rPr lang="hu-HU" dirty="0" err="1" smtClean="0"/>
              <a:t>dictionary</a:t>
            </a:r>
            <a:r>
              <a:rPr lang="hu-HU" dirty="0" smtClean="0"/>
              <a:t> </a:t>
            </a:r>
            <a:r>
              <a:rPr lang="hu-HU" dirty="0" err="1" smtClean="0"/>
              <a:t>articles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b="1" dirty="0" err="1" smtClean="0"/>
              <a:t>authentic</a:t>
            </a:r>
            <a:r>
              <a:rPr lang="hu-HU" b="1" dirty="0" smtClean="0"/>
              <a:t> </a:t>
            </a:r>
            <a:r>
              <a:rPr lang="hu-HU" b="1" dirty="0" err="1" smtClean="0"/>
              <a:t>examples</a:t>
            </a:r>
            <a:r>
              <a:rPr lang="hu-HU" b="1" dirty="0" smtClean="0"/>
              <a:t> </a:t>
            </a:r>
            <a:r>
              <a:rPr lang="hu-HU" dirty="0" smtClean="0"/>
              <a:t>of </a:t>
            </a:r>
            <a:r>
              <a:rPr lang="hu-HU" dirty="0" err="1" smtClean="0"/>
              <a:t>use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corpus </a:t>
            </a:r>
            <a:r>
              <a:rPr lang="hu-HU" dirty="0" err="1" smtClean="0"/>
              <a:t>instead</a:t>
            </a:r>
            <a:r>
              <a:rPr lang="hu-HU" dirty="0" smtClean="0"/>
              <a:t> of </a:t>
            </a:r>
            <a:r>
              <a:rPr lang="hu-HU" dirty="0" err="1" smtClean="0"/>
              <a:t>artificial</a:t>
            </a:r>
            <a:r>
              <a:rPr lang="hu-HU" dirty="0" smtClean="0"/>
              <a:t>, </a:t>
            </a:r>
            <a:r>
              <a:rPr lang="hu-HU" dirty="0" err="1" smtClean="0"/>
              <a:t>invented</a:t>
            </a:r>
            <a:r>
              <a:rPr lang="hu-HU" dirty="0" smtClean="0"/>
              <a:t> </a:t>
            </a:r>
            <a:r>
              <a:rPr lang="hu-HU" dirty="0" err="1" smtClean="0"/>
              <a:t>examples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517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Corpora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err="1" smtClean="0"/>
              <a:t>As</a:t>
            </a:r>
            <a:r>
              <a:rPr lang="hu-HU" dirty="0" smtClean="0"/>
              <a:t> input:</a:t>
            </a:r>
          </a:p>
          <a:p>
            <a:pPr lvl="1"/>
            <a:r>
              <a:rPr lang="hu-HU" b="1" dirty="0" err="1" smtClean="0"/>
              <a:t>NLP</a:t>
            </a:r>
            <a:r>
              <a:rPr lang="hu-HU" b="1" dirty="0" smtClean="0"/>
              <a:t> </a:t>
            </a:r>
            <a:r>
              <a:rPr lang="hu-HU" b="1" dirty="0" err="1" smtClean="0"/>
              <a:t>models</a:t>
            </a:r>
            <a:r>
              <a:rPr lang="hu-HU" dirty="0" smtClean="0"/>
              <a:t>: </a:t>
            </a:r>
            <a:r>
              <a:rPr lang="hu-HU" dirty="0" err="1" smtClean="0"/>
              <a:t>statistical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(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n-gram</a:t>
            </a:r>
            <a:r>
              <a:rPr lang="hu-HU" dirty="0" smtClean="0"/>
              <a:t> and </a:t>
            </a:r>
            <a:r>
              <a:rPr lang="hu-HU" dirty="0" err="1" smtClean="0"/>
              <a:t>hidden</a:t>
            </a:r>
            <a:r>
              <a:rPr lang="hu-HU" dirty="0" smtClean="0"/>
              <a:t> </a:t>
            </a:r>
            <a:r>
              <a:rPr lang="hu-HU" dirty="0" err="1" smtClean="0"/>
              <a:t>Markov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)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machine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(</a:t>
            </a:r>
            <a:r>
              <a:rPr lang="hu-HU" dirty="0" err="1" smtClean="0"/>
              <a:t>for</a:t>
            </a:r>
            <a:r>
              <a:rPr lang="hu-HU" dirty="0" smtClean="0"/>
              <a:t> text </a:t>
            </a:r>
            <a:r>
              <a:rPr lang="hu-HU" dirty="0" err="1" smtClean="0"/>
              <a:t>classification</a:t>
            </a:r>
            <a:r>
              <a:rPr lang="hu-HU" dirty="0" smtClean="0"/>
              <a:t>,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generation</a:t>
            </a:r>
            <a:r>
              <a:rPr lang="hu-HU" dirty="0" smtClean="0"/>
              <a:t>, etc.)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always</a:t>
            </a:r>
            <a:r>
              <a:rPr lang="hu-HU" dirty="0" smtClean="0"/>
              <a:t> </a:t>
            </a:r>
            <a:r>
              <a:rPr lang="hu-HU" b="1" dirty="0" err="1" smtClean="0"/>
              <a:t>trained</a:t>
            </a:r>
            <a:r>
              <a:rPr lang="hu-HU" b="1" dirty="0" smtClean="0"/>
              <a:t> </a:t>
            </a:r>
            <a:r>
              <a:rPr lang="hu-HU" b="1" dirty="0" err="1" smtClean="0"/>
              <a:t>on</a:t>
            </a:r>
            <a:r>
              <a:rPr lang="hu-HU" b="1" dirty="0" smtClean="0"/>
              <a:t> </a:t>
            </a:r>
            <a:r>
              <a:rPr lang="hu-HU" dirty="0" smtClean="0"/>
              <a:t>a corpus</a:t>
            </a:r>
          </a:p>
          <a:p>
            <a:pPr lvl="2"/>
            <a:r>
              <a:rPr lang="hu-HU" b="1" dirty="0" err="1" smtClean="0"/>
              <a:t>size</a:t>
            </a:r>
            <a:r>
              <a:rPr lang="hu-HU" b="1" dirty="0" smtClean="0"/>
              <a:t> and </a:t>
            </a:r>
            <a:r>
              <a:rPr lang="hu-HU" b="1" dirty="0" err="1" smtClean="0"/>
              <a:t>content</a:t>
            </a:r>
            <a:r>
              <a:rPr lang="hu-HU" b="1" dirty="0" smtClean="0"/>
              <a:t> </a:t>
            </a:r>
            <a:r>
              <a:rPr lang="hu-HU" dirty="0" smtClean="0"/>
              <a:t>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corpus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crucial</a:t>
            </a:r>
            <a:endParaRPr lang="hu-HU" dirty="0" smtClean="0"/>
          </a:p>
          <a:p>
            <a:pPr lvl="2"/>
            <a:r>
              <a:rPr lang="hu-HU" b="1" dirty="0" err="1" smtClean="0"/>
              <a:t>annotation</a:t>
            </a:r>
            <a:r>
              <a:rPr lang="hu-HU" b="1" dirty="0" smtClean="0"/>
              <a:t> </a:t>
            </a:r>
            <a:r>
              <a:rPr lang="hu-HU" b="1" dirty="0" err="1" smtClean="0"/>
              <a:t>can</a:t>
            </a:r>
            <a:r>
              <a:rPr lang="hu-HU" b="1" dirty="0" smtClean="0"/>
              <a:t> be </a:t>
            </a:r>
            <a:r>
              <a:rPr lang="hu-HU" b="1" dirty="0" err="1" smtClean="0"/>
              <a:t>used</a:t>
            </a:r>
            <a:r>
              <a:rPr lang="hu-HU" b="1" dirty="0" smtClean="0"/>
              <a:t> </a:t>
            </a:r>
            <a:r>
              <a:rPr lang="hu-HU" b="1" dirty="0" err="1" smtClean="0"/>
              <a:t>for</a:t>
            </a:r>
            <a:r>
              <a:rPr lang="hu-HU" b="1" dirty="0" smtClean="0"/>
              <a:t> </a:t>
            </a:r>
            <a:r>
              <a:rPr lang="hu-HU" b="1" dirty="0" err="1" smtClean="0"/>
              <a:t>features</a:t>
            </a:r>
            <a:r>
              <a:rPr lang="hu-HU" b="1" dirty="0" smtClean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significantly</a:t>
            </a:r>
            <a:r>
              <a:rPr lang="hu-HU" dirty="0" smtClean="0"/>
              <a:t> </a:t>
            </a:r>
            <a:r>
              <a:rPr lang="hu-HU" dirty="0" err="1" smtClean="0"/>
              <a:t>improve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accuracy</a:t>
            </a:r>
            <a:r>
              <a:rPr lang="hu-HU" dirty="0" smtClean="0"/>
              <a:t> of a </a:t>
            </a:r>
            <a:r>
              <a:rPr lang="hu-HU" dirty="0" err="1" smtClean="0"/>
              <a:t>model</a:t>
            </a:r>
            <a:r>
              <a:rPr lang="hu-HU" dirty="0" smtClean="0"/>
              <a:t>’s </a:t>
            </a:r>
            <a:r>
              <a:rPr lang="hu-HU" dirty="0" err="1" smtClean="0"/>
              <a:t>predictions</a:t>
            </a:r>
            <a:endParaRPr lang="hu-HU" dirty="0" smtClean="0"/>
          </a:p>
          <a:p>
            <a:pPr lvl="3"/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necessarily</a:t>
            </a:r>
            <a:r>
              <a:rPr lang="hu-HU" dirty="0" smtClean="0"/>
              <a:t> </a:t>
            </a:r>
            <a:r>
              <a:rPr lang="hu-HU" dirty="0" err="1" smtClean="0"/>
              <a:t>true</a:t>
            </a:r>
            <a:r>
              <a:rPr lang="hu-HU" dirty="0" smtClean="0"/>
              <a:t> of </a:t>
            </a:r>
            <a:r>
              <a:rPr lang="hu-HU" dirty="0" err="1" smtClean="0"/>
              <a:t>deep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endParaRPr lang="hu-HU" dirty="0" smtClean="0"/>
          </a:p>
          <a:p>
            <a:r>
              <a:rPr lang="hu-HU" dirty="0" err="1" smtClean="0"/>
              <a:t>As</a:t>
            </a:r>
            <a:r>
              <a:rPr lang="hu-HU" dirty="0" smtClean="0"/>
              <a:t> output:</a:t>
            </a:r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annotations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constitute</a:t>
            </a:r>
            <a:r>
              <a:rPr lang="hu-HU" dirty="0" smtClean="0"/>
              <a:t> an </a:t>
            </a:r>
            <a:r>
              <a:rPr lang="hu-HU" dirty="0" err="1" smtClean="0"/>
              <a:t>annotated</a:t>
            </a:r>
            <a:r>
              <a:rPr lang="hu-HU" dirty="0" smtClean="0"/>
              <a:t> corpus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smtClean="0"/>
              <a:t>output of an </a:t>
            </a:r>
            <a:r>
              <a:rPr lang="hu-HU" b="1" dirty="0" err="1" smtClean="0"/>
              <a:t>NLP</a:t>
            </a:r>
            <a:r>
              <a:rPr lang="hu-HU" b="1" dirty="0" smtClean="0"/>
              <a:t> </a:t>
            </a:r>
            <a:r>
              <a:rPr lang="hu-HU" b="1" dirty="0" err="1" smtClean="0"/>
              <a:t>pipeline</a:t>
            </a:r>
            <a:endParaRPr lang="hu-HU" b="1" dirty="0" smtClean="0"/>
          </a:p>
          <a:p>
            <a:pPr lvl="1"/>
            <a:r>
              <a:rPr lang="hu-HU" dirty="0" err="1" smtClean="0"/>
              <a:t>When</a:t>
            </a:r>
            <a:r>
              <a:rPr lang="hu-HU" dirty="0" smtClean="0"/>
              <a:t> </a:t>
            </a:r>
            <a:r>
              <a:rPr lang="hu-HU" dirty="0" err="1" smtClean="0"/>
              <a:t>creating</a:t>
            </a:r>
            <a:r>
              <a:rPr lang="hu-HU" dirty="0" smtClean="0"/>
              <a:t> a </a:t>
            </a:r>
            <a:r>
              <a:rPr lang="hu-HU" b="1" dirty="0" smtClean="0"/>
              <a:t>parallel corpus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sentences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constitute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source</a:t>
            </a:r>
            <a:r>
              <a:rPr lang="hu-HU" dirty="0" smtClean="0"/>
              <a:t> and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target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need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b="1" dirty="0" err="1" smtClean="0"/>
              <a:t>aligned</a:t>
            </a:r>
            <a:endParaRPr lang="hu-HU" b="1" dirty="0"/>
          </a:p>
          <a:p>
            <a:pPr lvl="2"/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segmentation</a:t>
            </a:r>
            <a:r>
              <a:rPr lang="hu-HU" dirty="0" smtClean="0"/>
              <a:t> (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boundary</a:t>
            </a:r>
            <a:r>
              <a:rPr lang="hu-HU" dirty="0" smtClean="0"/>
              <a:t> </a:t>
            </a:r>
            <a:r>
              <a:rPr lang="hu-HU" dirty="0" err="1" smtClean="0"/>
              <a:t>detection</a:t>
            </a:r>
            <a:r>
              <a:rPr lang="hu-HU" dirty="0" smtClean="0"/>
              <a:t>) is a </a:t>
            </a:r>
            <a:r>
              <a:rPr lang="hu-HU" dirty="0" err="1" smtClean="0"/>
              <a:t>prerequisite</a:t>
            </a:r>
            <a:endParaRPr lang="hu-HU" dirty="0" smtClean="0"/>
          </a:p>
          <a:p>
            <a:pPr lvl="2"/>
            <a:r>
              <a:rPr lang="hu-HU" dirty="0" err="1" smtClean="0"/>
              <a:t>two</a:t>
            </a:r>
            <a:r>
              <a:rPr lang="hu-HU" dirty="0" smtClean="0"/>
              <a:t> main </a:t>
            </a:r>
            <a:r>
              <a:rPr lang="hu-HU" dirty="0" err="1" smtClean="0"/>
              <a:t>approaches</a:t>
            </a:r>
            <a:r>
              <a:rPr lang="hu-HU" dirty="0" smtClean="0"/>
              <a:t>:</a:t>
            </a:r>
          </a:p>
          <a:p>
            <a:pPr lvl="3"/>
            <a:r>
              <a:rPr lang="hu-HU" b="1" dirty="0" err="1" smtClean="0"/>
              <a:t>algorithmic</a:t>
            </a:r>
            <a:r>
              <a:rPr lang="hu-HU" dirty="0" smtClean="0"/>
              <a:t>,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b="1" dirty="0" err="1" smtClean="0"/>
              <a:t>simple</a:t>
            </a:r>
            <a:r>
              <a:rPr lang="hu-HU" b="1" dirty="0" smtClean="0"/>
              <a:t> </a:t>
            </a:r>
            <a:r>
              <a:rPr lang="hu-HU" b="1" dirty="0" err="1" smtClean="0"/>
              <a:t>features</a:t>
            </a:r>
            <a:r>
              <a:rPr lang="hu-HU" b="1" dirty="0" smtClean="0"/>
              <a:t> </a:t>
            </a:r>
            <a:r>
              <a:rPr lang="hu-HU" dirty="0" smtClean="0"/>
              <a:t>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sentences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b="1" dirty="0" err="1" smtClean="0"/>
              <a:t>length</a:t>
            </a:r>
            <a:r>
              <a:rPr lang="hu-HU" dirty="0" smtClean="0"/>
              <a:t> </a:t>
            </a:r>
            <a:r>
              <a:rPr lang="hu-HU" dirty="0" err="1" smtClean="0"/>
              <a:t>measured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b="1" dirty="0" err="1" smtClean="0"/>
              <a:t>characters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, and </a:t>
            </a:r>
            <a:r>
              <a:rPr lang="hu-HU" b="1" dirty="0" err="1" smtClean="0"/>
              <a:t>token</a:t>
            </a:r>
            <a:r>
              <a:rPr lang="hu-HU" b="1" dirty="0" smtClean="0"/>
              <a:t> </a:t>
            </a:r>
            <a:r>
              <a:rPr lang="hu-HU" b="1" dirty="0" err="1" smtClean="0"/>
              <a:t>co-occurrences</a:t>
            </a:r>
            <a:r>
              <a:rPr lang="hu-HU" b="1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source</a:t>
            </a:r>
            <a:r>
              <a:rPr lang="hu-HU" dirty="0" smtClean="0"/>
              <a:t> </a:t>
            </a:r>
            <a:r>
              <a:rPr lang="hu-HU" dirty="0" err="1" smtClean="0"/>
              <a:t>and</a:t>
            </a:r>
            <a:r>
              <a:rPr lang="hu-HU" dirty="0" smtClean="0"/>
              <a:t> </a:t>
            </a:r>
            <a:r>
              <a:rPr lang="hu-HU" dirty="0" err="1" smtClean="0"/>
              <a:t>target</a:t>
            </a:r>
            <a:r>
              <a:rPr lang="hu-HU" dirty="0" smtClean="0"/>
              <a:t> </a:t>
            </a:r>
            <a:r>
              <a:rPr lang="hu-HU" dirty="0" err="1" smtClean="0"/>
              <a:t>sentences</a:t>
            </a:r>
            <a:r>
              <a:rPr lang="hu-HU" dirty="0" smtClean="0"/>
              <a:t>; </a:t>
            </a:r>
            <a:r>
              <a:rPr lang="hu-HU" dirty="0" err="1" smtClean="0"/>
              <a:t>best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: </a:t>
            </a:r>
            <a:r>
              <a:rPr lang="hu-HU" dirty="0" err="1" smtClean="0">
                <a:hlinkClick r:id="rId2"/>
              </a:rPr>
              <a:t>HunAlign</a:t>
            </a:r>
            <a:endParaRPr lang="hu-HU" dirty="0" smtClean="0"/>
          </a:p>
          <a:p>
            <a:pPr lvl="3"/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, </a:t>
            </a:r>
            <a:r>
              <a:rPr lang="hu-HU" dirty="0" err="1" smtClean="0"/>
              <a:t>especially</a:t>
            </a:r>
            <a:r>
              <a:rPr lang="hu-HU" dirty="0" smtClean="0"/>
              <a:t> </a:t>
            </a:r>
            <a:r>
              <a:rPr lang="hu-HU" b="1" dirty="0" err="1" smtClean="0"/>
              <a:t>sentence</a:t>
            </a:r>
            <a:r>
              <a:rPr lang="hu-HU" b="1" dirty="0" smtClean="0"/>
              <a:t> </a:t>
            </a:r>
            <a:r>
              <a:rPr lang="hu-HU" b="1" dirty="0" err="1" smtClean="0"/>
              <a:t>embeddings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vectors</a:t>
            </a:r>
            <a:r>
              <a:rPr lang="hu-HU" dirty="0" smtClean="0"/>
              <a:t>); </a:t>
            </a:r>
            <a:r>
              <a:rPr lang="hu-HU" dirty="0" err="1" smtClean="0"/>
              <a:t>best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: </a:t>
            </a:r>
            <a:r>
              <a:rPr lang="hu-HU" dirty="0" err="1" smtClean="0">
                <a:hlinkClick r:id="rId3"/>
              </a:rPr>
              <a:t>SentAlign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38531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Corpus </a:t>
            </a:r>
            <a:r>
              <a:rPr lang="hu-HU" dirty="0" err="1" smtClean="0"/>
              <a:t>Formats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1224" y="1600200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hu-HU" b="1" dirty="0" err="1" smtClean="0"/>
              <a:t>Raw</a:t>
            </a:r>
            <a:r>
              <a:rPr lang="hu-HU" b="1" dirty="0" smtClean="0"/>
              <a:t> text </a:t>
            </a:r>
            <a:r>
              <a:rPr lang="hu-HU" dirty="0" err="1" smtClean="0"/>
              <a:t>files</a:t>
            </a:r>
            <a:endParaRPr lang="hu-HU" dirty="0"/>
          </a:p>
          <a:p>
            <a:pPr lvl="1"/>
            <a:r>
              <a:rPr lang="hu-HU" dirty="0" err="1" smtClean="0"/>
              <a:t>Metadata</a:t>
            </a:r>
            <a:r>
              <a:rPr lang="hu-HU" dirty="0" smtClean="0"/>
              <a:t> </a:t>
            </a:r>
            <a:r>
              <a:rPr lang="hu-HU" dirty="0" err="1" smtClean="0"/>
              <a:t>might</a:t>
            </a:r>
            <a:r>
              <a:rPr lang="hu-HU" dirty="0" smtClean="0"/>
              <a:t> be </a:t>
            </a:r>
            <a:r>
              <a:rPr lang="hu-HU" dirty="0" err="1" smtClean="0"/>
              <a:t>listed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separate</a:t>
            </a:r>
            <a:r>
              <a:rPr lang="hu-HU" dirty="0" smtClean="0"/>
              <a:t> text </a:t>
            </a:r>
            <a:r>
              <a:rPr lang="hu-HU" dirty="0" err="1" smtClean="0"/>
              <a:t>document</a:t>
            </a:r>
            <a:endParaRPr lang="hu-HU" dirty="0" smtClean="0"/>
          </a:p>
          <a:p>
            <a:pPr lvl="1"/>
            <a:r>
              <a:rPr lang="hu-HU" dirty="0" err="1" smtClean="0"/>
              <a:t>Annotation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added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 of </a:t>
            </a:r>
            <a:r>
              <a:rPr lang="hu-HU" dirty="0" err="1" smtClean="0"/>
              <a:t>so-called</a:t>
            </a:r>
            <a:r>
              <a:rPr lang="hu-HU" dirty="0" smtClean="0"/>
              <a:t> </a:t>
            </a:r>
            <a:r>
              <a:rPr lang="hu-HU" b="1" dirty="0" err="1" smtClean="0"/>
              <a:t>standoff</a:t>
            </a:r>
            <a:r>
              <a:rPr lang="hu-HU" b="1" dirty="0" smtClean="0"/>
              <a:t> </a:t>
            </a:r>
            <a:r>
              <a:rPr lang="hu-HU" b="1" dirty="0" err="1" smtClean="0"/>
              <a:t>annotation</a:t>
            </a:r>
            <a:r>
              <a:rPr lang="hu-HU" b="1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b="1" dirty="0" err="1" smtClean="0"/>
              <a:t>separate</a:t>
            </a:r>
            <a:r>
              <a:rPr lang="hu-HU" b="1" dirty="0" smtClean="0"/>
              <a:t> file</a:t>
            </a:r>
          </a:p>
          <a:p>
            <a:pPr lvl="2"/>
            <a:r>
              <a:rPr lang="hu-HU" dirty="0" err="1" smtClean="0"/>
              <a:t>Character</a:t>
            </a:r>
            <a:r>
              <a:rPr lang="hu-HU" dirty="0" smtClean="0"/>
              <a:t> </a:t>
            </a:r>
            <a:r>
              <a:rPr lang="hu-HU" dirty="0" err="1" smtClean="0"/>
              <a:t>offsets</a:t>
            </a:r>
            <a:r>
              <a:rPr lang="hu-HU" dirty="0" smtClean="0"/>
              <a:t> (</a:t>
            </a:r>
            <a:r>
              <a:rPr lang="hu-HU" dirty="0" err="1" smtClean="0"/>
              <a:t>counted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beginning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text)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store</a:t>
            </a:r>
            <a:r>
              <a:rPr lang="hu-HU" dirty="0" smtClean="0"/>
              <a:t> </a:t>
            </a:r>
            <a:r>
              <a:rPr lang="hu-HU" dirty="0" err="1" smtClean="0"/>
              <a:t>tokenisation</a:t>
            </a:r>
            <a:r>
              <a:rPr lang="hu-HU" dirty="0" smtClean="0"/>
              <a:t>, </a:t>
            </a:r>
            <a:r>
              <a:rPr lang="hu-HU" dirty="0" err="1" smtClean="0"/>
              <a:t>tags</a:t>
            </a:r>
            <a:r>
              <a:rPr lang="hu-HU" dirty="0" smtClean="0"/>
              <a:t> </a:t>
            </a:r>
            <a:r>
              <a:rPr lang="hu-HU" dirty="0" err="1" smtClean="0"/>
              <a:t>belonging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, etc.</a:t>
            </a:r>
          </a:p>
          <a:p>
            <a:r>
              <a:rPr lang="hu-HU" b="1" dirty="0" smtClean="0"/>
              <a:t>XML </a:t>
            </a:r>
            <a:r>
              <a:rPr lang="hu-HU" dirty="0" err="1" smtClean="0"/>
              <a:t>files</a:t>
            </a:r>
            <a:endParaRPr lang="hu-HU" dirty="0" smtClean="0"/>
          </a:p>
          <a:p>
            <a:pPr lvl="1"/>
            <a:r>
              <a:rPr lang="hu-HU" dirty="0" smtClean="0"/>
              <a:t>XML </a:t>
            </a:r>
            <a:r>
              <a:rPr lang="hu-HU" b="1" dirty="0" err="1" smtClean="0"/>
              <a:t>tags</a:t>
            </a:r>
            <a:r>
              <a:rPr lang="hu-HU" b="1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mark </a:t>
            </a:r>
            <a:r>
              <a:rPr lang="hu-HU" dirty="0" err="1" smtClean="0"/>
              <a:t>paragraphs</a:t>
            </a:r>
            <a:r>
              <a:rPr lang="hu-HU" dirty="0" smtClean="0"/>
              <a:t>, </a:t>
            </a:r>
            <a:r>
              <a:rPr lang="hu-HU" dirty="0" err="1" smtClean="0"/>
              <a:t>sentences</a:t>
            </a:r>
            <a:r>
              <a:rPr lang="hu-HU" dirty="0" smtClean="0"/>
              <a:t>, </a:t>
            </a:r>
            <a:r>
              <a:rPr lang="hu-HU" dirty="0" err="1" smtClean="0"/>
              <a:t>tokens</a:t>
            </a:r>
            <a:endParaRPr lang="hu-HU" dirty="0"/>
          </a:p>
          <a:p>
            <a:pPr lvl="1"/>
            <a:r>
              <a:rPr lang="hu-HU" dirty="0" smtClean="0"/>
              <a:t>XML </a:t>
            </a:r>
            <a:r>
              <a:rPr lang="hu-HU" b="1" dirty="0" err="1" smtClean="0"/>
              <a:t>attributes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hold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annotations</a:t>
            </a:r>
            <a:endParaRPr lang="hu-HU" b="1" dirty="0" smtClean="0"/>
          </a:p>
          <a:p>
            <a:pPr lvl="1"/>
            <a:r>
              <a:rPr lang="hu-HU" dirty="0" err="1" smtClean="0"/>
              <a:t>general</a:t>
            </a:r>
            <a:r>
              <a:rPr lang="hu-HU" dirty="0" smtClean="0"/>
              <a:t> </a:t>
            </a:r>
            <a:r>
              <a:rPr lang="hu-HU" dirty="0" err="1" smtClean="0"/>
              <a:t>purpose</a:t>
            </a:r>
            <a:r>
              <a:rPr lang="hu-HU" dirty="0" smtClean="0"/>
              <a:t>, </a:t>
            </a:r>
            <a:r>
              <a:rPr lang="hu-HU" dirty="0" err="1" smtClean="0"/>
              <a:t>common</a:t>
            </a:r>
            <a:r>
              <a:rPr lang="hu-HU" dirty="0" smtClean="0"/>
              <a:t> </a:t>
            </a:r>
            <a:r>
              <a:rPr lang="hu-HU" dirty="0" err="1" smtClean="0"/>
              <a:t>format</a:t>
            </a:r>
            <a:endParaRPr lang="hu-HU" dirty="0" smtClean="0"/>
          </a:p>
          <a:p>
            <a:pPr lvl="1"/>
            <a:r>
              <a:rPr lang="hu-HU" dirty="0" smtClean="0"/>
              <a:t>XML </a:t>
            </a:r>
            <a:r>
              <a:rPr lang="hu-HU" b="1" dirty="0" smtClean="0"/>
              <a:t>standard </a:t>
            </a:r>
            <a:r>
              <a:rPr lang="hu-HU" dirty="0" err="1" smtClean="0"/>
              <a:t>often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, </a:t>
            </a:r>
            <a:r>
              <a:rPr lang="hu-HU" dirty="0" err="1" smtClean="0"/>
              <a:t>especially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digital</a:t>
            </a:r>
            <a:r>
              <a:rPr lang="hu-HU" dirty="0" smtClean="0"/>
              <a:t> </a:t>
            </a:r>
            <a:r>
              <a:rPr lang="hu-HU" dirty="0" err="1" smtClean="0"/>
              <a:t>humanities</a:t>
            </a:r>
            <a:r>
              <a:rPr lang="hu-HU" dirty="0" smtClean="0"/>
              <a:t>: </a:t>
            </a:r>
            <a:r>
              <a:rPr lang="hu-HU" dirty="0" err="1" smtClean="0"/>
              <a:t>TEI</a:t>
            </a:r>
            <a:r>
              <a:rPr lang="hu-HU" dirty="0" smtClean="0"/>
              <a:t> (text </a:t>
            </a:r>
            <a:r>
              <a:rPr lang="hu-HU" dirty="0" err="1" smtClean="0"/>
              <a:t>encoding</a:t>
            </a:r>
            <a:r>
              <a:rPr lang="hu-HU" dirty="0" smtClean="0"/>
              <a:t> </a:t>
            </a:r>
            <a:r>
              <a:rPr lang="hu-HU" dirty="0" err="1" smtClean="0"/>
              <a:t>initiative</a:t>
            </a:r>
            <a:r>
              <a:rPr lang="hu-HU" dirty="0" smtClean="0"/>
              <a:t>), </a:t>
            </a:r>
            <a:r>
              <a:rPr lang="hu-HU" dirty="0" err="1" smtClean="0"/>
              <a:t>detailed</a:t>
            </a:r>
            <a:r>
              <a:rPr lang="hu-HU" dirty="0" smtClean="0"/>
              <a:t> </a:t>
            </a:r>
            <a:r>
              <a:rPr lang="hu-HU" dirty="0" err="1" smtClean="0"/>
              <a:t>specification</a:t>
            </a:r>
            <a:endParaRPr lang="hu-HU" dirty="0" smtClean="0"/>
          </a:p>
          <a:p>
            <a:r>
              <a:rPr lang="hu-HU" b="1" dirty="0" err="1" smtClean="0"/>
              <a:t>Vertical</a:t>
            </a:r>
            <a:r>
              <a:rPr lang="hu-HU" b="1" dirty="0" smtClean="0"/>
              <a:t> </a:t>
            </a:r>
            <a:r>
              <a:rPr lang="hu-HU" b="1" dirty="0" err="1" smtClean="0"/>
              <a:t>format</a:t>
            </a:r>
            <a:endParaRPr lang="hu-HU" b="1" dirty="0" smtClean="0"/>
          </a:p>
          <a:p>
            <a:pPr lvl="1"/>
            <a:r>
              <a:rPr lang="hu-HU" dirty="0" err="1" smtClean="0"/>
              <a:t>Plain</a:t>
            </a:r>
            <a:r>
              <a:rPr lang="hu-HU" dirty="0" smtClean="0"/>
              <a:t> text file </a:t>
            </a:r>
            <a:r>
              <a:rPr lang="hu-HU" dirty="0" err="1" smtClean="0"/>
              <a:t>without</a:t>
            </a:r>
            <a:r>
              <a:rPr lang="hu-HU" dirty="0" smtClean="0"/>
              <a:t> </a:t>
            </a:r>
            <a:r>
              <a:rPr lang="hu-HU" dirty="0" err="1" smtClean="0"/>
              <a:t>markup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tsv</a:t>
            </a:r>
            <a:r>
              <a:rPr lang="hu-HU" dirty="0" smtClean="0"/>
              <a:t> </a:t>
            </a:r>
            <a:r>
              <a:rPr lang="hu-HU" dirty="0" err="1" smtClean="0"/>
              <a:t>format</a:t>
            </a:r>
            <a:r>
              <a:rPr lang="hu-HU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tab-separated</a:t>
            </a:r>
            <a:r>
              <a:rPr lang="hu-HU" dirty="0" smtClean="0"/>
              <a:t> </a:t>
            </a:r>
            <a:r>
              <a:rPr lang="hu-HU" dirty="0" err="1" smtClean="0"/>
              <a:t>columns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Table</a:t>
            </a:r>
            <a:r>
              <a:rPr lang="hu-HU" dirty="0" smtClean="0"/>
              <a:t> </a:t>
            </a:r>
            <a:r>
              <a:rPr lang="hu-HU" dirty="0" err="1" smtClean="0"/>
              <a:t>header</a:t>
            </a:r>
            <a:r>
              <a:rPr lang="hu-HU" dirty="0" smtClean="0"/>
              <a:t>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dirty="0" err="1" smtClean="0"/>
              <a:t>annotation</a:t>
            </a:r>
            <a:r>
              <a:rPr lang="hu-HU" dirty="0" smtClean="0"/>
              <a:t> </a:t>
            </a:r>
            <a:r>
              <a:rPr lang="hu-HU" dirty="0" err="1" smtClean="0"/>
              <a:t>type</a:t>
            </a:r>
            <a:endParaRPr lang="hu-HU" dirty="0" smtClean="0"/>
          </a:p>
          <a:p>
            <a:pPr lvl="1"/>
            <a:r>
              <a:rPr lang="hu-HU" dirty="0" err="1" smtClean="0"/>
              <a:t>Each</a:t>
            </a:r>
            <a:r>
              <a:rPr lang="hu-HU" dirty="0" smtClean="0"/>
              <a:t> line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a </a:t>
            </a:r>
            <a:r>
              <a:rPr lang="hu-HU" dirty="0" err="1" smtClean="0"/>
              <a:t>token</a:t>
            </a:r>
            <a:r>
              <a:rPr lang="hu-HU" dirty="0" smtClean="0"/>
              <a:t>, </a:t>
            </a:r>
            <a:r>
              <a:rPr lang="hu-HU" dirty="0" err="1" smtClean="0"/>
              <a:t>columns</a:t>
            </a:r>
            <a:r>
              <a:rPr lang="hu-HU" dirty="0" smtClean="0"/>
              <a:t> </a:t>
            </a:r>
            <a:r>
              <a:rPr lang="hu-HU" dirty="0" err="1" smtClean="0"/>
              <a:t>containing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feature</a:t>
            </a:r>
            <a:r>
              <a:rPr lang="hu-HU" dirty="0" smtClean="0"/>
              <a:t> </a:t>
            </a:r>
            <a:r>
              <a:rPr lang="hu-HU" dirty="0" err="1" smtClean="0"/>
              <a:t>values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366179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Corpus </a:t>
            </a:r>
            <a:r>
              <a:rPr lang="hu-HU" dirty="0" err="1" smtClean="0"/>
              <a:t>Engines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err="1" smtClean="0"/>
              <a:t>First</a:t>
            </a:r>
            <a:r>
              <a:rPr lang="hu-HU" dirty="0" smtClean="0"/>
              <a:t>, a corpus is </a:t>
            </a:r>
            <a:r>
              <a:rPr lang="hu-HU" dirty="0" err="1" smtClean="0"/>
              <a:t>created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individual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collected</a:t>
            </a:r>
            <a:r>
              <a:rPr lang="hu-HU" dirty="0" smtClean="0"/>
              <a:t> and </a:t>
            </a:r>
            <a:r>
              <a:rPr lang="hu-HU" dirty="0" err="1" smtClean="0"/>
              <a:t>organised</a:t>
            </a:r>
            <a:r>
              <a:rPr lang="hu-HU" dirty="0" smtClean="0"/>
              <a:t>, </a:t>
            </a:r>
            <a:r>
              <a:rPr lang="hu-HU" dirty="0" err="1" smtClean="0"/>
              <a:t>possibly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subcorpora</a:t>
            </a:r>
            <a:r>
              <a:rPr lang="hu-HU" dirty="0" smtClean="0"/>
              <a:t> (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genre</a:t>
            </a:r>
            <a:r>
              <a:rPr lang="hu-HU" dirty="0" smtClean="0"/>
              <a:t>, </a:t>
            </a:r>
            <a:r>
              <a:rPr lang="hu-HU" dirty="0" err="1" smtClean="0"/>
              <a:t>year</a:t>
            </a:r>
            <a:r>
              <a:rPr lang="hu-HU" dirty="0" smtClean="0"/>
              <a:t>, </a:t>
            </a:r>
            <a:r>
              <a:rPr lang="hu-HU" dirty="0" err="1" smtClean="0"/>
              <a:t>language</a:t>
            </a:r>
            <a:r>
              <a:rPr lang="hu-HU" dirty="0" smtClean="0"/>
              <a:t>, etc.)</a:t>
            </a:r>
          </a:p>
          <a:p>
            <a:pPr lvl="1"/>
            <a:r>
              <a:rPr lang="hu-HU" dirty="0" err="1" smtClean="0"/>
              <a:t>processing</a:t>
            </a:r>
            <a:r>
              <a:rPr lang="hu-HU" dirty="0" smtClean="0"/>
              <a:t>:</a:t>
            </a:r>
          </a:p>
          <a:p>
            <a:pPr lvl="2"/>
            <a:r>
              <a:rPr lang="hu-HU" dirty="0" err="1" smtClean="0"/>
              <a:t>tokenisation</a:t>
            </a:r>
            <a:r>
              <a:rPr lang="hu-HU" dirty="0" smtClean="0"/>
              <a:t>,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segmentation</a:t>
            </a:r>
            <a:endParaRPr lang="hu-HU" dirty="0" smtClean="0"/>
          </a:p>
          <a:p>
            <a:pPr lvl="2"/>
            <a:r>
              <a:rPr lang="hu-HU" dirty="0" err="1" smtClean="0"/>
              <a:t>annotation</a:t>
            </a:r>
            <a:endParaRPr lang="hu-HU" dirty="0" smtClean="0"/>
          </a:p>
          <a:p>
            <a:pPr lvl="2"/>
            <a:r>
              <a:rPr lang="hu-HU" dirty="0" err="1" smtClean="0"/>
              <a:t>conversion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a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format</a:t>
            </a:r>
            <a:r>
              <a:rPr lang="hu-HU" dirty="0" smtClean="0"/>
              <a:t> (</a:t>
            </a:r>
            <a:r>
              <a:rPr lang="hu-HU" dirty="0" err="1" smtClean="0"/>
              <a:t>usually</a:t>
            </a:r>
            <a:r>
              <a:rPr lang="hu-HU" dirty="0" smtClean="0"/>
              <a:t> XML</a:t>
            </a:r>
            <a:r>
              <a:rPr lang="hu-HU" dirty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vertical</a:t>
            </a:r>
            <a:r>
              <a:rPr lang="hu-HU" dirty="0" smtClean="0"/>
              <a:t>)</a:t>
            </a:r>
          </a:p>
          <a:p>
            <a:r>
              <a:rPr lang="hu-HU" dirty="0" err="1" smtClean="0"/>
              <a:t>Then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corpus </a:t>
            </a:r>
            <a:r>
              <a:rPr lang="hu-HU" dirty="0" err="1" smtClean="0"/>
              <a:t>may</a:t>
            </a:r>
            <a:r>
              <a:rPr lang="hu-HU" dirty="0" smtClean="0"/>
              <a:t> be </a:t>
            </a:r>
            <a:r>
              <a:rPr lang="hu-HU" dirty="0" err="1" smtClean="0"/>
              <a:t>distributed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served</a:t>
            </a:r>
            <a:r>
              <a:rPr lang="hu-HU" dirty="0" smtClean="0"/>
              <a:t> </a:t>
            </a:r>
            <a:r>
              <a:rPr lang="hu-HU" dirty="0" err="1" smtClean="0"/>
              <a:t>through</a:t>
            </a:r>
            <a:r>
              <a:rPr lang="hu-HU" dirty="0" smtClean="0"/>
              <a:t> a </a:t>
            </a:r>
            <a:r>
              <a:rPr lang="hu-HU" b="1" dirty="0" smtClean="0"/>
              <a:t>corpus </a:t>
            </a:r>
            <a:r>
              <a:rPr lang="hu-HU" b="1" dirty="0" err="1" smtClean="0"/>
              <a:t>engine</a:t>
            </a:r>
            <a:endParaRPr lang="hu-HU" b="1" dirty="0" smtClean="0"/>
          </a:p>
          <a:p>
            <a:pPr lvl="1"/>
            <a:r>
              <a:rPr lang="hu-HU" b="1" dirty="0" err="1" smtClean="0"/>
              <a:t>stores</a:t>
            </a:r>
            <a:r>
              <a:rPr lang="hu-HU" b="1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 </a:t>
            </a:r>
            <a:r>
              <a:rPr lang="hu-HU" dirty="0" err="1" smtClean="0"/>
              <a:t>along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annotation</a:t>
            </a:r>
            <a:endParaRPr lang="hu-HU" dirty="0"/>
          </a:p>
          <a:p>
            <a:pPr lvl="1"/>
            <a:r>
              <a:rPr lang="hu-HU" dirty="0" err="1" smtClean="0"/>
              <a:t>creates</a:t>
            </a:r>
            <a:r>
              <a:rPr lang="hu-HU" dirty="0" smtClean="0"/>
              <a:t> and </a:t>
            </a:r>
            <a:r>
              <a:rPr lang="hu-HU" dirty="0" err="1" smtClean="0"/>
              <a:t>maintains</a:t>
            </a:r>
            <a:r>
              <a:rPr lang="hu-HU" dirty="0" smtClean="0"/>
              <a:t> an </a:t>
            </a:r>
            <a:r>
              <a:rPr lang="hu-HU" b="1" dirty="0" smtClean="0"/>
              <a:t>index </a:t>
            </a:r>
            <a:r>
              <a:rPr lang="hu-HU" dirty="0" smtClean="0"/>
              <a:t>of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speed</a:t>
            </a:r>
            <a:r>
              <a:rPr lang="hu-HU" dirty="0" smtClean="0"/>
              <a:t> </a:t>
            </a:r>
            <a:r>
              <a:rPr lang="hu-HU" dirty="0" err="1" smtClean="0"/>
              <a:t>up</a:t>
            </a:r>
            <a:r>
              <a:rPr lang="hu-HU" dirty="0" smtClean="0"/>
              <a:t> </a:t>
            </a:r>
            <a:r>
              <a:rPr lang="hu-HU" dirty="0" err="1" smtClean="0"/>
              <a:t>retrieval</a:t>
            </a:r>
            <a:r>
              <a:rPr lang="hu-HU" dirty="0" smtClean="0"/>
              <a:t> (</a:t>
            </a:r>
            <a:r>
              <a:rPr lang="hu-HU" dirty="0" err="1" smtClean="0"/>
              <a:t>much</a:t>
            </a:r>
            <a:r>
              <a:rPr lang="hu-HU" dirty="0" smtClean="0"/>
              <a:t> </a:t>
            </a:r>
            <a:r>
              <a:rPr lang="hu-HU" dirty="0" err="1" smtClean="0"/>
              <a:t>faster</a:t>
            </a:r>
            <a:r>
              <a:rPr lang="hu-HU" dirty="0" smtClean="0"/>
              <a:t> </a:t>
            </a:r>
            <a:r>
              <a:rPr lang="hu-HU" dirty="0" err="1" smtClean="0"/>
              <a:t>than</a:t>
            </a:r>
            <a:r>
              <a:rPr lang="hu-HU" dirty="0" smtClean="0"/>
              <a:t> </a:t>
            </a:r>
            <a:r>
              <a:rPr lang="hu-HU" dirty="0" err="1" smtClean="0"/>
              <a:t>linear</a:t>
            </a:r>
            <a:r>
              <a:rPr lang="hu-HU" dirty="0" smtClean="0"/>
              <a:t> </a:t>
            </a:r>
            <a:r>
              <a:rPr lang="hu-HU" dirty="0" err="1" smtClean="0"/>
              <a:t>scanning</a:t>
            </a:r>
            <a:r>
              <a:rPr lang="hu-HU" dirty="0" smtClean="0"/>
              <a:t> of </a:t>
            </a:r>
            <a:r>
              <a:rPr lang="hu-HU" dirty="0" err="1" smtClean="0"/>
              <a:t>texts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facilitates</a:t>
            </a:r>
            <a:r>
              <a:rPr lang="hu-HU" dirty="0" smtClean="0"/>
              <a:t> </a:t>
            </a:r>
            <a:r>
              <a:rPr lang="hu-HU" dirty="0" err="1" smtClean="0"/>
              <a:t>access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through</a:t>
            </a:r>
            <a:r>
              <a:rPr lang="hu-HU" dirty="0" smtClean="0"/>
              <a:t> a </a:t>
            </a:r>
            <a:r>
              <a:rPr lang="hu-HU" b="1" dirty="0" err="1" smtClean="0"/>
              <a:t>user</a:t>
            </a:r>
            <a:r>
              <a:rPr lang="hu-HU" b="1" dirty="0" smtClean="0"/>
              <a:t> </a:t>
            </a:r>
            <a:r>
              <a:rPr lang="hu-HU" b="1" dirty="0" err="1" smtClean="0"/>
              <a:t>interface</a:t>
            </a:r>
            <a:endParaRPr lang="hu-HU" b="1" dirty="0"/>
          </a:p>
          <a:p>
            <a:pPr lvl="2"/>
            <a:r>
              <a:rPr lang="hu-HU" b="1" dirty="0" err="1" smtClean="0"/>
              <a:t>search</a:t>
            </a:r>
            <a:r>
              <a:rPr lang="hu-HU" b="1" dirty="0" smtClean="0"/>
              <a:t> </a:t>
            </a:r>
            <a:r>
              <a:rPr lang="hu-HU" b="1" dirty="0" err="1" smtClean="0"/>
              <a:t>for</a:t>
            </a:r>
            <a:r>
              <a:rPr lang="hu-HU" b="1" dirty="0" smtClean="0"/>
              <a:t> </a:t>
            </a:r>
            <a:r>
              <a:rPr lang="hu-HU" b="1" dirty="0" err="1" smtClean="0"/>
              <a:t>token</a:t>
            </a:r>
            <a:r>
              <a:rPr lang="hu-HU" b="1" dirty="0" smtClean="0"/>
              <a:t> </a:t>
            </a:r>
            <a:r>
              <a:rPr lang="hu-HU" b="1" dirty="0" err="1" smtClean="0"/>
              <a:t>forms</a:t>
            </a:r>
            <a:r>
              <a:rPr lang="hu-HU" b="1" dirty="0" smtClean="0"/>
              <a:t> </a:t>
            </a:r>
            <a:r>
              <a:rPr lang="hu-HU" b="1" dirty="0" err="1" smtClean="0"/>
              <a:t>or</a:t>
            </a:r>
            <a:r>
              <a:rPr lang="hu-HU" b="1" dirty="0" smtClean="0"/>
              <a:t> </a:t>
            </a:r>
            <a:r>
              <a:rPr lang="hu-HU" b="1" dirty="0" err="1" smtClean="0"/>
              <a:t>annotation</a:t>
            </a:r>
            <a:endParaRPr lang="hu-HU" b="1" dirty="0" smtClean="0"/>
          </a:p>
          <a:p>
            <a:pPr lvl="2"/>
            <a:r>
              <a:rPr lang="hu-HU" dirty="0" err="1" smtClean="0"/>
              <a:t>either</a:t>
            </a:r>
            <a:r>
              <a:rPr lang="hu-HU" dirty="0" smtClean="0"/>
              <a:t> </a:t>
            </a:r>
            <a:r>
              <a:rPr lang="hu-HU" dirty="0" err="1" smtClean="0"/>
              <a:t>complemented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a </a:t>
            </a:r>
            <a:r>
              <a:rPr lang="hu-HU" dirty="0" err="1" smtClean="0"/>
              <a:t>menu-based</a:t>
            </a:r>
            <a:r>
              <a:rPr lang="hu-HU" dirty="0" smtClean="0"/>
              <a:t> </a:t>
            </a:r>
            <a:r>
              <a:rPr lang="hu-HU" dirty="0" err="1" smtClean="0"/>
              <a:t>interface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query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is </a:t>
            </a:r>
            <a:r>
              <a:rPr lang="hu-HU" dirty="0" err="1" smtClean="0"/>
              <a:t>interpreted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engine</a:t>
            </a:r>
            <a:endParaRPr lang="hu-HU" dirty="0" smtClean="0"/>
          </a:p>
          <a:p>
            <a:pPr lvl="2"/>
            <a:r>
              <a:rPr lang="hu-HU" b="1" dirty="0" err="1" smtClean="0"/>
              <a:t>search</a:t>
            </a:r>
            <a:r>
              <a:rPr lang="hu-HU" b="1" dirty="0" smtClean="0"/>
              <a:t> </a:t>
            </a:r>
            <a:r>
              <a:rPr lang="hu-HU" b="1" dirty="0" err="1" smtClean="0"/>
              <a:t>results</a:t>
            </a:r>
            <a:r>
              <a:rPr lang="hu-HU" b="1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presented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 of </a:t>
            </a:r>
            <a:r>
              <a:rPr lang="hu-HU" b="1" dirty="0" err="1" smtClean="0"/>
              <a:t>frequency</a:t>
            </a:r>
            <a:r>
              <a:rPr lang="hu-HU" b="1" dirty="0" smtClean="0"/>
              <a:t> </a:t>
            </a:r>
            <a:r>
              <a:rPr lang="hu-HU" b="1" dirty="0" err="1" smtClean="0"/>
              <a:t>counts</a:t>
            </a:r>
            <a:r>
              <a:rPr lang="hu-HU" b="1" dirty="0" smtClean="0"/>
              <a:t> </a:t>
            </a:r>
            <a:r>
              <a:rPr lang="hu-HU" dirty="0" smtClean="0"/>
              <a:t>and </a:t>
            </a:r>
            <a:r>
              <a:rPr lang="hu-HU" b="1" dirty="0" err="1" smtClean="0"/>
              <a:t>concordances</a:t>
            </a:r>
            <a:endParaRPr lang="hu-HU" b="1" dirty="0" smtClean="0"/>
          </a:p>
          <a:p>
            <a:pPr lvl="2"/>
            <a:r>
              <a:rPr lang="hu-HU" dirty="0" err="1" smtClean="0"/>
              <a:t>often</a:t>
            </a:r>
            <a:r>
              <a:rPr lang="hu-HU" dirty="0" smtClean="0"/>
              <a:t> </a:t>
            </a:r>
            <a:r>
              <a:rPr lang="hu-HU" dirty="0" err="1" smtClean="0"/>
              <a:t>further</a:t>
            </a:r>
            <a:r>
              <a:rPr lang="hu-HU" dirty="0" smtClean="0"/>
              <a:t> </a:t>
            </a:r>
            <a:r>
              <a:rPr lang="hu-HU" dirty="0" err="1" smtClean="0"/>
              <a:t>additional</a:t>
            </a:r>
            <a:r>
              <a:rPr lang="hu-HU" dirty="0" smtClean="0"/>
              <a:t> </a:t>
            </a:r>
            <a:r>
              <a:rPr lang="hu-HU" dirty="0" err="1" smtClean="0"/>
              <a:t>functions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collocation</a:t>
            </a:r>
            <a:r>
              <a:rPr lang="hu-HU" dirty="0" smtClean="0"/>
              <a:t> </a:t>
            </a:r>
            <a:r>
              <a:rPr lang="hu-HU" dirty="0" err="1" smtClean="0"/>
              <a:t>extraction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0165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Sketch</a:t>
            </a:r>
            <a:r>
              <a:rPr lang="hu-HU" dirty="0" smtClean="0"/>
              <a:t> </a:t>
            </a:r>
            <a:r>
              <a:rPr lang="hu-HU" dirty="0" err="1" smtClean="0"/>
              <a:t>Engine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err="1" smtClean="0"/>
              <a:t>Sketch</a:t>
            </a:r>
            <a:r>
              <a:rPr lang="hu-HU" dirty="0" smtClean="0"/>
              <a:t> </a:t>
            </a:r>
            <a:r>
              <a:rPr lang="hu-HU" dirty="0" err="1" smtClean="0"/>
              <a:t>Engine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most </a:t>
            </a:r>
            <a:r>
              <a:rPr lang="hu-HU" dirty="0" err="1" smtClean="0"/>
              <a:t>important</a:t>
            </a:r>
            <a:r>
              <a:rPr lang="hu-HU" dirty="0" smtClean="0"/>
              <a:t> corpus management </a:t>
            </a:r>
            <a:r>
              <a:rPr lang="hu-HU" dirty="0" err="1" smtClean="0"/>
              <a:t>engine</a:t>
            </a:r>
            <a:r>
              <a:rPr lang="hu-HU" dirty="0" smtClean="0"/>
              <a:t> and has </a:t>
            </a:r>
            <a:r>
              <a:rPr lang="hu-HU" dirty="0" err="1" smtClean="0"/>
              <a:t>been</a:t>
            </a:r>
            <a:r>
              <a:rPr lang="hu-HU" dirty="0" smtClean="0"/>
              <a:t> </a:t>
            </a:r>
            <a:r>
              <a:rPr lang="hu-HU" dirty="0" err="1" smtClean="0"/>
              <a:t>around</a:t>
            </a:r>
            <a:r>
              <a:rPr lang="hu-HU" dirty="0" smtClean="0"/>
              <a:t> </a:t>
            </a:r>
            <a:r>
              <a:rPr lang="hu-HU" dirty="0" err="1" smtClean="0"/>
              <a:t>since</a:t>
            </a:r>
            <a:r>
              <a:rPr lang="hu-HU" dirty="0" smtClean="0"/>
              <a:t> 2004</a:t>
            </a:r>
          </a:p>
          <a:p>
            <a:pPr lvl="1"/>
            <a:r>
              <a:rPr lang="en-GB" dirty="0">
                <a:hlinkClick r:id="rId2"/>
              </a:rPr>
              <a:t>Adam </a:t>
            </a:r>
            <a:r>
              <a:rPr lang="en-GB" dirty="0" err="1" smtClean="0">
                <a:hlinkClick r:id="rId2"/>
              </a:rPr>
              <a:t>Kilgarriff</a:t>
            </a:r>
            <a:r>
              <a:rPr lang="hu-HU" dirty="0" smtClean="0">
                <a:hlinkClick r:id="rId2"/>
              </a:rPr>
              <a:t> et </a:t>
            </a:r>
            <a:r>
              <a:rPr lang="hu-HU" dirty="0" err="1" smtClean="0">
                <a:hlinkClick r:id="rId2"/>
              </a:rPr>
              <a:t>al</a:t>
            </a:r>
            <a:r>
              <a:rPr lang="en-GB" dirty="0" smtClean="0">
                <a:hlinkClick r:id="rId2"/>
              </a:rPr>
              <a:t>. </a:t>
            </a:r>
            <a:r>
              <a:rPr lang="en-GB" dirty="0">
                <a:hlinkClick r:id="rId2"/>
              </a:rPr>
              <a:t>The Sketch Engine. </a:t>
            </a:r>
            <a:r>
              <a:rPr lang="en-GB" i="1" dirty="0">
                <a:hlinkClick r:id="rId2"/>
              </a:rPr>
              <a:t>Proceedings of the 11th </a:t>
            </a:r>
            <a:r>
              <a:rPr lang="en-GB" i="1" dirty="0" err="1">
                <a:hlinkClick r:id="rId2"/>
              </a:rPr>
              <a:t>EURALEX</a:t>
            </a:r>
            <a:r>
              <a:rPr lang="en-GB" i="1" dirty="0">
                <a:hlinkClick r:id="rId2"/>
              </a:rPr>
              <a:t> International Congress</a:t>
            </a:r>
            <a:r>
              <a:rPr lang="en-GB" dirty="0">
                <a:hlinkClick r:id="rId2"/>
              </a:rPr>
              <a:t>: 105-116, 2004</a:t>
            </a:r>
            <a:r>
              <a:rPr lang="en-GB" dirty="0" smtClean="0"/>
              <a:t>.</a:t>
            </a:r>
            <a:endParaRPr lang="hu-HU" dirty="0" smtClean="0"/>
          </a:p>
          <a:p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addition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usual</a:t>
            </a:r>
            <a:r>
              <a:rPr lang="hu-HU" dirty="0" smtClean="0"/>
              <a:t> </a:t>
            </a:r>
            <a:r>
              <a:rPr lang="hu-HU" dirty="0" err="1" smtClean="0"/>
              <a:t>functionalities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indexing, </a:t>
            </a:r>
            <a:r>
              <a:rPr lang="hu-HU" dirty="0" err="1" smtClean="0"/>
              <a:t>search</a:t>
            </a:r>
            <a:r>
              <a:rPr lang="hu-HU" dirty="0" smtClean="0"/>
              <a:t> and displaying </a:t>
            </a:r>
            <a:r>
              <a:rPr lang="hu-HU" dirty="0" err="1" smtClean="0"/>
              <a:t>results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KWIC</a:t>
            </a:r>
            <a:r>
              <a:rPr lang="hu-HU" dirty="0" smtClean="0"/>
              <a:t> </a:t>
            </a:r>
            <a:r>
              <a:rPr lang="hu-HU" dirty="0" err="1" smtClean="0"/>
              <a:t>format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dirty="0" err="1" smtClean="0"/>
              <a:t>includes</a:t>
            </a:r>
            <a:r>
              <a:rPr lang="hu-HU" dirty="0" smtClean="0"/>
              <a:t> </a:t>
            </a:r>
            <a:r>
              <a:rPr lang="hu-HU" dirty="0" err="1" smtClean="0"/>
              <a:t>so-called</a:t>
            </a:r>
            <a:r>
              <a:rPr lang="hu-HU" dirty="0" smtClean="0"/>
              <a:t> </a:t>
            </a:r>
            <a:r>
              <a:rPr lang="hu-HU" b="1" dirty="0" err="1" smtClean="0"/>
              <a:t>word</a:t>
            </a:r>
            <a:r>
              <a:rPr lang="hu-HU" b="1" dirty="0" smtClean="0"/>
              <a:t> </a:t>
            </a:r>
            <a:r>
              <a:rPr lang="hu-HU" b="1" dirty="0" err="1" smtClean="0"/>
              <a:t>sketches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concise</a:t>
            </a:r>
            <a:r>
              <a:rPr lang="hu-HU" dirty="0" smtClean="0"/>
              <a:t>, </a:t>
            </a:r>
            <a:r>
              <a:rPr lang="hu-HU" dirty="0" err="1" smtClean="0"/>
              <a:t>dictionary-article-like</a:t>
            </a:r>
            <a:r>
              <a:rPr lang="hu-HU" dirty="0" smtClean="0"/>
              <a:t> </a:t>
            </a:r>
            <a:r>
              <a:rPr lang="hu-HU" dirty="0" err="1" smtClean="0"/>
              <a:t>summaries</a:t>
            </a:r>
            <a:r>
              <a:rPr lang="hu-HU" dirty="0" smtClean="0"/>
              <a:t> of a </a:t>
            </a:r>
            <a:r>
              <a:rPr lang="hu-HU" dirty="0" err="1" smtClean="0"/>
              <a:t>word</a:t>
            </a:r>
            <a:r>
              <a:rPr lang="hu-HU" dirty="0" smtClean="0"/>
              <a:t>’s </a:t>
            </a:r>
            <a:r>
              <a:rPr lang="hu-HU" dirty="0" err="1" smtClean="0"/>
              <a:t>grammatical</a:t>
            </a:r>
            <a:r>
              <a:rPr lang="hu-HU" dirty="0" smtClean="0"/>
              <a:t> </a:t>
            </a:r>
            <a:r>
              <a:rPr lang="hu-HU" dirty="0" err="1" smtClean="0"/>
              <a:t>behaviour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b="1" dirty="0" err="1" smtClean="0"/>
              <a:t>collocations</a:t>
            </a:r>
            <a:r>
              <a:rPr lang="hu-HU" dirty="0" smtClean="0"/>
              <a:t> </a:t>
            </a:r>
            <a:r>
              <a:rPr lang="hu-HU" dirty="0" err="1" smtClean="0"/>
              <a:t>extracted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provided</a:t>
            </a:r>
            <a:r>
              <a:rPr lang="hu-HU" dirty="0" smtClean="0"/>
              <a:t> corpus.</a:t>
            </a:r>
          </a:p>
          <a:p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,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noun</a:t>
            </a:r>
            <a:r>
              <a:rPr lang="hu-HU" dirty="0" smtClean="0"/>
              <a:t> </a:t>
            </a:r>
            <a:r>
              <a:rPr lang="hu-HU" i="1" dirty="0" err="1" smtClean="0"/>
              <a:t>decision</a:t>
            </a:r>
            <a:r>
              <a:rPr lang="hu-HU" dirty="0" smtClean="0"/>
              <a:t>, a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sketch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include</a:t>
            </a:r>
            <a:r>
              <a:rPr lang="hu-HU" dirty="0" smtClean="0"/>
              <a:t> </a:t>
            </a:r>
            <a:r>
              <a:rPr lang="hu-HU" dirty="0" err="1" smtClean="0"/>
              <a:t>things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frequent</a:t>
            </a:r>
            <a:r>
              <a:rPr lang="hu-HU" dirty="0" smtClean="0"/>
              <a:t> </a:t>
            </a:r>
            <a:r>
              <a:rPr lang="hu-HU" dirty="0" err="1" smtClean="0"/>
              <a:t>modifiers</a:t>
            </a:r>
            <a:r>
              <a:rPr lang="hu-HU" dirty="0" smtClean="0"/>
              <a:t> (</a:t>
            </a:r>
            <a:r>
              <a:rPr lang="hu-HU" dirty="0" err="1" smtClean="0"/>
              <a:t>adjectival</a:t>
            </a:r>
            <a:r>
              <a:rPr lang="hu-HU" dirty="0" smtClean="0"/>
              <a:t> </a:t>
            </a:r>
            <a:r>
              <a:rPr lang="hu-HU" dirty="0" err="1" smtClean="0"/>
              <a:t>attributes</a:t>
            </a:r>
            <a:r>
              <a:rPr lang="hu-HU" dirty="0" smtClean="0"/>
              <a:t>): </a:t>
            </a:r>
            <a:r>
              <a:rPr lang="en-GB" i="1" dirty="0" smtClean="0"/>
              <a:t>important</a:t>
            </a:r>
            <a:r>
              <a:rPr lang="en-GB" i="1" dirty="0"/>
              <a:t>, final, </a:t>
            </a:r>
            <a:r>
              <a:rPr lang="en-GB" i="1" dirty="0" smtClean="0"/>
              <a:t>difficult</a:t>
            </a:r>
            <a:endParaRPr lang="hu-HU" i="1" dirty="0" smtClean="0"/>
          </a:p>
          <a:p>
            <a:pPr lvl="1"/>
            <a:r>
              <a:rPr lang="hu-HU" dirty="0" err="1" smtClean="0"/>
              <a:t>verbs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i="1" dirty="0" err="1" smtClean="0"/>
              <a:t>decision</a:t>
            </a:r>
            <a:r>
              <a:rPr lang="hu-HU" i="1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their</a:t>
            </a:r>
            <a:r>
              <a:rPr lang="hu-HU" dirty="0" smtClean="0"/>
              <a:t> </a:t>
            </a:r>
            <a:r>
              <a:rPr lang="hu-HU" dirty="0" err="1" smtClean="0"/>
              <a:t>object</a:t>
            </a:r>
            <a:r>
              <a:rPr lang="hu-HU" dirty="0" smtClean="0"/>
              <a:t>:</a:t>
            </a:r>
            <a:r>
              <a:rPr lang="hu-HU" i="1" dirty="0" smtClean="0"/>
              <a:t> </a:t>
            </a:r>
            <a:r>
              <a:rPr lang="en-GB" i="1" dirty="0"/>
              <a:t>make, </a:t>
            </a:r>
            <a:r>
              <a:rPr lang="en-GB" i="1" dirty="0" smtClean="0"/>
              <a:t>reach</a:t>
            </a:r>
            <a:r>
              <a:rPr lang="en-GB" i="1" dirty="0"/>
              <a:t>, </a:t>
            </a:r>
            <a:r>
              <a:rPr lang="en-GB" i="1" dirty="0" smtClean="0"/>
              <a:t>announce</a:t>
            </a:r>
            <a:endParaRPr lang="hu-HU" i="1" dirty="0" smtClean="0"/>
          </a:p>
          <a:p>
            <a:pPr lvl="1"/>
            <a:r>
              <a:rPr lang="hu-HU" dirty="0" err="1" smtClean="0"/>
              <a:t>prepositions</a:t>
            </a:r>
            <a:r>
              <a:rPr lang="hu-HU" dirty="0" smtClean="0"/>
              <a:t> </a:t>
            </a:r>
            <a:r>
              <a:rPr lang="hu-HU" dirty="0" err="1" smtClean="0"/>
              <a:t>following</a:t>
            </a:r>
            <a:r>
              <a:rPr lang="hu-HU" dirty="0" smtClean="0"/>
              <a:t> </a:t>
            </a:r>
            <a:r>
              <a:rPr lang="hu-HU" dirty="0" err="1" smtClean="0"/>
              <a:t>decision</a:t>
            </a:r>
            <a:r>
              <a:rPr lang="hu-HU" dirty="0" smtClean="0"/>
              <a:t>: </a:t>
            </a:r>
            <a:r>
              <a:rPr lang="en-GB" i="1" dirty="0"/>
              <a:t>on, about, </a:t>
            </a:r>
            <a:r>
              <a:rPr lang="en-GB" i="1" dirty="0" smtClean="0"/>
              <a:t>regarding</a:t>
            </a:r>
            <a:endParaRPr lang="hu-HU" i="1" dirty="0" smtClean="0"/>
          </a:p>
          <a:p>
            <a:pPr lvl="1"/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b="1" dirty="0" err="1" smtClean="0"/>
              <a:t>extracted</a:t>
            </a:r>
            <a:r>
              <a:rPr lang="hu-HU" b="1" dirty="0" smtClean="0"/>
              <a:t> </a:t>
            </a:r>
            <a:r>
              <a:rPr lang="hu-HU" b="1" dirty="0" err="1" smtClean="0"/>
              <a:t>from</a:t>
            </a:r>
            <a:r>
              <a:rPr lang="hu-HU" b="1" dirty="0" smtClean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thus</a:t>
            </a:r>
            <a:r>
              <a:rPr lang="hu-HU" dirty="0" smtClean="0"/>
              <a:t> </a:t>
            </a:r>
            <a:r>
              <a:rPr lang="hu-HU" b="1" dirty="0" err="1" smtClean="0"/>
              <a:t>specific</a:t>
            </a:r>
            <a:r>
              <a:rPr lang="hu-HU" b="1" dirty="0" smtClean="0"/>
              <a:t> </a:t>
            </a:r>
            <a:r>
              <a:rPr lang="hu-HU" b="1" dirty="0" err="1" smtClean="0"/>
              <a:t>to</a:t>
            </a:r>
            <a:r>
              <a:rPr lang="hu-HU" b="1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current</a:t>
            </a:r>
            <a:r>
              <a:rPr lang="hu-HU" dirty="0" smtClean="0"/>
              <a:t> corpus </a:t>
            </a:r>
            <a:r>
              <a:rPr lang="hu-HU" dirty="0" err="1" smtClean="0"/>
              <a:t>that</a:t>
            </a:r>
            <a:r>
              <a:rPr lang="hu-HU" dirty="0" smtClean="0"/>
              <a:t> is </a:t>
            </a:r>
            <a:r>
              <a:rPr lang="hu-HU" dirty="0" err="1" smtClean="0"/>
              <a:t>stored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Sketch</a:t>
            </a:r>
            <a:r>
              <a:rPr lang="hu-HU" dirty="0" smtClean="0"/>
              <a:t> </a:t>
            </a:r>
            <a:r>
              <a:rPr lang="hu-HU" dirty="0" err="1" smtClean="0"/>
              <a:t>Engine</a:t>
            </a:r>
            <a:endParaRPr lang="hu-HU" dirty="0" smtClean="0"/>
          </a:p>
          <a:p>
            <a:pPr lvl="1"/>
            <a:r>
              <a:rPr lang="hu-HU" dirty="0" err="1" smtClean="0"/>
              <a:t>essentially</a:t>
            </a:r>
            <a:r>
              <a:rPr lang="hu-HU" dirty="0" smtClean="0"/>
              <a:t> a </a:t>
            </a:r>
            <a:r>
              <a:rPr lang="hu-HU" dirty="0" err="1" smtClean="0"/>
              <a:t>statistical</a:t>
            </a:r>
            <a:r>
              <a:rPr lang="hu-HU" dirty="0" smtClean="0"/>
              <a:t> thesaurus of a </a:t>
            </a:r>
            <a:r>
              <a:rPr lang="hu-HU" dirty="0" err="1" smtClean="0"/>
              <a:t>word</a:t>
            </a:r>
            <a:r>
              <a:rPr lang="hu-HU" dirty="0" smtClean="0"/>
              <a:t>’s </a:t>
            </a:r>
            <a:r>
              <a:rPr lang="hu-HU" dirty="0" err="1" smtClean="0"/>
              <a:t>usage</a:t>
            </a:r>
            <a:r>
              <a:rPr lang="hu-HU" dirty="0" smtClean="0"/>
              <a:t>, </a:t>
            </a:r>
            <a:r>
              <a:rPr lang="hu-HU" b="1" dirty="0" err="1" smtClean="0"/>
              <a:t>not</a:t>
            </a:r>
            <a:r>
              <a:rPr lang="hu-HU" b="1" dirty="0" smtClean="0"/>
              <a:t> </a:t>
            </a:r>
            <a:r>
              <a:rPr lang="hu-HU" b="1" dirty="0" err="1" smtClean="0"/>
              <a:t>based</a:t>
            </a:r>
            <a:r>
              <a:rPr lang="hu-HU" b="1" dirty="0" smtClean="0"/>
              <a:t> </a:t>
            </a:r>
            <a:r>
              <a:rPr lang="hu-HU" b="1" dirty="0" err="1" smtClean="0"/>
              <a:t>on</a:t>
            </a:r>
            <a:r>
              <a:rPr lang="hu-HU" b="1" dirty="0" smtClean="0"/>
              <a:t> </a:t>
            </a:r>
            <a:r>
              <a:rPr lang="hu-HU" b="1" dirty="0" err="1" smtClean="0"/>
              <a:t>intuition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of a </a:t>
            </a:r>
            <a:r>
              <a:rPr lang="hu-HU" dirty="0" err="1" smtClean="0"/>
              <a:t>lexicographer</a:t>
            </a:r>
            <a:r>
              <a:rPr lang="hu-HU" dirty="0" smtClean="0"/>
              <a:t>),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real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485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Sketch</a:t>
            </a:r>
            <a:r>
              <a:rPr lang="hu-HU" dirty="0"/>
              <a:t> </a:t>
            </a:r>
            <a:r>
              <a:rPr lang="hu-HU" dirty="0" err="1"/>
              <a:t>Engine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600" dirty="0" err="1" smtClean="0"/>
              <a:t>Source</a:t>
            </a:r>
            <a:r>
              <a:rPr lang="hu-HU" sz="1600" dirty="0"/>
              <a:t>: </a:t>
            </a:r>
            <a:r>
              <a:rPr lang="hu-HU" sz="1600" dirty="0" err="1">
                <a:hlinkClick r:id="rId2"/>
              </a:rPr>
              <a:t>https</a:t>
            </a:r>
            <a:r>
              <a:rPr lang="hu-HU" sz="1600" dirty="0">
                <a:hlinkClick r:id="rId2"/>
              </a:rPr>
              <a:t>://</a:t>
            </a:r>
            <a:r>
              <a:rPr lang="hu-HU" sz="1600" dirty="0" err="1" smtClean="0">
                <a:hlinkClick r:id="rId2"/>
              </a:rPr>
              <a:t>www.sketchengine.eu</a:t>
            </a:r>
            <a:r>
              <a:rPr lang="hu-HU" sz="1600" dirty="0" smtClean="0">
                <a:hlinkClick r:id="rId2"/>
              </a:rPr>
              <a:t>/</a:t>
            </a:r>
            <a:r>
              <a:rPr lang="hu-HU" sz="1600" dirty="0" err="1" smtClean="0">
                <a:hlinkClick r:id="rId2"/>
              </a:rPr>
              <a:t>guide</a:t>
            </a:r>
            <a:r>
              <a:rPr lang="hu-HU" sz="1600" dirty="0" smtClean="0">
                <a:hlinkClick r:id="rId2"/>
              </a:rPr>
              <a:t>/</a:t>
            </a:r>
            <a:r>
              <a:rPr lang="hu-HU" sz="1600" dirty="0" err="1" smtClean="0">
                <a:hlinkClick r:id="rId2"/>
              </a:rPr>
              <a:t>word-sketch-collocations-and-word-combinations</a:t>
            </a:r>
            <a:r>
              <a:rPr lang="hu-HU" sz="1600" dirty="0" smtClean="0">
                <a:hlinkClick r:id="rId2"/>
              </a:rPr>
              <a:t>/</a:t>
            </a:r>
            <a:endParaRPr lang="en-GB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76872"/>
            <a:ext cx="8415337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8017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Collocations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collocation</a:t>
            </a:r>
            <a:r>
              <a:rPr lang="hu-HU" dirty="0" smtClean="0"/>
              <a:t> is a </a:t>
            </a:r>
            <a:r>
              <a:rPr lang="hu-HU" dirty="0" err="1" smtClean="0"/>
              <a:t>pair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commonly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together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language</a:t>
            </a:r>
            <a:r>
              <a:rPr lang="hu-HU" dirty="0" smtClean="0"/>
              <a:t>, </a:t>
            </a:r>
            <a:r>
              <a:rPr lang="hu-HU" b="1" dirty="0" smtClean="0"/>
              <a:t>more </a:t>
            </a:r>
            <a:r>
              <a:rPr lang="hu-HU" b="1" dirty="0" err="1" smtClean="0"/>
              <a:t>often</a:t>
            </a:r>
            <a:r>
              <a:rPr lang="hu-HU" b="1" dirty="0" smtClean="0"/>
              <a:t> </a:t>
            </a:r>
            <a:r>
              <a:rPr lang="hu-HU" b="1" dirty="0" err="1" smtClean="0"/>
              <a:t>than</a:t>
            </a:r>
            <a:r>
              <a:rPr lang="hu-HU" b="1" dirty="0" smtClean="0"/>
              <a:t> </a:t>
            </a:r>
            <a:r>
              <a:rPr lang="hu-HU" b="1" dirty="0" err="1" smtClean="0"/>
              <a:t>could</a:t>
            </a:r>
            <a:r>
              <a:rPr lang="hu-HU" b="1" dirty="0" smtClean="0"/>
              <a:t> be </a:t>
            </a:r>
            <a:r>
              <a:rPr lang="hu-HU" b="1" dirty="0" err="1" smtClean="0"/>
              <a:t>expected</a:t>
            </a:r>
            <a:r>
              <a:rPr lang="hu-HU" b="1" dirty="0" smtClean="0"/>
              <a:t> </a:t>
            </a:r>
            <a:r>
              <a:rPr lang="hu-HU" b="1" dirty="0" err="1" smtClean="0"/>
              <a:t>by</a:t>
            </a:r>
            <a:r>
              <a:rPr lang="hu-HU" b="1" dirty="0" smtClean="0"/>
              <a:t> </a:t>
            </a:r>
            <a:r>
              <a:rPr lang="hu-HU" b="1" dirty="0" err="1" smtClean="0"/>
              <a:t>chance</a:t>
            </a:r>
            <a:endParaRPr lang="hu-HU" b="1" dirty="0" smtClean="0"/>
          </a:p>
          <a:p>
            <a:pPr lvl="1"/>
            <a:r>
              <a:rPr lang="hu-HU" dirty="0" smtClean="0"/>
              <a:t>here, </a:t>
            </a:r>
            <a:r>
              <a:rPr lang="hu-HU" i="1" dirty="0" err="1" smtClean="0"/>
              <a:t>chance</a:t>
            </a:r>
            <a:r>
              <a:rPr lang="hu-HU" i="1" dirty="0" smtClean="0"/>
              <a:t> </a:t>
            </a:r>
            <a:r>
              <a:rPr lang="hu-HU" dirty="0" smtClean="0"/>
              <a:t>is </a:t>
            </a:r>
            <a:r>
              <a:rPr lang="hu-HU" dirty="0" err="1" smtClean="0"/>
              <a:t>understood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strictly</a:t>
            </a:r>
            <a:r>
              <a:rPr lang="hu-HU" dirty="0" smtClean="0"/>
              <a:t> </a:t>
            </a:r>
            <a:r>
              <a:rPr lang="hu-HU" dirty="0" err="1" smtClean="0"/>
              <a:t>probabilistic</a:t>
            </a:r>
            <a:r>
              <a:rPr lang="hu-HU" dirty="0" smtClean="0"/>
              <a:t>, </a:t>
            </a:r>
            <a:r>
              <a:rPr lang="hu-HU" dirty="0" err="1" smtClean="0"/>
              <a:t>mathematical</a:t>
            </a:r>
            <a:r>
              <a:rPr lang="hu-HU" dirty="0" smtClean="0"/>
              <a:t> </a:t>
            </a:r>
            <a:r>
              <a:rPr lang="hu-HU" dirty="0" err="1" smtClean="0"/>
              <a:t>sense</a:t>
            </a:r>
            <a:r>
              <a:rPr lang="hu-HU" dirty="0" smtClean="0"/>
              <a:t>,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assuming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occurrence</a:t>
            </a:r>
            <a:r>
              <a:rPr lang="hu-HU" dirty="0" smtClean="0"/>
              <a:t> of </a:t>
            </a:r>
            <a:r>
              <a:rPr lang="hu-HU" dirty="0" err="1" smtClean="0"/>
              <a:t>tokens</a:t>
            </a:r>
            <a:r>
              <a:rPr lang="hu-HU" dirty="0" smtClean="0"/>
              <a:t> is </a:t>
            </a:r>
            <a:r>
              <a:rPr lang="hu-HU" b="1" dirty="0" err="1" smtClean="0"/>
              <a:t>independent</a:t>
            </a:r>
            <a:r>
              <a:rPr lang="hu-HU" b="1" dirty="0" smtClean="0"/>
              <a:t> </a:t>
            </a:r>
            <a:r>
              <a:rPr lang="hu-HU" dirty="0" smtClean="0"/>
              <a:t>of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endParaRPr lang="hu-HU" dirty="0" smtClean="0"/>
          </a:p>
          <a:p>
            <a:pPr lvl="2"/>
            <a:r>
              <a:rPr lang="hu-HU" dirty="0" err="1" smtClean="0"/>
              <a:t>independence</a:t>
            </a:r>
            <a:r>
              <a:rPr lang="hu-HU" dirty="0" smtClean="0"/>
              <a:t> </a:t>
            </a:r>
            <a:r>
              <a:rPr lang="hu-HU" dirty="0" err="1" smtClean="0"/>
              <a:t>means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occur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random </a:t>
            </a:r>
            <a:r>
              <a:rPr lang="hu-HU" dirty="0" err="1" smtClean="0"/>
              <a:t>order</a:t>
            </a:r>
            <a:r>
              <a:rPr lang="hu-HU" dirty="0" smtClean="0"/>
              <a:t> </a:t>
            </a:r>
            <a:r>
              <a:rPr lang="hu-HU" dirty="0" err="1" smtClean="0"/>
              <a:t>simply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their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endParaRPr lang="hu-HU" dirty="0" smtClean="0"/>
          </a:p>
          <a:p>
            <a:pPr lvl="2"/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not</a:t>
            </a:r>
            <a:r>
              <a:rPr lang="hu-HU" dirty="0" smtClean="0"/>
              <a:t> a </a:t>
            </a:r>
            <a:r>
              <a:rPr lang="hu-HU" dirty="0" err="1" smtClean="0"/>
              <a:t>realistic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of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since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occurrence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a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is </a:t>
            </a:r>
            <a:r>
              <a:rPr lang="hu-HU" dirty="0" err="1" smtClean="0"/>
              <a:t>strongly</a:t>
            </a:r>
            <a:r>
              <a:rPr lang="hu-HU" dirty="0" smtClean="0"/>
              <a:t> </a:t>
            </a:r>
            <a:r>
              <a:rPr lang="hu-HU" dirty="0" err="1" smtClean="0"/>
              <a:t>dependent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surrounding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endParaRPr lang="hu-HU" dirty="0"/>
          </a:p>
          <a:p>
            <a:pPr lvl="2"/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assumption</a:t>
            </a:r>
            <a:r>
              <a:rPr lang="hu-HU" dirty="0" smtClean="0"/>
              <a:t> </a:t>
            </a:r>
            <a:r>
              <a:rPr lang="hu-HU" dirty="0" err="1" smtClean="0"/>
              <a:t>still</a:t>
            </a:r>
            <a:r>
              <a:rPr lang="hu-HU" dirty="0" smtClean="0"/>
              <a:t> </a:t>
            </a:r>
            <a:r>
              <a:rPr lang="hu-HU" dirty="0" err="1" smtClean="0"/>
              <a:t>works</a:t>
            </a:r>
            <a:r>
              <a:rPr lang="hu-HU" dirty="0" smtClean="0"/>
              <a:t> </a:t>
            </a:r>
            <a:r>
              <a:rPr lang="hu-HU" dirty="0" err="1" smtClean="0"/>
              <a:t>relatively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practice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collocation</a:t>
            </a:r>
            <a:r>
              <a:rPr lang="hu-HU" dirty="0" smtClean="0"/>
              <a:t> </a:t>
            </a:r>
            <a:r>
              <a:rPr lang="hu-HU" dirty="0" err="1" smtClean="0"/>
              <a:t>detection</a:t>
            </a:r>
            <a:endParaRPr lang="hu-HU" dirty="0" smtClean="0"/>
          </a:p>
          <a:p>
            <a:pPr lvl="1"/>
            <a:r>
              <a:rPr lang="hu-HU" i="1" dirty="0" smtClean="0"/>
              <a:t>more </a:t>
            </a:r>
            <a:r>
              <a:rPr lang="hu-HU" i="1" dirty="0" err="1" smtClean="0"/>
              <a:t>often</a:t>
            </a:r>
            <a:r>
              <a:rPr lang="hu-HU" i="1" dirty="0" smtClean="0"/>
              <a:t>: </a:t>
            </a:r>
            <a:r>
              <a:rPr lang="hu-HU" dirty="0" err="1" smtClean="0"/>
              <a:t>not</a:t>
            </a:r>
            <a:r>
              <a:rPr lang="hu-HU" dirty="0" smtClean="0"/>
              <a:t> a </a:t>
            </a:r>
            <a:r>
              <a:rPr lang="hu-HU" dirty="0" err="1" smtClean="0"/>
              <a:t>binary</a:t>
            </a:r>
            <a:r>
              <a:rPr lang="hu-HU" dirty="0" smtClean="0"/>
              <a:t>, </a:t>
            </a:r>
            <a:r>
              <a:rPr lang="hu-HU" dirty="0" err="1" smtClean="0"/>
              <a:t>categorical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b="1" dirty="0" err="1" smtClean="0"/>
              <a:t>gradual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 is </a:t>
            </a:r>
            <a:r>
              <a:rPr lang="hu-HU" b="1" dirty="0" err="1" smtClean="0"/>
              <a:t>how</a:t>
            </a:r>
            <a:r>
              <a:rPr lang="hu-HU" b="1" dirty="0" smtClean="0"/>
              <a:t> </a:t>
            </a:r>
            <a:r>
              <a:rPr lang="hu-HU" b="1" dirty="0" err="1" smtClean="0"/>
              <a:t>much</a:t>
            </a:r>
            <a:r>
              <a:rPr lang="hu-HU" b="1" dirty="0" smtClean="0"/>
              <a:t> more </a:t>
            </a:r>
            <a:r>
              <a:rPr lang="hu-HU" dirty="0" err="1" smtClean="0"/>
              <a:t>often</a:t>
            </a:r>
            <a:r>
              <a:rPr lang="hu-HU" dirty="0" smtClean="0"/>
              <a:t>; </a:t>
            </a:r>
            <a:r>
              <a:rPr lang="hu-HU" dirty="0" err="1" smtClean="0"/>
              <a:t>collocations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ordered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b="1" dirty="0" err="1" smtClean="0"/>
              <a:t>strength</a:t>
            </a:r>
            <a:r>
              <a:rPr lang="hu-HU" dirty="0" smtClean="0"/>
              <a:t>, and </a:t>
            </a:r>
            <a:r>
              <a:rPr lang="hu-HU" dirty="0" err="1" smtClean="0"/>
              <a:t>there</a:t>
            </a:r>
            <a:r>
              <a:rPr lang="hu-HU" dirty="0" smtClean="0"/>
              <a:t> is no </a:t>
            </a:r>
            <a:r>
              <a:rPr lang="hu-HU" dirty="0" err="1" smtClean="0"/>
              <a:t>hard</a:t>
            </a:r>
            <a:r>
              <a:rPr lang="hu-HU" dirty="0" smtClean="0"/>
              <a:t> </a:t>
            </a:r>
            <a:r>
              <a:rPr lang="hu-HU" dirty="0" err="1" smtClean="0"/>
              <a:t>boundary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threshold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divides</a:t>
            </a:r>
            <a:r>
              <a:rPr lang="hu-HU" dirty="0" smtClean="0"/>
              <a:t> </a:t>
            </a:r>
            <a:r>
              <a:rPr lang="hu-HU" dirty="0" err="1" smtClean="0"/>
              <a:t>collocations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non-collocation</a:t>
            </a:r>
            <a:r>
              <a:rPr lang="hu-HU" dirty="0" smtClean="0"/>
              <a:t> </a:t>
            </a:r>
            <a:r>
              <a:rPr lang="hu-HU" dirty="0" err="1" smtClean="0"/>
              <a:t>pairs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endParaRPr lang="hu-HU" dirty="0" smtClean="0"/>
          </a:p>
          <a:p>
            <a:pPr lvl="2"/>
            <a:r>
              <a:rPr lang="hu-HU" dirty="0" err="1"/>
              <a:t>various</a:t>
            </a:r>
            <a:r>
              <a:rPr lang="hu-HU" dirty="0"/>
              <a:t> </a:t>
            </a:r>
            <a:r>
              <a:rPr lang="hu-HU" dirty="0" err="1"/>
              <a:t>statistical</a:t>
            </a:r>
            <a:r>
              <a:rPr lang="hu-HU" dirty="0"/>
              <a:t> </a:t>
            </a:r>
            <a:r>
              <a:rPr lang="hu-HU" dirty="0" err="1"/>
              <a:t>measures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used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quantify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strength</a:t>
            </a:r>
            <a:r>
              <a:rPr lang="hu-HU" dirty="0"/>
              <a:t> of a </a:t>
            </a:r>
            <a:r>
              <a:rPr lang="hu-HU" dirty="0" err="1"/>
              <a:t>collocation</a:t>
            </a:r>
            <a:endParaRPr lang="hu-HU" dirty="0"/>
          </a:p>
          <a:p>
            <a:pPr lvl="3"/>
            <a:r>
              <a:rPr lang="hu-HU" dirty="0" err="1"/>
              <a:t>Sketch</a:t>
            </a:r>
            <a:r>
              <a:rPr lang="hu-HU" dirty="0"/>
              <a:t> </a:t>
            </a:r>
            <a:r>
              <a:rPr lang="hu-HU" dirty="0" err="1"/>
              <a:t>Engine</a:t>
            </a:r>
            <a:r>
              <a:rPr lang="hu-HU" dirty="0"/>
              <a:t>: </a:t>
            </a:r>
            <a:r>
              <a:rPr lang="hu-HU" dirty="0" err="1"/>
              <a:t>T-score</a:t>
            </a:r>
            <a:r>
              <a:rPr lang="hu-HU" dirty="0"/>
              <a:t>, </a:t>
            </a:r>
            <a:r>
              <a:rPr lang="hu-HU" dirty="0" err="1"/>
              <a:t>mutual</a:t>
            </a:r>
            <a:r>
              <a:rPr lang="hu-HU" dirty="0"/>
              <a:t> </a:t>
            </a:r>
            <a:r>
              <a:rPr lang="hu-HU" dirty="0" err="1"/>
              <a:t>information</a:t>
            </a:r>
            <a:r>
              <a:rPr lang="hu-HU" dirty="0"/>
              <a:t> (MI), </a:t>
            </a:r>
            <a:r>
              <a:rPr lang="hu-HU" dirty="0" err="1" smtClean="0"/>
              <a:t>LogDice</a:t>
            </a:r>
            <a:endParaRPr lang="hu-HU" dirty="0" smtClean="0"/>
          </a:p>
          <a:p>
            <a:pPr lvl="1"/>
            <a:r>
              <a:rPr lang="hu-HU" dirty="0" smtClean="0"/>
              <a:t>more </a:t>
            </a:r>
            <a:r>
              <a:rPr lang="hu-HU" dirty="0" err="1" smtClean="0"/>
              <a:t>generally</a:t>
            </a:r>
            <a:r>
              <a:rPr lang="hu-HU" dirty="0" smtClean="0"/>
              <a:t>: </a:t>
            </a:r>
            <a:r>
              <a:rPr lang="hu-HU" dirty="0"/>
              <a:t>a </a:t>
            </a:r>
            <a:r>
              <a:rPr lang="hu-HU" dirty="0" err="1"/>
              <a:t>pair</a:t>
            </a:r>
            <a:r>
              <a:rPr lang="hu-HU" dirty="0"/>
              <a:t> of </a:t>
            </a:r>
            <a:r>
              <a:rPr lang="hu-HU" dirty="0" err="1"/>
              <a:t>spans</a:t>
            </a:r>
            <a:r>
              <a:rPr lang="hu-HU" dirty="0"/>
              <a:t> </a:t>
            </a:r>
            <a:r>
              <a:rPr lang="hu-HU" dirty="0" err="1"/>
              <a:t>of</a:t>
            </a:r>
            <a:r>
              <a:rPr lang="hu-HU" dirty="0"/>
              <a:t> </a:t>
            </a:r>
            <a:r>
              <a:rPr lang="hu-HU" dirty="0" err="1"/>
              <a:t>tokens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could</a:t>
            </a:r>
            <a:r>
              <a:rPr lang="hu-HU" dirty="0"/>
              <a:t> </a:t>
            </a:r>
            <a:r>
              <a:rPr lang="hu-HU" dirty="0" err="1"/>
              <a:t>contain</a:t>
            </a:r>
            <a:r>
              <a:rPr lang="hu-HU" dirty="0"/>
              <a:t> more </a:t>
            </a:r>
            <a:r>
              <a:rPr lang="hu-HU" dirty="0" err="1"/>
              <a:t>than</a:t>
            </a:r>
            <a:r>
              <a:rPr lang="hu-HU" dirty="0"/>
              <a:t> a </a:t>
            </a:r>
            <a:r>
              <a:rPr lang="hu-HU" dirty="0" err="1"/>
              <a:t>single</a:t>
            </a:r>
            <a:r>
              <a:rPr lang="hu-HU" dirty="0"/>
              <a:t> </a:t>
            </a:r>
            <a:r>
              <a:rPr lang="hu-HU" dirty="0" err="1"/>
              <a:t>word</a:t>
            </a:r>
            <a:r>
              <a:rPr lang="hu-HU" dirty="0"/>
              <a:t> </a:t>
            </a:r>
            <a:r>
              <a:rPr lang="hu-HU" dirty="0" err="1" smtClean="0"/>
              <a:t>each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015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NoSketchEngine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err="1" smtClean="0"/>
              <a:t>Sketch</a:t>
            </a:r>
            <a:r>
              <a:rPr lang="hu-HU" dirty="0" smtClean="0"/>
              <a:t> </a:t>
            </a:r>
            <a:r>
              <a:rPr lang="hu-HU" dirty="0" err="1" smtClean="0"/>
              <a:t>Engine</a:t>
            </a:r>
            <a:r>
              <a:rPr lang="hu-HU" dirty="0" smtClean="0"/>
              <a:t> is a </a:t>
            </a:r>
            <a:r>
              <a:rPr lang="hu-HU" dirty="0" err="1" smtClean="0"/>
              <a:t>paid-for</a:t>
            </a:r>
            <a:r>
              <a:rPr lang="hu-HU" dirty="0" smtClean="0"/>
              <a:t> service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combines</a:t>
            </a:r>
            <a:endParaRPr lang="hu-HU" dirty="0" smtClean="0"/>
          </a:p>
          <a:p>
            <a:pPr lvl="1"/>
            <a:r>
              <a:rPr lang="hu-HU" dirty="0" err="1" smtClean="0"/>
              <a:t>the</a:t>
            </a:r>
            <a:r>
              <a:rPr lang="hu-HU" dirty="0" smtClean="0"/>
              <a:t> corpus management </a:t>
            </a:r>
            <a:r>
              <a:rPr lang="hu-HU" dirty="0" err="1" smtClean="0"/>
              <a:t>engine</a:t>
            </a:r>
            <a:r>
              <a:rPr lang="hu-HU" dirty="0" smtClean="0"/>
              <a:t> </a:t>
            </a:r>
            <a:r>
              <a:rPr lang="hu-HU" dirty="0" err="1" smtClean="0"/>
              <a:t>itself</a:t>
            </a:r>
            <a:endParaRPr lang="hu-HU" dirty="0" smtClean="0"/>
          </a:p>
          <a:p>
            <a:pPr lvl="1"/>
            <a:r>
              <a:rPr lang="hu-HU" dirty="0" err="1" smtClean="0"/>
              <a:t>hosting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corpus </a:t>
            </a:r>
            <a:r>
              <a:rPr lang="hu-HU" dirty="0" err="1" smtClean="0"/>
              <a:t>on</a:t>
            </a:r>
            <a:r>
              <a:rPr lang="hu-HU" dirty="0" smtClean="0"/>
              <a:t> servers </a:t>
            </a:r>
            <a:r>
              <a:rPr lang="hu-HU" dirty="0" err="1" smtClean="0"/>
              <a:t>managed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company</a:t>
            </a:r>
            <a:r>
              <a:rPr lang="hu-HU" dirty="0" smtClean="0"/>
              <a:t> 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dirty="0" err="1" smtClean="0"/>
              <a:t>Lexical</a:t>
            </a:r>
            <a:r>
              <a:rPr lang="hu-HU" dirty="0" smtClean="0"/>
              <a:t> </a:t>
            </a:r>
            <a:r>
              <a:rPr lang="hu-HU" dirty="0" err="1" smtClean="0"/>
              <a:t>Computing</a:t>
            </a:r>
            <a:r>
              <a:rPr lang="hu-HU" dirty="0" smtClean="0"/>
              <a:t> (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UK and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Czech</a:t>
            </a:r>
            <a:r>
              <a:rPr lang="hu-HU" dirty="0" smtClean="0"/>
              <a:t> </a:t>
            </a:r>
            <a:r>
              <a:rPr lang="hu-HU" dirty="0" err="1" smtClean="0"/>
              <a:t>Republic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assistance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creation</a:t>
            </a:r>
            <a:r>
              <a:rPr lang="hu-HU" dirty="0" smtClean="0"/>
              <a:t> of a corpus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raw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endParaRPr lang="hu-HU" dirty="0" smtClean="0"/>
          </a:p>
          <a:p>
            <a:r>
              <a:rPr lang="hu-HU" dirty="0" err="1" smtClean="0"/>
              <a:t>NoSketchEngine</a:t>
            </a:r>
            <a:r>
              <a:rPr lang="hu-HU" dirty="0" smtClean="0"/>
              <a:t> is a </a:t>
            </a:r>
            <a:r>
              <a:rPr lang="hu-HU" dirty="0" err="1" smtClean="0"/>
              <a:t>free-to-use</a:t>
            </a:r>
            <a:r>
              <a:rPr lang="hu-HU" dirty="0" smtClean="0"/>
              <a:t>, </a:t>
            </a:r>
            <a:r>
              <a:rPr lang="hu-HU" dirty="0" err="1" smtClean="0"/>
              <a:t>open-source</a:t>
            </a:r>
            <a:r>
              <a:rPr lang="hu-HU" dirty="0" smtClean="0"/>
              <a:t> </a:t>
            </a:r>
            <a:r>
              <a:rPr lang="hu-HU" dirty="0" err="1" smtClean="0"/>
              <a:t>fork</a:t>
            </a:r>
            <a:r>
              <a:rPr lang="hu-HU" dirty="0" smtClean="0"/>
              <a:t> of </a:t>
            </a:r>
            <a:r>
              <a:rPr lang="hu-HU" dirty="0" err="1" smtClean="0"/>
              <a:t>Sketch</a:t>
            </a:r>
            <a:r>
              <a:rPr lang="hu-HU" dirty="0" smtClean="0"/>
              <a:t> </a:t>
            </a:r>
            <a:r>
              <a:rPr lang="hu-HU" dirty="0" err="1" smtClean="0"/>
              <a:t>Engine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reduced</a:t>
            </a:r>
            <a:r>
              <a:rPr lang="hu-HU" dirty="0" smtClean="0"/>
              <a:t> </a:t>
            </a:r>
            <a:r>
              <a:rPr lang="hu-HU" dirty="0" err="1" smtClean="0"/>
              <a:t>functionality</a:t>
            </a:r>
            <a:endParaRPr lang="hu-HU" dirty="0" smtClean="0"/>
          </a:p>
          <a:p>
            <a:pPr lvl="1"/>
            <a:r>
              <a:rPr lang="hu-HU" dirty="0" smtClean="0"/>
              <a:t>main </a:t>
            </a:r>
            <a:r>
              <a:rPr lang="hu-HU" dirty="0" err="1" smtClean="0"/>
              <a:t>difference</a:t>
            </a:r>
            <a:r>
              <a:rPr lang="hu-HU" dirty="0" smtClean="0"/>
              <a:t>: no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sketches</a:t>
            </a:r>
            <a:endParaRPr lang="hu-HU" dirty="0" smtClean="0"/>
          </a:p>
          <a:p>
            <a:pPr lvl="1"/>
            <a:r>
              <a:rPr lang="hu-HU" dirty="0" err="1"/>
              <a:t>h</a:t>
            </a:r>
            <a:r>
              <a:rPr lang="hu-HU" dirty="0" err="1" smtClean="0"/>
              <a:t>osted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user</a:t>
            </a:r>
            <a:r>
              <a:rPr lang="hu-HU" dirty="0" smtClean="0"/>
              <a:t>’s </a:t>
            </a:r>
            <a:r>
              <a:rPr lang="hu-HU" dirty="0" err="1" smtClean="0"/>
              <a:t>own</a:t>
            </a:r>
            <a:r>
              <a:rPr lang="hu-HU" dirty="0" smtClean="0"/>
              <a:t> platform</a:t>
            </a:r>
          </a:p>
          <a:p>
            <a:pPr lvl="1"/>
            <a:r>
              <a:rPr lang="hu-HU" dirty="0" err="1" smtClean="0"/>
              <a:t>provides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</a:t>
            </a:r>
            <a:r>
              <a:rPr lang="hu-HU" dirty="0" err="1" smtClean="0"/>
              <a:t>browser-based</a:t>
            </a:r>
            <a:r>
              <a:rPr lang="hu-HU" dirty="0" smtClean="0"/>
              <a:t> </a:t>
            </a:r>
            <a:r>
              <a:rPr lang="hu-HU" dirty="0" err="1" smtClean="0"/>
              <a:t>GUI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SkE</a:t>
            </a:r>
            <a:endParaRPr lang="hu-HU" dirty="0" smtClean="0"/>
          </a:p>
          <a:p>
            <a:pPr lvl="1"/>
            <a:r>
              <a:rPr lang="hu-HU" dirty="0" smtClean="0"/>
              <a:t>corpus is fed </a:t>
            </a:r>
            <a:r>
              <a:rPr lang="hu-HU" dirty="0" err="1" smtClean="0"/>
              <a:t>into</a:t>
            </a:r>
            <a:r>
              <a:rPr lang="hu-HU" dirty="0" smtClean="0"/>
              <a:t> </a:t>
            </a:r>
            <a:r>
              <a:rPr lang="hu-HU" dirty="0" err="1" smtClean="0"/>
              <a:t>NoSkE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 of </a:t>
            </a:r>
            <a:r>
              <a:rPr lang="hu-HU" dirty="0" err="1" smtClean="0"/>
              <a:t>vertical</a:t>
            </a:r>
            <a:r>
              <a:rPr lang="hu-HU" dirty="0" smtClean="0"/>
              <a:t> </a:t>
            </a:r>
            <a:r>
              <a:rPr lang="hu-HU" dirty="0" err="1" smtClean="0"/>
              <a:t>files</a:t>
            </a:r>
            <a:endParaRPr lang="hu-HU" dirty="0" smtClean="0"/>
          </a:p>
          <a:p>
            <a:pPr lvl="2"/>
            <a:r>
              <a:rPr lang="hu-HU" dirty="0" err="1" smtClean="0"/>
              <a:t>NoSkE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pre-process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corpus!</a:t>
            </a:r>
          </a:p>
          <a:p>
            <a:pPr lvl="2"/>
            <a:r>
              <a:rPr lang="hu-HU" dirty="0" err="1" smtClean="0"/>
              <a:t>Tokenisation</a:t>
            </a:r>
            <a:r>
              <a:rPr lang="hu-HU" dirty="0" smtClean="0"/>
              <a:t> and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annotation</a:t>
            </a:r>
            <a:r>
              <a:rPr lang="hu-HU" dirty="0" smtClean="0"/>
              <a:t> must be </a:t>
            </a:r>
            <a:r>
              <a:rPr lang="hu-HU" dirty="0" err="1" smtClean="0"/>
              <a:t>already</a:t>
            </a:r>
            <a:r>
              <a:rPr lang="hu-HU" dirty="0" smtClean="0"/>
              <a:t> </a:t>
            </a:r>
            <a:r>
              <a:rPr lang="hu-HU" dirty="0" err="1" smtClean="0"/>
              <a:t>contained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vertical</a:t>
            </a:r>
            <a:r>
              <a:rPr lang="hu-HU" dirty="0" smtClean="0"/>
              <a:t> file.</a:t>
            </a:r>
          </a:p>
          <a:p>
            <a:pPr lvl="1"/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addition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vertical</a:t>
            </a:r>
            <a:r>
              <a:rPr lang="hu-HU" dirty="0" smtClean="0"/>
              <a:t> </a:t>
            </a:r>
            <a:r>
              <a:rPr lang="hu-HU" dirty="0" err="1" smtClean="0"/>
              <a:t>files</a:t>
            </a:r>
            <a:r>
              <a:rPr lang="hu-HU" dirty="0" smtClean="0"/>
              <a:t>, a </a:t>
            </a:r>
            <a:r>
              <a:rPr lang="hu-HU" dirty="0" smtClean="0">
                <a:hlinkClick r:id="rId2"/>
              </a:rPr>
              <a:t>corpus </a:t>
            </a:r>
            <a:r>
              <a:rPr lang="hu-HU" dirty="0" err="1" smtClean="0">
                <a:hlinkClick r:id="rId2"/>
              </a:rPr>
              <a:t>configuration</a:t>
            </a:r>
            <a:r>
              <a:rPr lang="hu-HU" dirty="0" smtClean="0">
                <a:hlinkClick r:id="rId2"/>
              </a:rPr>
              <a:t> file</a:t>
            </a:r>
            <a:r>
              <a:rPr lang="hu-HU" dirty="0" smtClean="0"/>
              <a:t> must be </a:t>
            </a:r>
            <a:r>
              <a:rPr lang="hu-HU" dirty="0" err="1" smtClean="0"/>
              <a:t>provided</a:t>
            </a:r>
            <a:endParaRPr lang="hu-HU" dirty="0" smtClean="0"/>
          </a:p>
          <a:p>
            <a:pPr lvl="1"/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provided</a:t>
            </a:r>
            <a:r>
              <a:rPr lang="hu-HU" dirty="0" smtClean="0"/>
              <a:t> </a:t>
            </a:r>
            <a:r>
              <a:rPr lang="hu-HU" dirty="0" err="1" smtClean="0"/>
              <a:t>vertical</a:t>
            </a:r>
            <a:r>
              <a:rPr lang="hu-HU" dirty="0" smtClean="0"/>
              <a:t> </a:t>
            </a:r>
            <a:r>
              <a:rPr lang="hu-HU" dirty="0" err="1" smtClean="0"/>
              <a:t>files</a:t>
            </a:r>
            <a:r>
              <a:rPr lang="hu-HU" dirty="0" smtClean="0"/>
              <a:t> and </a:t>
            </a:r>
            <a:r>
              <a:rPr lang="hu-HU" dirty="0" err="1" smtClean="0"/>
              <a:t>configuration</a:t>
            </a:r>
            <a:r>
              <a:rPr lang="hu-HU" dirty="0" smtClean="0"/>
              <a:t> </a:t>
            </a:r>
            <a:r>
              <a:rPr lang="hu-HU" dirty="0" err="1" smtClean="0"/>
              <a:t>files</a:t>
            </a:r>
            <a:r>
              <a:rPr lang="hu-HU" dirty="0" smtClean="0"/>
              <a:t>, </a:t>
            </a:r>
            <a:r>
              <a:rPr lang="hu-HU" dirty="0" err="1" smtClean="0"/>
              <a:t>NoSkE</a:t>
            </a:r>
            <a:r>
              <a:rPr lang="hu-HU" dirty="0" smtClean="0"/>
              <a:t> </a:t>
            </a:r>
            <a:r>
              <a:rPr lang="hu-HU" dirty="0" err="1" smtClean="0"/>
              <a:t>automatically</a:t>
            </a:r>
            <a:r>
              <a:rPr lang="hu-HU" dirty="0" smtClean="0"/>
              <a:t> </a:t>
            </a:r>
            <a:r>
              <a:rPr lang="hu-HU" dirty="0" err="1" smtClean="0"/>
              <a:t>generates</a:t>
            </a:r>
            <a:r>
              <a:rPr lang="hu-HU" dirty="0" smtClean="0"/>
              <a:t> an index of </a:t>
            </a:r>
            <a:r>
              <a:rPr lang="hu-HU" dirty="0" err="1" smtClean="0"/>
              <a:t>the</a:t>
            </a:r>
            <a:r>
              <a:rPr lang="hu-HU" dirty="0" smtClean="0"/>
              <a:t> corpus and </a:t>
            </a:r>
            <a:r>
              <a:rPr lang="hu-HU" dirty="0" err="1" smtClean="0"/>
              <a:t>provides</a:t>
            </a:r>
            <a:r>
              <a:rPr lang="hu-HU" dirty="0" smtClean="0"/>
              <a:t> a </a:t>
            </a:r>
            <a:r>
              <a:rPr lang="hu-HU" dirty="0" err="1" smtClean="0"/>
              <a:t>user</a:t>
            </a:r>
            <a:r>
              <a:rPr lang="hu-HU" dirty="0" smtClean="0"/>
              <a:t> </a:t>
            </a:r>
            <a:r>
              <a:rPr lang="hu-HU" dirty="0" err="1" smtClean="0"/>
              <a:t>interface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search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index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47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NoSketchEngine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err="1" smtClean="0"/>
              <a:t>Functionalities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Supports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monolingual</a:t>
            </a:r>
            <a:r>
              <a:rPr lang="hu-HU" dirty="0" smtClean="0"/>
              <a:t> and </a:t>
            </a:r>
            <a:r>
              <a:rPr lang="hu-HU" dirty="0" err="1" smtClean="0"/>
              <a:t>multilingual</a:t>
            </a:r>
            <a:r>
              <a:rPr lang="hu-HU" dirty="0" smtClean="0"/>
              <a:t> </a:t>
            </a:r>
            <a:r>
              <a:rPr lang="hu-HU" dirty="0" err="1" smtClean="0"/>
              <a:t>corpora</a:t>
            </a:r>
            <a:r>
              <a:rPr lang="hu-HU" dirty="0" smtClean="0"/>
              <a:t>, </a:t>
            </a:r>
            <a:r>
              <a:rPr lang="hu-HU" dirty="0" err="1" smtClean="0"/>
              <a:t>including</a:t>
            </a:r>
            <a:r>
              <a:rPr lang="hu-HU" dirty="0" smtClean="0"/>
              <a:t> </a:t>
            </a:r>
            <a:r>
              <a:rPr lang="hu-HU" dirty="0" err="1" smtClean="0"/>
              <a:t>specifically</a:t>
            </a:r>
            <a:r>
              <a:rPr lang="hu-HU" dirty="0" smtClean="0"/>
              <a:t> parallel </a:t>
            </a:r>
            <a:r>
              <a:rPr lang="hu-HU" dirty="0" err="1" smtClean="0"/>
              <a:t>corpora</a:t>
            </a:r>
            <a:endParaRPr lang="hu-HU" dirty="0" smtClean="0"/>
          </a:p>
          <a:p>
            <a:pPr lvl="1"/>
            <a:r>
              <a:rPr lang="hu-HU" dirty="0" err="1" smtClean="0"/>
              <a:t>Metadata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specified</a:t>
            </a:r>
            <a:r>
              <a:rPr lang="hu-HU" dirty="0" smtClean="0"/>
              <a:t> and filtered (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language</a:t>
            </a:r>
            <a:r>
              <a:rPr lang="hu-HU" dirty="0" smtClean="0"/>
              <a:t>, </a:t>
            </a:r>
            <a:r>
              <a:rPr lang="hu-HU" dirty="0" err="1" smtClean="0"/>
              <a:t>genre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Subcorpora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created</a:t>
            </a:r>
            <a:r>
              <a:rPr lang="hu-HU" dirty="0" smtClean="0"/>
              <a:t> </a:t>
            </a:r>
            <a:r>
              <a:rPr lang="hu-HU" dirty="0" err="1" smtClean="0"/>
              <a:t>within</a:t>
            </a:r>
            <a:r>
              <a:rPr lang="hu-HU" dirty="0" smtClean="0"/>
              <a:t> a </a:t>
            </a:r>
            <a:r>
              <a:rPr lang="hu-HU" dirty="0" err="1" smtClean="0"/>
              <a:t>larger</a:t>
            </a:r>
            <a:r>
              <a:rPr lang="hu-HU" dirty="0" smtClean="0"/>
              <a:t> corpus</a:t>
            </a:r>
          </a:p>
          <a:p>
            <a:pPr lvl="1"/>
            <a:r>
              <a:rPr lang="hu-HU" dirty="0" err="1" smtClean="0"/>
              <a:t>Keyword</a:t>
            </a:r>
            <a:r>
              <a:rPr lang="hu-HU" dirty="0" smtClean="0"/>
              <a:t> </a:t>
            </a:r>
            <a:r>
              <a:rPr lang="hu-HU" dirty="0" err="1" smtClean="0"/>
              <a:t>identification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current</a:t>
            </a:r>
            <a:r>
              <a:rPr lang="hu-HU" dirty="0" smtClean="0"/>
              <a:t> (</a:t>
            </a:r>
            <a:r>
              <a:rPr lang="hu-HU" dirty="0" err="1" smtClean="0"/>
              <a:t>focus</a:t>
            </a:r>
            <a:r>
              <a:rPr lang="hu-HU" dirty="0" smtClean="0"/>
              <a:t>) (</a:t>
            </a:r>
            <a:r>
              <a:rPr lang="hu-HU" dirty="0" err="1" smtClean="0"/>
              <a:t>sub</a:t>
            </a:r>
            <a:r>
              <a:rPr lang="hu-HU" dirty="0" smtClean="0"/>
              <a:t>)corpus </a:t>
            </a:r>
            <a:r>
              <a:rPr lang="hu-HU" dirty="0" err="1" smtClean="0"/>
              <a:t>relative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a </a:t>
            </a:r>
            <a:r>
              <a:rPr lang="hu-HU" dirty="0" err="1" smtClean="0"/>
              <a:t>reference</a:t>
            </a:r>
            <a:r>
              <a:rPr lang="hu-HU" dirty="0" smtClean="0"/>
              <a:t> (</a:t>
            </a:r>
            <a:r>
              <a:rPr lang="hu-HU" dirty="0" err="1" smtClean="0"/>
              <a:t>sub</a:t>
            </a:r>
            <a:r>
              <a:rPr lang="hu-HU" dirty="0" smtClean="0"/>
              <a:t>)corpus</a:t>
            </a:r>
          </a:p>
          <a:p>
            <a:pPr lvl="1"/>
            <a:r>
              <a:rPr lang="hu-HU" dirty="0" err="1" smtClean="0"/>
              <a:t>Frequency</a:t>
            </a:r>
            <a:r>
              <a:rPr lang="hu-HU" dirty="0" smtClean="0"/>
              <a:t> </a:t>
            </a:r>
            <a:r>
              <a:rPr lang="hu-HU" dirty="0" err="1" smtClean="0"/>
              <a:t>lists</a:t>
            </a:r>
            <a:r>
              <a:rPr lang="hu-HU" dirty="0" smtClean="0"/>
              <a:t> (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r>
              <a:rPr lang="hu-HU" dirty="0" smtClean="0"/>
              <a:t>,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Trends</a:t>
            </a:r>
            <a:r>
              <a:rPr lang="hu-HU" dirty="0" smtClean="0"/>
              <a:t> (</a:t>
            </a:r>
            <a:r>
              <a:rPr lang="hu-HU" dirty="0" err="1" smtClean="0"/>
              <a:t>change</a:t>
            </a:r>
            <a:r>
              <a:rPr lang="hu-HU" dirty="0" smtClean="0"/>
              <a:t> of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frequencies</a:t>
            </a:r>
            <a:r>
              <a:rPr lang="hu-HU" dirty="0" smtClean="0"/>
              <a:t> </a:t>
            </a:r>
            <a:r>
              <a:rPr lang="hu-HU" dirty="0" err="1" smtClean="0"/>
              <a:t>across</a:t>
            </a:r>
            <a:r>
              <a:rPr lang="hu-HU" dirty="0" smtClean="0"/>
              <a:t> </a:t>
            </a:r>
            <a:r>
              <a:rPr lang="hu-HU" dirty="0" err="1" smtClean="0"/>
              <a:t>time</a:t>
            </a:r>
            <a:r>
              <a:rPr lang="hu-HU" dirty="0" smtClean="0"/>
              <a:t>,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use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diachronic</a:t>
            </a:r>
            <a:r>
              <a:rPr lang="hu-HU" dirty="0" smtClean="0"/>
              <a:t> / </a:t>
            </a:r>
            <a:r>
              <a:rPr lang="hu-HU" dirty="0" err="1" smtClean="0"/>
              <a:t>historical</a:t>
            </a:r>
            <a:r>
              <a:rPr lang="hu-HU" dirty="0" smtClean="0"/>
              <a:t> </a:t>
            </a:r>
            <a:r>
              <a:rPr lang="hu-HU" dirty="0" err="1" smtClean="0"/>
              <a:t>corpora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Concordances</a:t>
            </a:r>
            <a:r>
              <a:rPr lang="hu-HU" dirty="0" smtClean="0"/>
              <a:t>: </a:t>
            </a:r>
            <a:r>
              <a:rPr lang="hu-HU" dirty="0" err="1" smtClean="0"/>
              <a:t>created</a:t>
            </a:r>
            <a:r>
              <a:rPr lang="hu-HU" dirty="0" smtClean="0"/>
              <a:t> </a:t>
            </a:r>
            <a:r>
              <a:rPr lang="hu-HU" dirty="0" err="1" smtClean="0"/>
              <a:t>automatically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query</a:t>
            </a:r>
            <a:r>
              <a:rPr lang="hu-HU" dirty="0" smtClean="0"/>
              <a:t> </a:t>
            </a:r>
            <a:r>
              <a:rPr lang="hu-HU" dirty="0" err="1" smtClean="0"/>
              <a:t>results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KWIC</a:t>
            </a:r>
            <a:r>
              <a:rPr lang="hu-HU" dirty="0" smtClean="0"/>
              <a:t> </a:t>
            </a:r>
            <a:r>
              <a:rPr lang="hu-HU" dirty="0" err="1" smtClean="0"/>
              <a:t>format</a:t>
            </a:r>
            <a:endParaRPr lang="hu-HU" dirty="0" smtClean="0"/>
          </a:p>
          <a:p>
            <a:pPr lvl="1"/>
            <a:r>
              <a:rPr lang="hu-HU" dirty="0" err="1" smtClean="0"/>
              <a:t>Queries</a:t>
            </a:r>
            <a:r>
              <a:rPr lang="hu-HU" dirty="0" smtClean="0"/>
              <a:t>: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individual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attributes</a:t>
            </a:r>
            <a:r>
              <a:rPr lang="hu-HU" dirty="0" smtClean="0"/>
              <a:t>, </a:t>
            </a:r>
            <a:r>
              <a:rPr lang="hu-HU" dirty="0" err="1" smtClean="0"/>
              <a:t>including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, lemma </a:t>
            </a:r>
            <a:r>
              <a:rPr lang="hu-HU" dirty="0" err="1" smtClean="0"/>
              <a:t>form</a:t>
            </a:r>
            <a:r>
              <a:rPr lang="hu-HU" dirty="0" smtClean="0"/>
              <a:t>; </a:t>
            </a:r>
            <a:r>
              <a:rPr lang="hu-HU" dirty="0" err="1" smtClean="0"/>
              <a:t>supports</a:t>
            </a:r>
            <a:r>
              <a:rPr lang="hu-HU" dirty="0" smtClean="0"/>
              <a:t> </a:t>
            </a:r>
            <a:r>
              <a:rPr lang="hu-HU" dirty="0" err="1" smtClean="0"/>
              <a:t>queries</a:t>
            </a:r>
            <a:r>
              <a:rPr lang="hu-HU" dirty="0" smtClean="0"/>
              <a:t> </a:t>
            </a:r>
            <a:r>
              <a:rPr lang="hu-HU" dirty="0" err="1" smtClean="0"/>
              <a:t>written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CQL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32472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CQL</a:t>
            </a:r>
            <a:r>
              <a:rPr lang="hu-HU" dirty="0"/>
              <a:t>: </a:t>
            </a:r>
            <a:r>
              <a:rPr lang="hu-HU" dirty="0" smtClean="0"/>
              <a:t>Corpus </a:t>
            </a:r>
            <a:r>
              <a:rPr lang="hu-HU" dirty="0" err="1" smtClean="0"/>
              <a:t>Query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hu-HU" dirty="0" smtClean="0"/>
              <a:t>A </a:t>
            </a:r>
            <a:r>
              <a:rPr lang="hu-HU" dirty="0" err="1" smtClean="0"/>
              <a:t>small</a:t>
            </a:r>
            <a:r>
              <a:rPr lang="hu-HU" dirty="0" smtClean="0"/>
              <a:t>, </a:t>
            </a:r>
            <a:r>
              <a:rPr lang="hu-HU" dirty="0" err="1" smtClean="0"/>
              <a:t>domain-specific</a:t>
            </a:r>
            <a:r>
              <a:rPr lang="hu-HU" dirty="0" smtClean="0"/>
              <a:t> </a:t>
            </a:r>
            <a:r>
              <a:rPr lang="hu-HU" dirty="0" err="1"/>
              <a:t>declarative</a:t>
            </a:r>
            <a:r>
              <a:rPr lang="hu-HU" dirty="0"/>
              <a:t> </a:t>
            </a:r>
            <a:r>
              <a:rPr lang="hu-HU" dirty="0" err="1"/>
              <a:t>language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express</a:t>
            </a:r>
            <a:r>
              <a:rPr lang="hu-HU" dirty="0"/>
              <a:t> corpus </a:t>
            </a:r>
            <a:r>
              <a:rPr lang="hu-HU" dirty="0" err="1" smtClean="0"/>
              <a:t>queries</a:t>
            </a:r>
            <a:endParaRPr lang="hu-HU" dirty="0" smtClean="0"/>
          </a:p>
          <a:p>
            <a:pPr marL="742950" lvl="2" indent="-342900"/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Matcher</a:t>
            </a:r>
            <a:r>
              <a:rPr lang="hu-HU" dirty="0"/>
              <a:t> </a:t>
            </a:r>
            <a:r>
              <a:rPr lang="hu-HU" dirty="0" err="1"/>
              <a:t>in</a:t>
            </a:r>
            <a:r>
              <a:rPr lang="hu-HU" dirty="0"/>
              <a:t> </a:t>
            </a:r>
            <a:r>
              <a:rPr lang="hu-HU" dirty="0" err="1"/>
              <a:t>spaCy</a:t>
            </a:r>
            <a:endParaRPr lang="hu-HU" dirty="0"/>
          </a:p>
          <a:p>
            <a:r>
              <a:rPr lang="hu-HU" sz="2800" dirty="0" err="1" smtClean="0"/>
              <a:t>Allows</a:t>
            </a:r>
            <a:r>
              <a:rPr lang="hu-HU" sz="2800" dirty="0" smtClean="0"/>
              <a:t> </a:t>
            </a:r>
            <a:r>
              <a:rPr lang="en-GB" sz="2800" dirty="0" smtClean="0"/>
              <a:t>criteria </a:t>
            </a:r>
            <a:r>
              <a:rPr lang="hu-HU" sz="2800" dirty="0" err="1" smtClean="0"/>
              <a:t>to</a:t>
            </a:r>
            <a:r>
              <a:rPr lang="hu-HU" sz="2800" dirty="0" smtClean="0"/>
              <a:t> </a:t>
            </a:r>
            <a:r>
              <a:rPr lang="en-GB" sz="2800" dirty="0" smtClean="0"/>
              <a:t>be </a:t>
            </a:r>
            <a:r>
              <a:rPr lang="en-GB" sz="2800" dirty="0"/>
              <a:t>set to find one or </a:t>
            </a:r>
            <a:r>
              <a:rPr lang="hu-HU" sz="2800" dirty="0" err="1" smtClean="0"/>
              <a:t>several</a:t>
            </a:r>
            <a:r>
              <a:rPr lang="hu-HU" sz="2800" dirty="0" smtClean="0"/>
              <a:t> </a:t>
            </a:r>
            <a:r>
              <a:rPr lang="en-GB" sz="2800" dirty="0" smtClean="0"/>
              <a:t>tokens.</a:t>
            </a:r>
            <a:endParaRPr lang="hu-HU" sz="2800" dirty="0" smtClean="0"/>
          </a:p>
          <a:p>
            <a:pPr lvl="1"/>
            <a:r>
              <a:rPr lang="en-GB" sz="2400" dirty="0" smtClean="0"/>
              <a:t>Criteria </a:t>
            </a:r>
            <a:r>
              <a:rPr lang="en-GB" sz="2400" dirty="0"/>
              <a:t>for each token must be between a pair of square </a:t>
            </a:r>
            <a:r>
              <a:rPr lang="en-GB" sz="2400" dirty="0" smtClean="0"/>
              <a:t>brackets</a:t>
            </a:r>
            <a:r>
              <a:rPr lang="hu-HU" sz="2400" dirty="0" smtClean="0"/>
              <a:t> </a:t>
            </a:r>
            <a:r>
              <a:rPr lang="hu-HU" sz="2400" dirty="0" err="1" smtClean="0"/>
              <a:t>in</a:t>
            </a:r>
            <a:r>
              <a:rPr lang="hu-HU" sz="2400" dirty="0" smtClean="0"/>
              <a:t> </a:t>
            </a:r>
            <a:r>
              <a:rPr lang="hu-HU" sz="2400" dirty="0" err="1" smtClean="0"/>
              <a:t>the</a:t>
            </a:r>
            <a:r>
              <a:rPr lang="hu-HU" sz="2400" dirty="0" smtClean="0"/>
              <a:t> </a:t>
            </a:r>
            <a:r>
              <a:rPr lang="hu-HU" sz="2400" dirty="0" err="1" smtClean="0"/>
              <a:t>format</a:t>
            </a:r>
            <a:r>
              <a:rPr lang="hu-HU" sz="2400" dirty="0" smtClean="0"/>
              <a:t>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[attribute="value"]</a:t>
            </a:r>
            <a:endParaRPr lang="en-GB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hu-HU" sz="2400" dirty="0" smtClean="0"/>
              <a:t>an </a:t>
            </a:r>
            <a:r>
              <a:rPr lang="hu-HU" sz="2400" dirty="0" err="1" smtClean="0"/>
              <a:t>attribute</a:t>
            </a:r>
            <a:r>
              <a:rPr lang="hu-HU" sz="2400" dirty="0" smtClean="0"/>
              <a:t> is </a:t>
            </a:r>
            <a:r>
              <a:rPr lang="hu-HU" sz="2400" dirty="0" err="1" smtClean="0"/>
              <a:t>simply</a:t>
            </a:r>
            <a:r>
              <a:rPr lang="hu-HU" sz="2400" dirty="0" smtClean="0"/>
              <a:t> a </a:t>
            </a:r>
            <a:r>
              <a:rPr lang="hu-HU" sz="2400" dirty="0" err="1" smtClean="0"/>
              <a:t>column</a:t>
            </a:r>
            <a:r>
              <a:rPr lang="hu-HU" sz="2400" dirty="0" smtClean="0"/>
              <a:t> </a:t>
            </a:r>
            <a:r>
              <a:rPr lang="hu-HU" sz="2400" dirty="0" err="1" smtClean="0"/>
              <a:t>in</a:t>
            </a:r>
            <a:r>
              <a:rPr lang="hu-HU" sz="2400" dirty="0" smtClean="0"/>
              <a:t> </a:t>
            </a:r>
            <a:r>
              <a:rPr lang="hu-HU" sz="2400" dirty="0" err="1" smtClean="0"/>
              <a:t>the</a:t>
            </a:r>
            <a:r>
              <a:rPr lang="hu-HU" sz="2400" dirty="0" smtClean="0"/>
              <a:t> </a:t>
            </a:r>
            <a:r>
              <a:rPr lang="hu-HU" sz="2400" dirty="0" err="1" smtClean="0"/>
              <a:t>vertical</a:t>
            </a:r>
            <a:r>
              <a:rPr lang="hu-HU" sz="2400" dirty="0" smtClean="0"/>
              <a:t> file, and </a:t>
            </a:r>
            <a:r>
              <a:rPr lang="hu-HU" sz="2400" dirty="0" err="1" smtClean="0"/>
              <a:t>the</a:t>
            </a:r>
            <a:r>
              <a:rPr lang="hu-HU" sz="2400" dirty="0" smtClean="0"/>
              <a:t> </a:t>
            </a:r>
            <a:r>
              <a:rPr lang="hu-HU" sz="2400" dirty="0" err="1" smtClean="0"/>
              <a:t>value</a:t>
            </a:r>
            <a:r>
              <a:rPr lang="hu-HU" sz="2400" dirty="0" smtClean="0"/>
              <a:t> is </a:t>
            </a:r>
            <a:r>
              <a:rPr lang="hu-HU" sz="2400" dirty="0" err="1" smtClean="0"/>
              <a:t>the</a:t>
            </a:r>
            <a:r>
              <a:rPr lang="hu-HU" sz="2400" dirty="0" smtClean="0"/>
              <a:t> </a:t>
            </a:r>
            <a:r>
              <a:rPr lang="hu-HU" sz="2400" dirty="0" err="1" smtClean="0"/>
              <a:t>actual</a:t>
            </a:r>
            <a:r>
              <a:rPr lang="hu-HU" sz="2400" dirty="0" smtClean="0"/>
              <a:t> </a:t>
            </a:r>
            <a:r>
              <a:rPr lang="hu-HU" sz="2400" dirty="0" err="1" smtClean="0"/>
              <a:t>value</a:t>
            </a:r>
            <a:r>
              <a:rPr lang="hu-HU" sz="2400" dirty="0" smtClean="0"/>
              <a:t> </a:t>
            </a:r>
            <a:r>
              <a:rPr lang="hu-HU" sz="2400" dirty="0" err="1" smtClean="0"/>
              <a:t>in</a:t>
            </a:r>
            <a:r>
              <a:rPr lang="hu-HU" sz="2400" dirty="0" smtClean="0"/>
              <a:t> </a:t>
            </a:r>
            <a:r>
              <a:rPr lang="hu-HU" sz="2400" dirty="0" err="1" smtClean="0"/>
              <a:t>the</a:t>
            </a:r>
            <a:r>
              <a:rPr lang="hu-HU" sz="2400" dirty="0" smtClean="0"/>
              <a:t> </a:t>
            </a:r>
            <a:r>
              <a:rPr lang="hu-HU" sz="2400" dirty="0" err="1" smtClean="0"/>
              <a:t>token</a:t>
            </a:r>
            <a:r>
              <a:rPr lang="hu-HU" sz="2400" dirty="0" smtClean="0"/>
              <a:t>’s </a:t>
            </a:r>
            <a:r>
              <a:rPr lang="hu-HU" sz="2400" dirty="0" err="1" smtClean="0"/>
              <a:t>row</a:t>
            </a:r>
            <a:r>
              <a:rPr lang="hu-HU" sz="2400" dirty="0" smtClean="0"/>
              <a:t> </a:t>
            </a:r>
            <a:r>
              <a:rPr lang="hu-HU" sz="2400" dirty="0" err="1" smtClean="0"/>
              <a:t>in</a:t>
            </a:r>
            <a:r>
              <a:rPr lang="hu-HU" sz="2400" dirty="0" smtClean="0"/>
              <a:t> </a:t>
            </a:r>
            <a:r>
              <a:rPr lang="hu-HU" sz="2400" dirty="0" err="1" smtClean="0"/>
              <a:t>that</a:t>
            </a:r>
            <a:r>
              <a:rPr lang="hu-HU" sz="2400" dirty="0" smtClean="0"/>
              <a:t> </a:t>
            </a:r>
            <a:r>
              <a:rPr lang="hu-HU" sz="2400" dirty="0" err="1" smtClean="0"/>
              <a:t>column</a:t>
            </a:r>
            <a:endParaRPr lang="hu-HU" sz="2400" dirty="0" smtClean="0"/>
          </a:p>
          <a:p>
            <a:pPr lvl="1"/>
            <a:r>
              <a:rPr lang="hu-HU" sz="2400" dirty="0" err="1" smtClean="0"/>
              <a:t>the</a:t>
            </a:r>
            <a:r>
              <a:rPr lang="hu-HU" sz="2400" dirty="0" smtClean="0"/>
              <a:t> </a:t>
            </a:r>
            <a:r>
              <a:rPr lang="hu-HU" sz="2400" dirty="0" err="1" smtClean="0"/>
              <a:t>name</a:t>
            </a:r>
            <a:r>
              <a:rPr lang="hu-HU" sz="2400" dirty="0" smtClean="0"/>
              <a:t> of </a:t>
            </a:r>
            <a:r>
              <a:rPr lang="hu-HU" sz="2400" dirty="0" err="1" smtClean="0"/>
              <a:t>the</a:t>
            </a:r>
            <a:r>
              <a:rPr lang="hu-HU" sz="2400" dirty="0" smtClean="0"/>
              <a:t> </a:t>
            </a:r>
            <a:r>
              <a:rPr lang="hu-HU" sz="2400" dirty="0" err="1" smtClean="0"/>
              <a:t>attribute</a:t>
            </a:r>
            <a:r>
              <a:rPr lang="hu-HU" sz="2400" dirty="0" smtClean="0"/>
              <a:t> is </a:t>
            </a:r>
            <a:r>
              <a:rPr lang="hu-HU" sz="2400" dirty="0" err="1" smtClean="0"/>
              <a:t>specified</a:t>
            </a:r>
            <a:r>
              <a:rPr lang="hu-HU" sz="2400" dirty="0" smtClean="0"/>
              <a:t> </a:t>
            </a:r>
            <a:r>
              <a:rPr lang="hu-HU" sz="2400" dirty="0" err="1" smtClean="0"/>
              <a:t>in</a:t>
            </a:r>
            <a:r>
              <a:rPr lang="hu-HU" sz="2400" dirty="0" smtClean="0"/>
              <a:t> </a:t>
            </a:r>
            <a:r>
              <a:rPr lang="hu-HU" sz="2400" dirty="0" err="1" smtClean="0"/>
              <a:t>the</a:t>
            </a:r>
            <a:r>
              <a:rPr lang="hu-HU" sz="2400" dirty="0" smtClean="0"/>
              <a:t> corpus </a:t>
            </a:r>
            <a:r>
              <a:rPr lang="hu-HU" sz="2400" dirty="0" err="1" smtClean="0"/>
              <a:t>configuration</a:t>
            </a:r>
            <a:r>
              <a:rPr lang="hu-HU" sz="2400" dirty="0" smtClean="0"/>
              <a:t> file</a:t>
            </a:r>
          </a:p>
          <a:p>
            <a:r>
              <a:rPr lang="hu-HU" sz="2900" dirty="0" err="1" smtClean="0"/>
              <a:t>Regular</a:t>
            </a:r>
            <a:r>
              <a:rPr lang="hu-HU" sz="2900" dirty="0" smtClean="0"/>
              <a:t> </a:t>
            </a:r>
            <a:r>
              <a:rPr lang="hu-HU" sz="2900" dirty="0" err="1" smtClean="0"/>
              <a:t>expressions</a:t>
            </a:r>
            <a:r>
              <a:rPr lang="hu-HU" sz="2900" dirty="0" smtClean="0"/>
              <a:t> </a:t>
            </a:r>
            <a:r>
              <a:rPr lang="hu-HU" sz="2900" dirty="0" err="1" smtClean="0"/>
              <a:t>can</a:t>
            </a:r>
            <a:r>
              <a:rPr lang="hu-HU" sz="2900" dirty="0" smtClean="0"/>
              <a:t> be </a:t>
            </a:r>
            <a:r>
              <a:rPr lang="hu-HU" sz="2900" dirty="0" err="1" smtClean="0"/>
              <a:t>used</a:t>
            </a:r>
            <a:r>
              <a:rPr lang="hu-HU" sz="2900" dirty="0" smtClean="0"/>
              <a:t> </a:t>
            </a:r>
            <a:r>
              <a:rPr lang="hu-HU" sz="2900" dirty="0" err="1" smtClean="0"/>
              <a:t>to</a:t>
            </a:r>
            <a:r>
              <a:rPr lang="hu-HU" sz="2900" dirty="0" smtClean="0"/>
              <a:t> </a:t>
            </a:r>
            <a:r>
              <a:rPr lang="hu-HU" sz="2900" dirty="0" err="1" smtClean="0"/>
              <a:t>specify</a:t>
            </a:r>
            <a:r>
              <a:rPr lang="hu-HU" sz="2900" dirty="0" smtClean="0"/>
              <a:t> </a:t>
            </a:r>
            <a:r>
              <a:rPr lang="hu-HU" sz="2900" dirty="0" err="1" smtClean="0"/>
              <a:t>values</a:t>
            </a:r>
            <a:endParaRPr lang="hu-HU" sz="2900" dirty="0" smtClean="0"/>
          </a:p>
          <a:p>
            <a:pPr lvl="1"/>
            <a:r>
              <a:rPr lang="en-GB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[lemma</a:t>
            </a:r>
            <a:r>
              <a:rPr lang="en-GB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=".*</a:t>
            </a:r>
            <a:r>
              <a:rPr lang="en-GB" sz="23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ous</a:t>
            </a:r>
            <a:r>
              <a:rPr lang="en-GB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  <a:r>
              <a:rPr lang="hu-HU" sz="2300" dirty="0" smtClean="0"/>
              <a:t>, </a:t>
            </a:r>
            <a:r>
              <a:rPr lang="hu-H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hu-HU" sz="23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word</a:t>
            </a:r>
            <a:r>
              <a:rPr lang="hu-H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hu-HU" sz="23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b.g</a:t>
            </a:r>
            <a:r>
              <a:rPr lang="en-GB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hu-H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hu-HU" sz="2900" dirty="0" smtClean="0"/>
              <a:t>An </a:t>
            </a:r>
            <a:r>
              <a:rPr lang="hu-HU" sz="2900" dirty="0" err="1" smtClean="0"/>
              <a:t>empty</a:t>
            </a:r>
            <a:r>
              <a:rPr lang="hu-HU" sz="2900" dirty="0" smtClean="0"/>
              <a:t> </a:t>
            </a:r>
            <a:r>
              <a:rPr lang="hu-HU" sz="2900" dirty="0" err="1" smtClean="0"/>
              <a:t>pair</a:t>
            </a:r>
            <a:r>
              <a:rPr lang="hu-HU" sz="2900" dirty="0" smtClean="0"/>
              <a:t> of </a:t>
            </a:r>
            <a:r>
              <a:rPr lang="hu-HU" sz="2900" dirty="0" err="1" smtClean="0"/>
              <a:t>brackets</a:t>
            </a:r>
            <a:r>
              <a:rPr lang="hu-HU" sz="2900" dirty="0" smtClean="0"/>
              <a:t> </a:t>
            </a:r>
            <a:r>
              <a:rPr lang="hu-HU" sz="2900" dirty="0" err="1" smtClean="0"/>
              <a:t>matches</a:t>
            </a:r>
            <a:r>
              <a:rPr lang="hu-HU" sz="2900" dirty="0" smtClean="0"/>
              <a:t> </a:t>
            </a:r>
            <a:r>
              <a:rPr lang="hu-HU" sz="2900" dirty="0" err="1" smtClean="0"/>
              <a:t>any</a:t>
            </a:r>
            <a:r>
              <a:rPr lang="hu-HU" sz="2900" dirty="0" smtClean="0"/>
              <a:t> </a:t>
            </a:r>
            <a:r>
              <a:rPr lang="hu-HU" sz="2900" dirty="0" err="1" smtClean="0"/>
              <a:t>token</a:t>
            </a:r>
            <a:endParaRPr lang="hu-HU" sz="2900" dirty="0" smtClean="0"/>
          </a:p>
          <a:p>
            <a:r>
              <a:rPr lang="hu-HU" sz="2900" dirty="0" err="1" smtClean="0"/>
              <a:t>Comparison</a:t>
            </a:r>
            <a:r>
              <a:rPr lang="hu-HU" sz="2900" dirty="0" smtClean="0"/>
              <a:t> operators </a:t>
            </a:r>
            <a:r>
              <a:rPr lang="hu-HU" sz="2900" dirty="0" err="1" smtClean="0"/>
              <a:t>between</a:t>
            </a:r>
            <a:r>
              <a:rPr lang="hu-HU" sz="2900" dirty="0" smtClean="0"/>
              <a:t> </a:t>
            </a:r>
            <a:r>
              <a:rPr lang="hu-HU" sz="2900" dirty="0" err="1" smtClean="0"/>
              <a:t>attribute</a:t>
            </a:r>
            <a:r>
              <a:rPr lang="hu-HU" sz="2900" dirty="0" smtClean="0"/>
              <a:t> and </a:t>
            </a:r>
            <a:r>
              <a:rPr lang="hu-HU" sz="2900" dirty="0" err="1" smtClean="0"/>
              <a:t>value</a:t>
            </a:r>
            <a:r>
              <a:rPr lang="hu-HU" sz="2900" dirty="0" smtClean="0"/>
              <a:t> </a:t>
            </a:r>
            <a:r>
              <a:rPr lang="hu-HU" sz="2900" dirty="0" err="1" smtClean="0"/>
              <a:t>can</a:t>
            </a:r>
            <a:r>
              <a:rPr lang="hu-HU" sz="2900" dirty="0" smtClean="0"/>
              <a:t> be =, == (</a:t>
            </a:r>
            <a:r>
              <a:rPr lang="hu-HU" sz="2900" dirty="0" err="1" smtClean="0"/>
              <a:t>exact</a:t>
            </a:r>
            <a:r>
              <a:rPr lang="hu-HU" sz="2900" dirty="0" smtClean="0"/>
              <a:t> text </a:t>
            </a:r>
            <a:r>
              <a:rPr lang="hu-HU" sz="2900" dirty="0" err="1" smtClean="0"/>
              <a:t>match</a:t>
            </a:r>
            <a:r>
              <a:rPr lang="hu-HU" sz="2900" dirty="0" smtClean="0"/>
              <a:t>, no </a:t>
            </a:r>
            <a:r>
              <a:rPr lang="hu-HU" sz="2900" dirty="0" err="1" smtClean="0"/>
              <a:t>regex</a:t>
            </a:r>
            <a:r>
              <a:rPr lang="hu-HU" sz="2900" dirty="0" smtClean="0"/>
              <a:t>), != (</a:t>
            </a:r>
            <a:r>
              <a:rPr lang="hu-HU" sz="2900" dirty="0" err="1" smtClean="0"/>
              <a:t>not</a:t>
            </a:r>
            <a:r>
              <a:rPr lang="hu-HU" sz="2900" dirty="0" smtClean="0"/>
              <a:t> </a:t>
            </a:r>
            <a:r>
              <a:rPr lang="hu-HU" sz="2900" dirty="0" err="1" smtClean="0"/>
              <a:t>equal</a:t>
            </a:r>
            <a:r>
              <a:rPr lang="hu-HU" sz="2900" dirty="0" smtClean="0"/>
              <a:t>)</a:t>
            </a:r>
          </a:p>
          <a:p>
            <a:r>
              <a:rPr lang="hu-HU" sz="2900" dirty="0" err="1" smtClean="0"/>
              <a:t>Multiple</a:t>
            </a:r>
            <a:r>
              <a:rPr lang="hu-HU" sz="2900" dirty="0" smtClean="0"/>
              <a:t> </a:t>
            </a:r>
            <a:r>
              <a:rPr lang="hu-HU" sz="2900" dirty="0" err="1" smtClean="0"/>
              <a:t>conditions</a:t>
            </a:r>
            <a:r>
              <a:rPr lang="hu-HU" sz="2900" dirty="0" smtClean="0"/>
              <a:t> </a:t>
            </a:r>
            <a:r>
              <a:rPr lang="hu-HU" sz="2900" dirty="0" err="1" smtClean="0"/>
              <a:t>can</a:t>
            </a:r>
            <a:r>
              <a:rPr lang="hu-HU" sz="2900" dirty="0" smtClean="0"/>
              <a:t> be </a:t>
            </a:r>
            <a:r>
              <a:rPr lang="hu-HU" sz="2900" dirty="0" err="1" smtClean="0"/>
              <a:t>specified</a:t>
            </a:r>
            <a:r>
              <a:rPr lang="hu-HU" sz="2900" dirty="0" smtClean="0"/>
              <a:t> </a:t>
            </a:r>
            <a:r>
              <a:rPr lang="hu-HU" sz="2900" dirty="0" err="1" smtClean="0"/>
              <a:t>for</a:t>
            </a:r>
            <a:r>
              <a:rPr lang="hu-HU" sz="2900" dirty="0" smtClean="0"/>
              <a:t> a </a:t>
            </a:r>
            <a:r>
              <a:rPr lang="hu-HU" sz="2900" dirty="0" err="1" smtClean="0"/>
              <a:t>token</a:t>
            </a:r>
            <a:r>
              <a:rPr lang="hu-HU" sz="2900" dirty="0" smtClean="0"/>
              <a:t> </a:t>
            </a:r>
            <a:r>
              <a:rPr lang="hu-HU" sz="2900" dirty="0" err="1" smtClean="0"/>
              <a:t>using</a:t>
            </a:r>
            <a:r>
              <a:rPr lang="hu-HU" sz="2900" dirty="0" smtClean="0"/>
              <a:t> </a:t>
            </a:r>
            <a:r>
              <a:rPr lang="hu-HU" sz="2900" dirty="0" err="1" smtClean="0"/>
              <a:t>logical</a:t>
            </a:r>
            <a:r>
              <a:rPr lang="hu-HU" sz="2900" dirty="0" smtClean="0"/>
              <a:t> operators &amp; and |, </a:t>
            </a:r>
            <a:r>
              <a:rPr lang="hu-HU" sz="2900" dirty="0" err="1" smtClean="0"/>
              <a:t>grouped</a:t>
            </a:r>
            <a:r>
              <a:rPr lang="hu-HU" sz="2900" dirty="0" smtClean="0"/>
              <a:t> </a:t>
            </a:r>
            <a:r>
              <a:rPr lang="hu-HU" sz="2900" dirty="0" err="1" smtClean="0"/>
              <a:t>using</a:t>
            </a:r>
            <a:r>
              <a:rPr lang="hu-HU" sz="2900" dirty="0" smtClean="0"/>
              <a:t> </a:t>
            </a:r>
            <a:r>
              <a:rPr lang="hu-HU" sz="2900" dirty="0" err="1" smtClean="0"/>
              <a:t>parentheses</a:t>
            </a:r>
            <a:endParaRPr lang="hu-HU" sz="2900" dirty="0" smtClean="0"/>
          </a:p>
          <a:p>
            <a:r>
              <a:rPr lang="hu-HU" sz="2900" dirty="0" err="1" smtClean="0"/>
              <a:t>Tokens</a:t>
            </a:r>
            <a:r>
              <a:rPr lang="hu-HU" sz="2900" dirty="0" smtClean="0"/>
              <a:t> </a:t>
            </a:r>
            <a:r>
              <a:rPr lang="hu-HU" sz="2900" dirty="0" err="1" smtClean="0"/>
              <a:t>can</a:t>
            </a:r>
            <a:r>
              <a:rPr lang="hu-HU" sz="2900" dirty="0" smtClean="0"/>
              <a:t> be </a:t>
            </a:r>
            <a:r>
              <a:rPr lang="hu-HU" sz="2900" dirty="0" err="1" smtClean="0"/>
              <a:t>quantified</a:t>
            </a:r>
            <a:r>
              <a:rPr lang="hu-HU" sz="2900" dirty="0" smtClean="0"/>
              <a:t>, </a:t>
            </a:r>
            <a:r>
              <a:rPr lang="hu-HU" sz="2900" dirty="0" err="1" smtClean="0"/>
              <a:t>like</a:t>
            </a:r>
            <a:r>
              <a:rPr lang="hu-HU" sz="2900" dirty="0" smtClean="0"/>
              <a:t> </a:t>
            </a:r>
            <a:r>
              <a:rPr lang="hu-HU" sz="2900" dirty="0" err="1" smtClean="0"/>
              <a:t>in</a:t>
            </a:r>
            <a:r>
              <a:rPr lang="hu-HU" sz="2900" dirty="0" smtClean="0"/>
              <a:t> </a:t>
            </a:r>
            <a:r>
              <a:rPr lang="hu-HU" sz="2900" dirty="0" err="1" smtClean="0"/>
              <a:t>regexes</a:t>
            </a:r>
            <a:r>
              <a:rPr lang="hu-HU" sz="2900" dirty="0" smtClean="0"/>
              <a:t>, </a:t>
            </a:r>
            <a:r>
              <a:rPr lang="hu-HU" sz="2900" dirty="0" err="1" smtClean="0"/>
              <a:t>by</a:t>
            </a:r>
            <a:r>
              <a:rPr lang="hu-HU" sz="2900" dirty="0" smtClean="0"/>
              <a:t> </a:t>
            </a:r>
            <a:r>
              <a:rPr lang="hu-HU" sz="2900" dirty="0" err="1" smtClean="0"/>
              <a:t>putting</a:t>
            </a:r>
            <a:r>
              <a:rPr lang="hu-HU" sz="2900" dirty="0" smtClean="0"/>
              <a:t> a </a:t>
            </a:r>
            <a:r>
              <a:rPr lang="hu-HU" sz="2900" dirty="0" err="1" smtClean="0"/>
              <a:t>range</a:t>
            </a:r>
            <a:r>
              <a:rPr lang="hu-HU" sz="2900" dirty="0" smtClean="0"/>
              <a:t> of </a:t>
            </a:r>
            <a:r>
              <a:rPr lang="hu-HU" sz="2900" dirty="0" err="1" smtClean="0"/>
              <a:t>values</a:t>
            </a:r>
            <a:r>
              <a:rPr lang="hu-HU" sz="2900" dirty="0" smtClean="0"/>
              <a:t> </a:t>
            </a:r>
            <a:r>
              <a:rPr lang="hu-HU" sz="2900" dirty="0" err="1" smtClean="0"/>
              <a:t>in</a:t>
            </a:r>
            <a:r>
              <a:rPr lang="hu-HU" sz="2900" dirty="0" smtClean="0"/>
              <a:t> a </a:t>
            </a:r>
            <a:r>
              <a:rPr lang="hu-HU" sz="2900" dirty="0" err="1" smtClean="0"/>
              <a:t>pair</a:t>
            </a:r>
            <a:r>
              <a:rPr lang="hu-HU" sz="2900" dirty="0" smtClean="0"/>
              <a:t> of </a:t>
            </a:r>
            <a:r>
              <a:rPr lang="hu-HU" sz="2900" dirty="0" err="1" smtClean="0"/>
              <a:t>braces</a:t>
            </a:r>
            <a:r>
              <a:rPr lang="hu-HU" sz="2900" dirty="0" smtClean="0"/>
              <a:t> </a:t>
            </a:r>
            <a:r>
              <a:rPr lang="hu-HU" sz="2900" dirty="0" err="1" smtClean="0"/>
              <a:t>after</a:t>
            </a:r>
            <a:r>
              <a:rPr lang="hu-HU" sz="2900" dirty="0" smtClean="0"/>
              <a:t> </a:t>
            </a:r>
            <a:r>
              <a:rPr lang="hu-HU" sz="2900" dirty="0" err="1" smtClean="0"/>
              <a:t>the</a:t>
            </a:r>
            <a:r>
              <a:rPr lang="hu-HU" sz="2900" dirty="0" smtClean="0"/>
              <a:t> </a:t>
            </a:r>
            <a:r>
              <a:rPr lang="hu-HU" sz="2900" dirty="0" err="1" smtClean="0"/>
              <a:t>closing</a:t>
            </a:r>
            <a:r>
              <a:rPr lang="hu-HU" sz="2900" dirty="0" smtClean="0"/>
              <a:t> </a:t>
            </a:r>
            <a:r>
              <a:rPr lang="hu-HU" sz="2900" dirty="0" err="1" smtClean="0"/>
              <a:t>bracket</a:t>
            </a:r>
            <a:r>
              <a:rPr lang="hu-HU" sz="2900" dirty="0" smtClean="0"/>
              <a:t>, </a:t>
            </a:r>
            <a:r>
              <a:rPr lang="hu-HU" sz="2900" dirty="0" err="1" smtClean="0"/>
              <a:t>e.g</a:t>
            </a:r>
            <a:r>
              <a:rPr lang="hu-HU" sz="2900" dirty="0" smtClean="0"/>
              <a:t>. </a:t>
            </a:r>
            <a:r>
              <a:rPr lang="hu-H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[tag=</a:t>
            </a:r>
            <a:r>
              <a:rPr lang="en-GB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hu-HU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JJ</a:t>
            </a:r>
            <a:r>
              <a:rPr lang="en-GB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hu-H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]{2,3}</a:t>
            </a:r>
          </a:p>
        </p:txBody>
      </p:sp>
    </p:spTree>
    <p:extLst>
      <p:ext uri="{BB962C8B-B14F-4D97-AF65-F5344CB8AC3E}">
        <p14:creationId xmlns:p14="http://schemas.microsoft.com/office/powerpoint/2010/main" val="307083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CQL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 </a:t>
            </a:r>
            <a:r>
              <a:rPr lang="hu-HU" dirty="0" err="1" smtClean="0"/>
              <a:t>searches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noun-noun</a:t>
            </a:r>
            <a:r>
              <a:rPr lang="hu-HU" dirty="0" smtClean="0"/>
              <a:t> </a:t>
            </a:r>
            <a:r>
              <a:rPr lang="hu-HU" dirty="0" err="1" smtClean="0"/>
              <a:t>compounds</a:t>
            </a:r>
            <a:r>
              <a:rPr lang="hu-HU" dirty="0" smtClean="0"/>
              <a:t>, </a:t>
            </a:r>
            <a:r>
              <a:rPr lang="hu-HU" dirty="0" err="1" smtClean="0"/>
              <a:t>whether</a:t>
            </a:r>
            <a:r>
              <a:rPr lang="hu-HU" dirty="0" smtClean="0"/>
              <a:t> </a:t>
            </a:r>
            <a:r>
              <a:rPr lang="hu-HU" dirty="0" err="1" smtClean="0"/>
              <a:t>hyphenated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endParaRPr lang="hu-HU" dirty="0" smtClean="0"/>
          </a:p>
          <a:p>
            <a:pPr lvl="1"/>
            <a:r>
              <a:rPr lang="hu-HU" dirty="0" err="1" smtClean="0"/>
              <a:t>sequences</a:t>
            </a:r>
            <a:r>
              <a:rPr lang="hu-HU" dirty="0" smtClean="0"/>
              <a:t> </a:t>
            </a:r>
            <a:r>
              <a:rPr lang="hu-HU" dirty="0"/>
              <a:t>of </a:t>
            </a:r>
            <a:r>
              <a:rPr lang="hu-HU" dirty="0" err="1"/>
              <a:t>two</a:t>
            </a:r>
            <a:r>
              <a:rPr lang="hu-HU" dirty="0"/>
              <a:t> </a:t>
            </a:r>
            <a:r>
              <a:rPr lang="hu-HU" dirty="0" err="1"/>
              <a:t>or</a:t>
            </a:r>
            <a:r>
              <a:rPr lang="hu-HU" dirty="0"/>
              <a:t> more </a:t>
            </a:r>
            <a:r>
              <a:rPr lang="hu-HU" dirty="0" err="1"/>
              <a:t>adjectives</a:t>
            </a:r>
            <a:endParaRPr lang="en-GB" dirty="0"/>
          </a:p>
          <a:p>
            <a:pPr lvl="1"/>
            <a:r>
              <a:rPr lang="hu-HU" dirty="0" err="1" smtClean="0"/>
              <a:t>phrasal</a:t>
            </a:r>
            <a:r>
              <a:rPr lang="hu-HU" dirty="0" smtClean="0"/>
              <a:t> </a:t>
            </a:r>
            <a:r>
              <a:rPr lang="hu-HU" dirty="0" err="1" smtClean="0"/>
              <a:t>verbs</a:t>
            </a:r>
            <a:r>
              <a:rPr lang="hu-HU" dirty="0" smtClean="0"/>
              <a:t>,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i="1" dirty="0" err="1" smtClean="0"/>
              <a:t>carry</a:t>
            </a:r>
            <a:r>
              <a:rPr lang="hu-HU" i="1" dirty="0" smtClean="0"/>
              <a:t> out, </a:t>
            </a:r>
            <a:r>
              <a:rPr lang="hu-HU" i="1" dirty="0" err="1" smtClean="0"/>
              <a:t>wake</a:t>
            </a:r>
            <a:r>
              <a:rPr lang="hu-HU" i="1" dirty="0" smtClean="0"/>
              <a:t> </a:t>
            </a:r>
            <a:r>
              <a:rPr lang="hu-HU" i="1" dirty="0" err="1" smtClean="0"/>
              <a:t>up</a:t>
            </a:r>
            <a:r>
              <a:rPr lang="hu-HU" i="1" dirty="0" smtClean="0"/>
              <a:t>,</a:t>
            </a:r>
            <a:r>
              <a:rPr lang="hu-HU" dirty="0" smtClean="0"/>
              <a:t> etc.</a:t>
            </a:r>
          </a:p>
          <a:p>
            <a:pPr lvl="1"/>
            <a:r>
              <a:rPr lang="hu-HU" dirty="0" err="1" smtClean="0"/>
              <a:t>occurrences</a:t>
            </a:r>
            <a:r>
              <a:rPr lang="hu-HU" dirty="0" smtClean="0"/>
              <a:t> of </a:t>
            </a:r>
            <a:r>
              <a:rPr lang="hu-HU" i="1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(</a:t>
            </a:r>
            <a:r>
              <a:rPr lang="hu-HU" dirty="0" err="1" smtClean="0"/>
              <a:t>demonstrative</a:t>
            </a:r>
            <a:r>
              <a:rPr lang="hu-HU" dirty="0" smtClean="0"/>
              <a:t>) </a:t>
            </a:r>
            <a:r>
              <a:rPr lang="hu-HU" dirty="0" err="1" smtClean="0"/>
              <a:t>pronouns</a:t>
            </a:r>
            <a:endParaRPr lang="hu-HU" dirty="0" smtClean="0"/>
          </a:p>
          <a:p>
            <a:pPr lvl="1"/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nouns</a:t>
            </a:r>
            <a:r>
              <a:rPr lang="hu-HU" dirty="0" smtClean="0"/>
              <a:t> most </a:t>
            </a:r>
            <a:r>
              <a:rPr lang="hu-HU" dirty="0" err="1" smtClean="0"/>
              <a:t>frequently</a:t>
            </a:r>
            <a:r>
              <a:rPr lang="hu-HU" dirty="0" smtClean="0"/>
              <a:t> </a:t>
            </a:r>
            <a:r>
              <a:rPr lang="hu-HU" dirty="0" err="1" smtClean="0"/>
              <a:t>come</a:t>
            </a:r>
            <a:r>
              <a:rPr lang="hu-HU" dirty="0" smtClean="0"/>
              <a:t> </a:t>
            </a:r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adjective</a:t>
            </a:r>
            <a:r>
              <a:rPr lang="hu-HU" dirty="0" smtClean="0"/>
              <a:t> </a:t>
            </a:r>
            <a:r>
              <a:rPr lang="hu-HU" i="1" dirty="0" err="1" smtClean="0"/>
              <a:t>great</a:t>
            </a:r>
            <a:r>
              <a:rPr lang="hu-HU" dirty="0" smtClean="0"/>
              <a:t>?</a:t>
            </a:r>
          </a:p>
          <a:p>
            <a:r>
              <a:rPr lang="hu-HU" dirty="0" err="1" smtClean="0"/>
              <a:t>Get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r>
              <a:rPr lang="hu-HU" dirty="0" smtClean="0"/>
              <a:t> </a:t>
            </a:r>
            <a:r>
              <a:rPr lang="hu-HU" dirty="0" err="1" smtClean="0"/>
              <a:t>list</a:t>
            </a:r>
            <a:r>
              <a:rPr lang="hu-HU" dirty="0" smtClean="0"/>
              <a:t> of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noun</a:t>
            </a:r>
            <a:r>
              <a:rPr lang="hu-HU" dirty="0" smtClean="0"/>
              <a:t> </a:t>
            </a:r>
            <a:r>
              <a:rPr lang="hu-HU" dirty="0" err="1" smtClean="0"/>
              <a:t>lemmata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corpus</a:t>
            </a:r>
          </a:p>
          <a:p>
            <a:r>
              <a:rPr lang="hu-HU" dirty="0" err="1" smtClean="0"/>
              <a:t>Find</a:t>
            </a:r>
            <a:r>
              <a:rPr lang="hu-HU" dirty="0" smtClean="0"/>
              <a:t> </a:t>
            </a:r>
            <a:r>
              <a:rPr lang="hu-HU" dirty="0" err="1" smtClean="0"/>
              <a:t>lemmata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collocates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noun</a:t>
            </a:r>
            <a:r>
              <a:rPr lang="hu-HU" dirty="0" smtClean="0"/>
              <a:t> </a:t>
            </a:r>
            <a:r>
              <a:rPr lang="hu-HU" i="1" dirty="0" err="1" smtClean="0"/>
              <a:t>hand</a:t>
            </a:r>
            <a:endParaRPr lang="hu-HU" i="1" dirty="0" smtClean="0"/>
          </a:p>
        </p:txBody>
      </p:sp>
    </p:spTree>
    <p:extLst>
      <p:ext uri="{BB962C8B-B14F-4D97-AF65-F5344CB8AC3E}">
        <p14:creationId xmlns:p14="http://schemas.microsoft.com/office/powerpoint/2010/main" val="3438505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9554</TotalTime>
  <Words>2089</Words>
  <Application>Microsoft Office PowerPoint</Application>
  <PresentationFormat>Diavetítés a képernyőre (4:3 oldalarány)</PresentationFormat>
  <Paragraphs>175</Paragraphs>
  <Slides>15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6" baseType="lpstr">
      <vt:lpstr>Office-téma</vt:lpstr>
      <vt:lpstr>Natural Language Processing Corpora and NoSketchEngine</vt:lpstr>
      <vt:lpstr>Corpora</vt:lpstr>
      <vt:lpstr>Main Types of Corpora</vt:lpstr>
      <vt:lpstr>Main Types of Corpora</vt:lpstr>
      <vt:lpstr>Uses of Corpora</vt:lpstr>
      <vt:lpstr>Corpora in NLP</vt:lpstr>
      <vt:lpstr>Corpus Formats</vt:lpstr>
      <vt:lpstr>Corpus Engines</vt:lpstr>
      <vt:lpstr>Sketch Engine</vt:lpstr>
      <vt:lpstr>Sketch Engine</vt:lpstr>
      <vt:lpstr>Collocations</vt:lpstr>
      <vt:lpstr>NoSketchEngine</vt:lpstr>
      <vt:lpstr>NoSketchEngine</vt:lpstr>
      <vt:lpstr>CQL: Corpus Query Language</vt:lpstr>
      <vt:lpstr>CQL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SpaCy and Stanza</dc:title>
  <dc:creator>Anonim</dc:creator>
  <cp:lastModifiedBy>Anonim</cp:lastModifiedBy>
  <cp:revision>62</cp:revision>
  <dcterms:created xsi:type="dcterms:W3CDTF">2025-09-22T21:33:10Z</dcterms:created>
  <dcterms:modified xsi:type="dcterms:W3CDTF">2025-11-04T14:17:33Z</dcterms:modified>
</cp:coreProperties>
</file>