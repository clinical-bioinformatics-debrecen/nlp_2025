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275" r:id="rId3"/>
    <p:sldId id="259" r:id="rId4"/>
    <p:sldId id="260" r:id="rId5"/>
    <p:sldId id="261" r:id="rId6"/>
    <p:sldId id="262" r:id="rId7"/>
    <p:sldId id="263" r:id="rId8"/>
    <p:sldId id="264" r:id="rId9"/>
    <p:sldId id="258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2" r:id="rId19"/>
    <p:sldId id="273" r:id="rId20"/>
    <p:sldId id="274" r:id="rId21"/>
    <p:sldId id="277" r:id="rId22"/>
    <p:sldId id="278" r:id="rId23"/>
    <p:sldId id="280" r:id="rId24"/>
    <p:sldId id="279" r:id="rId25"/>
    <p:sldId id="283" r:id="rId26"/>
    <p:sldId id="281" r:id="rId27"/>
    <p:sldId id="282" r:id="rId28"/>
    <p:sldId id="284" r:id="rId29"/>
    <p:sldId id="285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018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6410B-86D3-48FF-B586-619C67BBABBE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9FBCD9-11A4-416C-A4C8-3B91DED550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13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8D2FED-6DD3-49F4-997C-0289B0F509C2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7031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8D2FED-6DD3-49F4-997C-0289B0F509C2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37907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8D2FED-6DD3-49F4-997C-0289B0F509C2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2295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FBCD9-11A4-416C-A4C8-3B91DED5506F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8444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472-AC47-45B3-81FF-F2AF5628103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1B9B-876E-4124-A4CB-3C2425174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065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472-AC47-45B3-81FF-F2AF5628103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1B9B-876E-4124-A4CB-3C2425174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078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472-AC47-45B3-81FF-F2AF5628103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1B9B-876E-4124-A4CB-3C2425174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021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472-AC47-45B3-81FF-F2AF5628103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1B9B-876E-4124-A4CB-3C2425174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70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472-AC47-45B3-81FF-F2AF5628103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1B9B-876E-4124-A4CB-3C2425174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718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472-AC47-45B3-81FF-F2AF5628103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1B9B-876E-4124-A4CB-3C2425174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46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472-AC47-45B3-81FF-F2AF5628103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1B9B-876E-4124-A4CB-3C2425174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308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472-AC47-45B3-81FF-F2AF5628103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1B9B-876E-4124-A4CB-3C2425174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581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472-AC47-45B3-81FF-F2AF5628103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1B9B-876E-4124-A4CB-3C2425174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576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472-AC47-45B3-81FF-F2AF5628103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1B9B-876E-4124-A4CB-3C2425174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520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E8472-AC47-45B3-81FF-F2AF5628103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C1B9B-876E-4124-A4CB-3C2425174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16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E8472-AC47-45B3-81FF-F2AF56281037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C1B9B-876E-4124-A4CB-3C2425174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1355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310.4546" TargetMode="External"/><Relationship Id="rId2" Type="http://schemas.openxmlformats.org/officeDocument/2006/relationships/hyperlink" Target="https://arxiv.org/abs/1301.378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nlp.stanford.edu/IR-book/information-retrieval-book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google.com/archive/p/word2vec/source/default/sourc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papers.nips.cc/paper/5477-neural-word-embedding-as-implicit-matrix-factorization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nlp.stanford.edu/projects/glove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908.10084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 smtClean="0"/>
              <a:t>Natural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Processing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sz="3200" i="1" dirty="0" err="1" smtClean="0"/>
              <a:t>Distributional</a:t>
            </a:r>
            <a:r>
              <a:rPr lang="hu-HU" sz="3200" i="1" dirty="0" smtClean="0"/>
              <a:t> </a:t>
            </a:r>
            <a:r>
              <a:rPr lang="hu-HU" sz="3200" i="1" dirty="0" err="1" smtClean="0"/>
              <a:t>Semantics</a:t>
            </a:r>
            <a:endParaRPr lang="en-GB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 smtClean="0"/>
              <a:t>Pethő Gergely</a:t>
            </a:r>
          </a:p>
          <a:p>
            <a:r>
              <a:rPr lang="hu-HU" dirty="0" smtClean="0"/>
              <a:t>November 18, 2025</a:t>
            </a:r>
          </a:p>
          <a:p>
            <a:r>
              <a:rPr lang="hu-HU" dirty="0" err="1" smtClean="0"/>
              <a:t>UD</a:t>
            </a:r>
            <a:r>
              <a:rPr lang="hu-HU" dirty="0" smtClean="0"/>
              <a:t> </a:t>
            </a:r>
            <a:r>
              <a:rPr lang="hu-HU" dirty="0" err="1" smtClean="0"/>
              <a:t>Faculty</a:t>
            </a:r>
            <a:r>
              <a:rPr lang="hu-HU" dirty="0" smtClean="0"/>
              <a:t> of Health Science,</a:t>
            </a:r>
          </a:p>
          <a:p>
            <a:r>
              <a:rPr lang="hu-HU" dirty="0" err="1" smtClean="0"/>
              <a:t>Department</a:t>
            </a:r>
            <a:r>
              <a:rPr lang="hu-HU" dirty="0" smtClean="0"/>
              <a:t> of </a:t>
            </a:r>
            <a:r>
              <a:rPr lang="hu-HU" dirty="0" err="1" smtClean="0"/>
              <a:t>Bioinformatics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29167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Motivation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many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r>
              <a:rPr lang="hu-HU" dirty="0" smtClean="0"/>
              <a:t> </a:t>
            </a:r>
            <a:r>
              <a:rPr lang="hu-HU" dirty="0" err="1" smtClean="0"/>
              <a:t>tasks</a:t>
            </a:r>
            <a:r>
              <a:rPr lang="hu-HU" dirty="0" smtClean="0"/>
              <a:t>, </a:t>
            </a:r>
            <a:r>
              <a:rPr lang="hu-HU" dirty="0" err="1" smtClean="0"/>
              <a:t>perhaps</a:t>
            </a:r>
            <a:r>
              <a:rPr lang="hu-HU" dirty="0" smtClean="0"/>
              <a:t> most </a:t>
            </a:r>
            <a:r>
              <a:rPr lang="hu-HU" dirty="0" err="1" smtClean="0"/>
              <a:t>importantly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 </a:t>
            </a:r>
            <a:r>
              <a:rPr lang="hu-HU" dirty="0" err="1" smtClean="0"/>
              <a:t>answering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dirty="0" err="1" smtClean="0"/>
              <a:t>crucial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handle</a:t>
            </a:r>
            <a:r>
              <a:rPr lang="hu-HU" dirty="0" smtClean="0"/>
              <a:t> </a:t>
            </a:r>
            <a:r>
              <a:rPr lang="hu-HU" dirty="0" err="1" smtClean="0"/>
              <a:t>relationships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meanings</a:t>
            </a:r>
            <a:r>
              <a:rPr lang="hu-HU" dirty="0" smtClean="0"/>
              <a:t> of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sentences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Question</a:t>
            </a:r>
            <a:r>
              <a:rPr lang="hu-HU" dirty="0" smtClean="0"/>
              <a:t>: </a:t>
            </a:r>
            <a:r>
              <a:rPr lang="hu-HU" dirty="0" err="1" smtClean="0"/>
              <a:t>Where</a:t>
            </a:r>
            <a:r>
              <a:rPr lang="hu-HU" dirty="0" smtClean="0"/>
              <a:t> </a:t>
            </a:r>
            <a:r>
              <a:rPr lang="hu-HU" dirty="0" err="1" smtClean="0"/>
              <a:t>did</a:t>
            </a:r>
            <a:r>
              <a:rPr lang="hu-HU" dirty="0" smtClean="0"/>
              <a:t> John’s </a:t>
            </a:r>
            <a:r>
              <a:rPr lang="hu-HU" dirty="0" err="1" smtClean="0"/>
              <a:t>boss</a:t>
            </a:r>
            <a:r>
              <a:rPr lang="hu-HU" dirty="0" smtClean="0"/>
              <a:t> go </a:t>
            </a:r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meeting.</a:t>
            </a:r>
          </a:p>
          <a:p>
            <a:pPr lvl="1"/>
            <a:r>
              <a:rPr lang="hu-HU" dirty="0" err="1" smtClean="0"/>
              <a:t>Answer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text: John’s </a:t>
            </a:r>
            <a:r>
              <a:rPr lang="hu-HU" dirty="0" err="1" smtClean="0"/>
              <a:t>supervisor</a:t>
            </a:r>
            <a:r>
              <a:rPr lang="hu-HU" dirty="0" smtClean="0"/>
              <a:t> </a:t>
            </a:r>
            <a:r>
              <a:rPr lang="hu-HU" dirty="0" err="1" smtClean="0"/>
              <a:t>travelled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London </a:t>
            </a:r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conference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find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answer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application</a:t>
            </a:r>
            <a:r>
              <a:rPr lang="hu-HU" dirty="0" smtClean="0"/>
              <a:t> </a:t>
            </a:r>
            <a:r>
              <a:rPr lang="hu-HU" dirty="0" err="1" smtClean="0"/>
              <a:t>needs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know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boss</a:t>
            </a:r>
            <a:r>
              <a:rPr lang="hu-HU" dirty="0" smtClean="0"/>
              <a:t> – </a:t>
            </a:r>
            <a:r>
              <a:rPr lang="hu-HU" dirty="0" err="1" smtClean="0"/>
              <a:t>supervisor</a:t>
            </a:r>
            <a:r>
              <a:rPr lang="hu-HU" dirty="0" smtClean="0"/>
              <a:t>, go – </a:t>
            </a:r>
            <a:r>
              <a:rPr lang="hu-HU" dirty="0" err="1" smtClean="0"/>
              <a:t>travel</a:t>
            </a:r>
            <a:r>
              <a:rPr lang="hu-HU" dirty="0" smtClean="0"/>
              <a:t>, meeting – </a:t>
            </a:r>
            <a:r>
              <a:rPr lang="hu-HU" dirty="0" err="1" smtClean="0"/>
              <a:t>conference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synonyms</a:t>
            </a:r>
            <a:r>
              <a:rPr lang="hu-HU" dirty="0" smtClean="0"/>
              <a:t>, </a:t>
            </a:r>
            <a:r>
              <a:rPr lang="hu-HU" dirty="0" err="1" smtClean="0"/>
              <a:t>although</a:t>
            </a:r>
            <a:r>
              <a:rPr lang="hu-HU" dirty="0" smtClean="0"/>
              <a:t> </a:t>
            </a:r>
            <a:r>
              <a:rPr lang="hu-HU" dirty="0" err="1" smtClean="0"/>
              <a:t>their</a:t>
            </a:r>
            <a:r>
              <a:rPr lang="hu-HU" dirty="0" smtClean="0"/>
              <a:t> </a:t>
            </a:r>
            <a:r>
              <a:rPr lang="hu-HU" dirty="0" err="1" smtClean="0"/>
              <a:t>forms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completely</a:t>
            </a:r>
            <a:r>
              <a:rPr lang="hu-HU" dirty="0" smtClean="0"/>
              <a:t> </a:t>
            </a:r>
            <a:r>
              <a:rPr lang="hu-HU" dirty="0" err="1" smtClean="0"/>
              <a:t>different</a:t>
            </a:r>
            <a:r>
              <a:rPr lang="hu-HU" dirty="0" smtClean="0"/>
              <a:t>.</a:t>
            </a:r>
          </a:p>
          <a:p>
            <a:r>
              <a:rPr lang="hu-HU" dirty="0" smtClean="0"/>
              <a:t>The most </a:t>
            </a:r>
            <a:r>
              <a:rPr lang="hu-HU" dirty="0" err="1" smtClean="0"/>
              <a:t>important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describe</a:t>
            </a:r>
            <a:r>
              <a:rPr lang="hu-HU" dirty="0" smtClean="0"/>
              <a:t> </a:t>
            </a:r>
            <a:r>
              <a:rPr lang="hu-HU" dirty="0" err="1" smtClean="0"/>
              <a:t>similarity</a:t>
            </a:r>
            <a:r>
              <a:rPr lang="hu-HU" dirty="0" smtClean="0"/>
              <a:t> and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relationships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meanings</a:t>
            </a:r>
            <a:r>
              <a:rPr lang="hu-HU" dirty="0" smtClean="0"/>
              <a:t> of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r>
              <a:rPr lang="hu-HU" dirty="0" smtClean="0"/>
              <a:t> is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capture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distributions</a:t>
            </a:r>
            <a:r>
              <a:rPr lang="hu-HU" dirty="0" smtClean="0"/>
              <a:t> of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more </a:t>
            </a:r>
            <a:r>
              <a:rPr lang="hu-HU" dirty="0" err="1" smtClean="0"/>
              <a:t>corpora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approach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meaning</a:t>
            </a:r>
            <a:r>
              <a:rPr lang="hu-HU" dirty="0" smtClean="0"/>
              <a:t> is </a:t>
            </a:r>
            <a:r>
              <a:rPr lang="hu-HU" dirty="0" err="1" smtClean="0"/>
              <a:t>known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distributional</a:t>
            </a:r>
            <a:r>
              <a:rPr lang="hu-HU" dirty="0" smtClean="0"/>
              <a:t> </a:t>
            </a:r>
            <a:r>
              <a:rPr lang="hu-HU" dirty="0" err="1" smtClean="0"/>
              <a:t>semantics</a:t>
            </a:r>
            <a:r>
              <a:rPr lang="hu-HU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502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Distribution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52816" y="1600200"/>
            <a:ext cx="8229600" cy="4525963"/>
          </a:xfrm>
        </p:spPr>
        <p:txBody>
          <a:bodyPr>
            <a:normAutofit fontScale="62500" lnSpcReduction="20000"/>
          </a:bodyPr>
          <a:lstStyle/>
          <a:p>
            <a:r>
              <a:rPr lang="hu-HU" b="1" dirty="0" err="1" smtClean="0"/>
              <a:t>Distribution</a:t>
            </a:r>
            <a:r>
              <a:rPr lang="hu-HU" b="1" dirty="0" smtClean="0"/>
              <a:t> </a:t>
            </a:r>
            <a:r>
              <a:rPr lang="hu-HU" dirty="0" smtClean="0"/>
              <a:t>of a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 / </a:t>
            </a:r>
            <a:r>
              <a:rPr lang="hu-HU" dirty="0" err="1" smtClean="0"/>
              <a:t>lexeme</a:t>
            </a:r>
            <a:r>
              <a:rPr lang="hu-HU" dirty="0"/>
              <a:t> </a:t>
            </a:r>
            <a:r>
              <a:rPr lang="hu-HU" dirty="0" smtClean="0"/>
              <a:t>(lemma): </a:t>
            </a:r>
            <a:r>
              <a:rPr lang="hu-HU" dirty="0" err="1" smtClean="0"/>
              <a:t>totality</a:t>
            </a:r>
            <a:r>
              <a:rPr lang="hu-HU" dirty="0" smtClean="0"/>
              <a:t> of </a:t>
            </a:r>
            <a:r>
              <a:rPr lang="hu-HU" dirty="0" err="1" smtClean="0"/>
              <a:t>linguistic</a:t>
            </a:r>
            <a:r>
              <a:rPr lang="hu-HU" dirty="0" smtClean="0"/>
              <a:t> </a:t>
            </a:r>
            <a:r>
              <a:rPr lang="hu-HU" dirty="0" err="1" smtClean="0"/>
              <a:t>contexts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 / </a:t>
            </a:r>
            <a:r>
              <a:rPr lang="hu-HU" dirty="0" err="1" smtClean="0"/>
              <a:t>lexeme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appear</a:t>
            </a:r>
            <a:endParaRPr lang="hu-HU" dirty="0" smtClean="0"/>
          </a:p>
          <a:p>
            <a:pPr lvl="1"/>
            <a:r>
              <a:rPr lang="hu-HU" b="1" dirty="0" err="1" smtClean="0"/>
              <a:t>Linguistic</a:t>
            </a:r>
            <a:r>
              <a:rPr lang="hu-HU" b="1" dirty="0" smtClean="0"/>
              <a:t> </a:t>
            </a:r>
            <a:r>
              <a:rPr lang="hu-HU" b="1" dirty="0" err="1" smtClean="0"/>
              <a:t>context</a:t>
            </a:r>
            <a:r>
              <a:rPr lang="hu-HU" b="1" dirty="0" smtClean="0"/>
              <a:t>: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forms</a:t>
            </a:r>
            <a:r>
              <a:rPr lang="hu-HU" dirty="0" smtClean="0"/>
              <a:t> / </a:t>
            </a:r>
            <a:r>
              <a:rPr lang="hu-HU" dirty="0" err="1" smtClean="0"/>
              <a:t>lexemes</a:t>
            </a:r>
            <a:r>
              <a:rPr lang="hu-HU" dirty="0" smtClean="0"/>
              <a:t> (</a:t>
            </a:r>
            <a:r>
              <a:rPr lang="hu-HU" b="1" dirty="0" err="1" smtClean="0"/>
              <a:t>context</a:t>
            </a:r>
            <a:r>
              <a:rPr lang="hu-HU" b="1" dirty="0" smtClean="0"/>
              <a:t> </a:t>
            </a:r>
            <a:r>
              <a:rPr lang="hu-HU" b="1" dirty="0" err="1" smtClean="0"/>
              <a:t>words</a:t>
            </a:r>
            <a:r>
              <a:rPr lang="hu-HU" dirty="0" smtClean="0"/>
              <a:t>)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appear</a:t>
            </a:r>
            <a:r>
              <a:rPr lang="hu-HU" dirty="0" smtClean="0"/>
              <a:t> </a:t>
            </a:r>
            <a:r>
              <a:rPr lang="hu-HU" dirty="0" err="1" smtClean="0"/>
              <a:t>around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 / </a:t>
            </a:r>
            <a:r>
              <a:rPr lang="hu-HU" dirty="0" err="1" smtClean="0"/>
              <a:t>lexeme</a:t>
            </a:r>
            <a:r>
              <a:rPr lang="hu-HU" dirty="0" smtClean="0"/>
              <a:t> of interest (</a:t>
            </a:r>
            <a:r>
              <a:rPr lang="hu-HU" b="1" dirty="0" err="1" smtClean="0"/>
              <a:t>target</a:t>
            </a:r>
            <a:r>
              <a:rPr lang="hu-HU" b="1" dirty="0" smtClean="0"/>
              <a:t> </a:t>
            </a:r>
            <a:r>
              <a:rPr lang="hu-HU" b="1" dirty="0" err="1" smtClean="0"/>
              <a:t>word</a:t>
            </a:r>
            <a:r>
              <a:rPr lang="hu-HU" dirty="0" smtClean="0"/>
              <a:t>) </a:t>
            </a:r>
            <a:r>
              <a:rPr lang="hu-HU" dirty="0" err="1" smtClean="0"/>
              <a:t>in</a:t>
            </a:r>
            <a:r>
              <a:rPr lang="hu-HU" dirty="0" smtClean="0"/>
              <a:t> a text</a:t>
            </a:r>
          </a:p>
          <a:p>
            <a:pPr lvl="1"/>
            <a:r>
              <a:rPr lang="hu-HU" dirty="0" err="1" smtClean="0"/>
              <a:t>Syntactic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be </a:t>
            </a:r>
            <a:r>
              <a:rPr lang="hu-HU" dirty="0" err="1" smtClean="0"/>
              <a:t>taken</a:t>
            </a:r>
            <a:r>
              <a:rPr lang="hu-HU" dirty="0" smtClean="0"/>
              <a:t> </a:t>
            </a:r>
            <a:r>
              <a:rPr lang="hu-HU" dirty="0" err="1" smtClean="0"/>
              <a:t>into</a:t>
            </a:r>
            <a:r>
              <a:rPr lang="hu-HU" dirty="0" smtClean="0"/>
              <a:t> </a:t>
            </a:r>
            <a:r>
              <a:rPr lang="hu-HU" dirty="0" err="1" smtClean="0"/>
              <a:t>consideration</a:t>
            </a:r>
            <a:r>
              <a:rPr lang="hu-HU" dirty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where</a:t>
            </a:r>
            <a:r>
              <a:rPr lang="hu-HU" dirty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appear</a:t>
            </a:r>
            <a:r>
              <a:rPr lang="hu-HU" dirty="0" smtClean="0"/>
              <a:t> </a:t>
            </a:r>
            <a:r>
              <a:rPr lang="hu-HU" dirty="0" err="1" smtClean="0"/>
              <a:t>relative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target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, </a:t>
            </a:r>
            <a:r>
              <a:rPr lang="hu-HU" dirty="0" err="1" smtClean="0"/>
              <a:t>what</a:t>
            </a:r>
            <a:r>
              <a:rPr lang="hu-HU" dirty="0" smtClean="0"/>
              <a:t> is </a:t>
            </a:r>
            <a:r>
              <a:rPr lang="hu-HU" dirty="0" err="1" smtClean="0"/>
              <a:t>their</a:t>
            </a:r>
            <a:r>
              <a:rPr lang="hu-HU" dirty="0" smtClean="0"/>
              <a:t> </a:t>
            </a:r>
            <a:r>
              <a:rPr lang="hu-HU" dirty="0" err="1" smtClean="0"/>
              <a:t>syntactic</a:t>
            </a:r>
            <a:r>
              <a:rPr lang="hu-HU" dirty="0" smtClean="0"/>
              <a:t> (</a:t>
            </a:r>
            <a:r>
              <a:rPr lang="hu-HU" dirty="0" err="1" smtClean="0"/>
              <a:t>dependency</a:t>
            </a:r>
            <a:r>
              <a:rPr lang="hu-HU" dirty="0" smtClean="0"/>
              <a:t>) </a:t>
            </a:r>
            <a:r>
              <a:rPr lang="hu-HU" dirty="0" err="1" smtClean="0"/>
              <a:t>relationship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?</a:t>
            </a:r>
          </a:p>
          <a:p>
            <a:pPr lvl="1"/>
            <a:r>
              <a:rPr lang="hu-HU" dirty="0" err="1" smtClean="0"/>
              <a:t>Factors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b="1" dirty="0" err="1" smtClean="0"/>
              <a:t>determine</a:t>
            </a:r>
            <a:r>
              <a:rPr lang="hu-HU" b="1" dirty="0" smtClean="0"/>
              <a:t> </a:t>
            </a:r>
            <a:r>
              <a:rPr lang="hu-HU" b="1" dirty="0" err="1" smtClean="0"/>
              <a:t>distribution</a:t>
            </a:r>
            <a:r>
              <a:rPr lang="hu-HU" dirty="0" smtClean="0"/>
              <a:t>:</a:t>
            </a:r>
          </a:p>
          <a:p>
            <a:pPr lvl="2"/>
            <a:r>
              <a:rPr lang="hu-HU" dirty="0" smtClean="0"/>
              <a:t>part of </a:t>
            </a:r>
            <a:r>
              <a:rPr lang="hu-HU" dirty="0" err="1" smtClean="0"/>
              <a:t>speech</a:t>
            </a:r>
            <a:r>
              <a:rPr lang="hu-HU" dirty="0" smtClean="0"/>
              <a:t>, </a:t>
            </a:r>
            <a:r>
              <a:rPr lang="hu-HU" dirty="0" err="1" smtClean="0"/>
              <a:t>meaning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a </a:t>
            </a:r>
            <a:r>
              <a:rPr lang="hu-HU" dirty="0" err="1" smtClean="0"/>
              <a:t>lexeme</a:t>
            </a:r>
            <a:endParaRPr lang="hu-HU" dirty="0" smtClean="0"/>
          </a:p>
          <a:p>
            <a:pPr lvl="2"/>
            <a:r>
              <a:rPr lang="hu-HU" dirty="0" err="1" smtClean="0"/>
              <a:t>morphosyntactic</a:t>
            </a:r>
            <a:r>
              <a:rPr lang="hu-HU" dirty="0" smtClean="0"/>
              <a:t> </a:t>
            </a:r>
            <a:r>
              <a:rPr lang="hu-HU" dirty="0" err="1" smtClean="0"/>
              <a:t>features</a:t>
            </a:r>
            <a:r>
              <a:rPr lang="hu-HU" dirty="0" smtClean="0"/>
              <a:t> (</a:t>
            </a:r>
            <a:r>
              <a:rPr lang="hu-HU" dirty="0" err="1" smtClean="0"/>
              <a:t>number</a:t>
            </a:r>
            <a:r>
              <a:rPr lang="hu-HU" dirty="0" smtClean="0"/>
              <a:t>, </a:t>
            </a:r>
            <a:r>
              <a:rPr lang="hu-HU" dirty="0" err="1" smtClean="0"/>
              <a:t>case</a:t>
            </a:r>
            <a:r>
              <a:rPr lang="hu-HU" dirty="0" smtClean="0"/>
              <a:t>, etc.)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endParaRPr lang="hu-HU" dirty="0" smtClean="0"/>
          </a:p>
          <a:p>
            <a:pPr lvl="2"/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arbitrary</a:t>
            </a:r>
            <a:r>
              <a:rPr lang="hu-HU" dirty="0" smtClean="0"/>
              <a:t> </a:t>
            </a:r>
            <a:r>
              <a:rPr lang="hu-HU" dirty="0" err="1" smtClean="0"/>
              <a:t>factors</a:t>
            </a:r>
            <a:r>
              <a:rPr lang="hu-HU" dirty="0" smtClean="0"/>
              <a:t> (</a:t>
            </a:r>
            <a:r>
              <a:rPr lang="hu-HU" dirty="0" err="1" smtClean="0"/>
              <a:t>collocations</a:t>
            </a:r>
            <a:r>
              <a:rPr lang="hu-HU" dirty="0" smtClean="0"/>
              <a:t>, </a:t>
            </a:r>
            <a:r>
              <a:rPr lang="hu-HU" dirty="0" err="1" smtClean="0"/>
              <a:t>idioms</a:t>
            </a:r>
            <a:r>
              <a:rPr lang="hu-HU" dirty="0" smtClean="0"/>
              <a:t>, etc.)</a:t>
            </a:r>
          </a:p>
          <a:p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r>
              <a:rPr lang="hu-HU" dirty="0" smtClean="0"/>
              <a:t>,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use</a:t>
            </a:r>
            <a:r>
              <a:rPr lang="hu-HU" dirty="0" smtClean="0"/>
              <a:t> a </a:t>
            </a:r>
            <a:r>
              <a:rPr lang="hu-HU" b="1" dirty="0" smtClean="0"/>
              <a:t>more </a:t>
            </a:r>
            <a:r>
              <a:rPr lang="hu-HU" b="1" dirty="0" err="1" smtClean="0"/>
              <a:t>specific</a:t>
            </a:r>
            <a:r>
              <a:rPr lang="hu-HU" b="1" dirty="0" smtClean="0"/>
              <a:t> </a:t>
            </a:r>
            <a:r>
              <a:rPr lang="hu-HU" b="1" dirty="0" err="1" smtClean="0"/>
              <a:t>notion</a:t>
            </a:r>
            <a:r>
              <a:rPr lang="hu-HU" b="1" dirty="0" smtClean="0"/>
              <a:t> </a:t>
            </a:r>
            <a:r>
              <a:rPr lang="hu-HU" dirty="0" smtClean="0"/>
              <a:t>of </a:t>
            </a:r>
            <a:r>
              <a:rPr lang="hu-HU" dirty="0" err="1" smtClean="0"/>
              <a:t>distribution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consider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set</a:t>
            </a:r>
            <a:r>
              <a:rPr lang="hu-HU" dirty="0" smtClean="0"/>
              <a:t> of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forms</a:t>
            </a:r>
            <a:r>
              <a:rPr lang="hu-HU" dirty="0" smtClean="0"/>
              <a:t> (</a:t>
            </a:r>
            <a:r>
              <a:rPr lang="hu-HU" dirty="0" err="1" smtClean="0"/>
              <a:t>lexemes</a:t>
            </a:r>
            <a:r>
              <a:rPr lang="hu-HU" dirty="0" smtClean="0"/>
              <a:t>)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b="1" dirty="0" err="1" smtClean="0"/>
              <a:t>co-occur</a:t>
            </a:r>
            <a:r>
              <a:rPr lang="hu-HU" b="1" dirty="0" smtClean="0"/>
              <a:t> </a:t>
            </a:r>
            <a:r>
              <a:rPr lang="hu-HU" b="1" dirty="0" err="1" smtClean="0"/>
              <a:t>within</a:t>
            </a:r>
            <a:r>
              <a:rPr lang="hu-HU" b="1" dirty="0" smtClean="0"/>
              <a:t> a </a:t>
            </a:r>
            <a:r>
              <a:rPr lang="hu-HU" b="1" dirty="0" err="1" smtClean="0"/>
              <a:t>certain</a:t>
            </a:r>
            <a:r>
              <a:rPr lang="hu-HU" b="1" dirty="0" smtClean="0"/>
              <a:t> </a:t>
            </a:r>
            <a:r>
              <a:rPr lang="hu-HU" b="1" dirty="0" err="1" smtClean="0"/>
              <a:t>distance</a:t>
            </a:r>
            <a:r>
              <a:rPr lang="hu-HU" b="1" dirty="0" smtClean="0"/>
              <a:t> </a:t>
            </a:r>
            <a:r>
              <a:rPr lang="hu-HU" dirty="0" smtClean="0"/>
              <a:t>of </a:t>
            </a:r>
            <a:r>
              <a:rPr lang="hu-HU" dirty="0" err="1" smtClean="0"/>
              <a:t>at</a:t>
            </a:r>
            <a:r>
              <a:rPr lang="hu-HU" dirty="0" smtClean="0"/>
              <a:t> most </a:t>
            </a:r>
            <a:r>
              <a:rPr lang="hu-HU" i="1" dirty="0" smtClean="0"/>
              <a:t>n </a:t>
            </a:r>
            <a:r>
              <a:rPr lang="hu-HU" dirty="0" err="1" smtClean="0"/>
              <a:t>words</a:t>
            </a:r>
            <a:r>
              <a:rPr lang="hu-HU" dirty="0" smtClean="0"/>
              <a:t>, 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at</a:t>
            </a:r>
            <a:r>
              <a:rPr lang="hu-HU" dirty="0" smtClean="0"/>
              <a:t> most 5 </a:t>
            </a:r>
            <a:r>
              <a:rPr lang="hu-HU" dirty="0" err="1" smtClean="0"/>
              <a:t>words</a:t>
            </a:r>
            <a:r>
              <a:rPr lang="hu-HU" dirty="0" smtClean="0"/>
              <a:t>,</a:t>
            </a:r>
          </a:p>
          <a:p>
            <a:pPr lvl="1"/>
            <a:r>
              <a:rPr lang="hu-HU" dirty="0" err="1" smtClean="0"/>
              <a:t>within</a:t>
            </a:r>
            <a:r>
              <a:rPr lang="hu-HU" dirty="0" smtClean="0"/>
              <a:t> a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b="1" dirty="0" smtClean="0"/>
              <a:t>corpus</a:t>
            </a:r>
          </a:p>
          <a:p>
            <a:pPr lvl="1"/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occurrences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target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 / lemma.</a:t>
            </a:r>
          </a:p>
          <a:p>
            <a:pPr lvl="1"/>
            <a:r>
              <a:rPr lang="hu-HU" dirty="0" smtClean="0"/>
              <a:t>Word </a:t>
            </a:r>
            <a:r>
              <a:rPr lang="hu-HU" dirty="0" err="1" smtClean="0"/>
              <a:t>order</a:t>
            </a:r>
            <a:r>
              <a:rPr lang="hu-HU" dirty="0" smtClean="0"/>
              <a:t>, </a:t>
            </a:r>
            <a:r>
              <a:rPr lang="hu-HU" dirty="0" err="1" smtClean="0"/>
              <a:t>syntactic</a:t>
            </a:r>
            <a:r>
              <a:rPr lang="hu-HU" dirty="0" smtClean="0"/>
              <a:t> </a:t>
            </a:r>
            <a:r>
              <a:rPr lang="hu-HU" dirty="0" err="1" smtClean="0"/>
              <a:t>relationships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ignored</a:t>
            </a:r>
            <a:r>
              <a:rPr lang="hu-HU" dirty="0" smtClean="0"/>
              <a:t>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06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1143000"/>
          </a:xfrm>
        </p:spPr>
        <p:txBody>
          <a:bodyPr>
            <a:normAutofit/>
          </a:bodyPr>
          <a:lstStyle/>
          <a:p>
            <a:r>
              <a:rPr lang="hu-HU" sz="3200" dirty="0" err="1" smtClean="0"/>
              <a:t>Distributional</a:t>
            </a:r>
            <a:r>
              <a:rPr lang="hu-HU" sz="3200" dirty="0" smtClean="0"/>
              <a:t> </a:t>
            </a:r>
            <a:r>
              <a:rPr lang="hu-HU" sz="3200" dirty="0" err="1" smtClean="0"/>
              <a:t>Hypothesis</a:t>
            </a:r>
            <a:endParaRPr lang="hu-HU" sz="32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>
            <a:noAutofit/>
          </a:bodyPr>
          <a:lstStyle/>
          <a:p>
            <a:r>
              <a:rPr lang="hu-HU" sz="1600" b="1" dirty="0" err="1" smtClean="0"/>
              <a:t>Distributional</a:t>
            </a:r>
            <a:r>
              <a:rPr lang="hu-HU" sz="1600" b="1" dirty="0" smtClean="0"/>
              <a:t> </a:t>
            </a:r>
            <a:r>
              <a:rPr lang="hu-HU" sz="1600" b="1" dirty="0" err="1" smtClean="0"/>
              <a:t>Hypothesis</a:t>
            </a:r>
            <a:r>
              <a:rPr lang="hu-HU" sz="1600" b="1" dirty="0" smtClean="0"/>
              <a:t> (</a:t>
            </a:r>
            <a:r>
              <a:rPr lang="hu-HU" sz="1600" b="1" dirty="0" err="1" smtClean="0"/>
              <a:t>DH</a:t>
            </a:r>
            <a:r>
              <a:rPr lang="hu-HU" sz="1600" b="1" dirty="0" smtClean="0"/>
              <a:t>):</a:t>
            </a:r>
            <a:r>
              <a:rPr lang="hu-HU" sz="1600" dirty="0" smtClean="0"/>
              <a:t> </a:t>
            </a:r>
            <a:r>
              <a:rPr lang="hu-HU" sz="1600" dirty="0" err="1" smtClean="0"/>
              <a:t>Expressions</a:t>
            </a:r>
            <a:r>
              <a:rPr lang="hu-HU" sz="1600" dirty="0" smtClean="0"/>
              <a:t> (</a:t>
            </a:r>
            <a:r>
              <a:rPr lang="hu-HU" sz="1600" dirty="0" err="1" smtClean="0"/>
              <a:t>words</a:t>
            </a:r>
            <a:r>
              <a:rPr lang="hu-HU" sz="1600" dirty="0" smtClean="0"/>
              <a:t> </a:t>
            </a:r>
            <a:r>
              <a:rPr lang="hu-HU" sz="1600" dirty="0" err="1" smtClean="0"/>
              <a:t>or</a:t>
            </a:r>
            <a:r>
              <a:rPr lang="hu-HU" sz="1600" dirty="0" smtClean="0"/>
              <a:t> </a:t>
            </a:r>
            <a:r>
              <a:rPr lang="hu-HU" sz="1600" dirty="0" err="1" smtClean="0"/>
              <a:t>complex</a:t>
            </a:r>
            <a:r>
              <a:rPr lang="hu-HU" sz="1600" dirty="0" smtClean="0"/>
              <a:t> </a:t>
            </a:r>
            <a:r>
              <a:rPr lang="hu-HU" sz="1600" dirty="0" err="1" smtClean="0"/>
              <a:t>expressions</a:t>
            </a:r>
            <a:r>
              <a:rPr lang="hu-HU" sz="1600" dirty="0" smtClean="0"/>
              <a:t>) </a:t>
            </a:r>
            <a:r>
              <a:rPr lang="hu-HU" sz="1600" dirty="0" err="1" smtClean="0"/>
              <a:t>with</a:t>
            </a:r>
            <a:r>
              <a:rPr lang="hu-HU" sz="1600" dirty="0" smtClean="0"/>
              <a:t> </a:t>
            </a:r>
            <a:r>
              <a:rPr lang="hu-HU" sz="1600" b="1" dirty="0" err="1" smtClean="0"/>
              <a:t>similar</a:t>
            </a:r>
            <a:r>
              <a:rPr lang="hu-HU" sz="1600" b="1" dirty="0" smtClean="0"/>
              <a:t> </a:t>
            </a:r>
            <a:r>
              <a:rPr lang="hu-HU" sz="1600" b="1" dirty="0" err="1" smtClean="0"/>
              <a:t>meanings</a:t>
            </a:r>
            <a:r>
              <a:rPr lang="hu-HU" sz="1600" b="1" dirty="0" smtClean="0"/>
              <a:t> </a:t>
            </a:r>
            <a:r>
              <a:rPr lang="hu-HU" sz="1600" dirty="0" err="1" smtClean="0"/>
              <a:t>have</a:t>
            </a:r>
            <a:r>
              <a:rPr lang="hu-HU" sz="1600" dirty="0" smtClean="0"/>
              <a:t> </a:t>
            </a:r>
            <a:r>
              <a:rPr lang="hu-HU" sz="1600" b="1" dirty="0" err="1" smtClean="0"/>
              <a:t>similar</a:t>
            </a:r>
            <a:r>
              <a:rPr lang="hu-HU" sz="1600" b="1" dirty="0" smtClean="0"/>
              <a:t> </a:t>
            </a:r>
            <a:r>
              <a:rPr lang="hu-HU" sz="1600" b="1" dirty="0" err="1" smtClean="0"/>
              <a:t>distributions</a:t>
            </a:r>
            <a:r>
              <a:rPr lang="hu-HU" sz="1600" dirty="0" smtClean="0"/>
              <a:t>, i.e. </a:t>
            </a:r>
            <a:r>
              <a:rPr lang="hu-HU" sz="1600" dirty="0" err="1" smtClean="0"/>
              <a:t>they</a:t>
            </a:r>
            <a:r>
              <a:rPr lang="hu-HU" sz="1600" dirty="0" smtClean="0"/>
              <a:t> </a:t>
            </a:r>
            <a:r>
              <a:rPr lang="hu-HU" sz="1600" dirty="0" err="1" smtClean="0"/>
              <a:t>occur</a:t>
            </a:r>
            <a:r>
              <a:rPr lang="hu-HU" sz="1600" dirty="0" smtClean="0"/>
              <a:t> </a:t>
            </a:r>
            <a:r>
              <a:rPr lang="hu-HU" sz="1600" dirty="0" err="1" smtClean="0"/>
              <a:t>in</a:t>
            </a:r>
            <a:r>
              <a:rPr lang="hu-HU" sz="1600" dirty="0" smtClean="0"/>
              <a:t> </a:t>
            </a:r>
            <a:r>
              <a:rPr lang="hu-HU" sz="1600" dirty="0" err="1" smtClean="0"/>
              <a:t>similar</a:t>
            </a:r>
            <a:r>
              <a:rPr lang="hu-HU" sz="1600" dirty="0" smtClean="0"/>
              <a:t> </a:t>
            </a:r>
            <a:r>
              <a:rPr lang="hu-HU" sz="1600" dirty="0" err="1" smtClean="0"/>
              <a:t>linguistic</a:t>
            </a:r>
            <a:r>
              <a:rPr lang="hu-HU" sz="1600" dirty="0" smtClean="0"/>
              <a:t> </a:t>
            </a:r>
            <a:r>
              <a:rPr lang="hu-HU" sz="1600" dirty="0" err="1" smtClean="0"/>
              <a:t>contexts</a:t>
            </a:r>
            <a:r>
              <a:rPr lang="hu-HU" sz="1600" dirty="0" smtClean="0"/>
              <a:t>.</a:t>
            </a:r>
          </a:p>
          <a:p>
            <a:r>
              <a:rPr lang="hu-HU" sz="1600" dirty="0" err="1" smtClean="0"/>
              <a:t>Distributional</a:t>
            </a:r>
            <a:r>
              <a:rPr lang="hu-HU" sz="1600" dirty="0" smtClean="0"/>
              <a:t> </a:t>
            </a:r>
            <a:r>
              <a:rPr lang="hu-HU" sz="1600" dirty="0" err="1" smtClean="0"/>
              <a:t>semantics</a:t>
            </a:r>
            <a:r>
              <a:rPr lang="hu-HU" sz="1600" dirty="0" smtClean="0"/>
              <a:t> is an </a:t>
            </a:r>
            <a:r>
              <a:rPr lang="hu-HU" sz="1600" dirty="0" err="1" smtClean="0"/>
              <a:t>approach</a:t>
            </a:r>
            <a:r>
              <a:rPr lang="hu-HU" sz="1600" dirty="0" smtClean="0"/>
              <a:t> </a:t>
            </a:r>
            <a:r>
              <a:rPr lang="hu-HU" sz="1600" dirty="0" err="1" smtClean="0"/>
              <a:t>to</a:t>
            </a:r>
            <a:r>
              <a:rPr lang="hu-HU" sz="1600" dirty="0" smtClean="0"/>
              <a:t> </a:t>
            </a:r>
            <a:r>
              <a:rPr lang="hu-HU" sz="1600" dirty="0" err="1" smtClean="0"/>
              <a:t>semantics</a:t>
            </a:r>
            <a:r>
              <a:rPr lang="hu-HU" sz="1600" dirty="0" smtClean="0"/>
              <a:t> </a:t>
            </a:r>
            <a:r>
              <a:rPr lang="hu-HU" sz="1600" dirty="0" err="1" smtClean="0"/>
              <a:t>that</a:t>
            </a:r>
            <a:r>
              <a:rPr lang="hu-HU" sz="1600" dirty="0" smtClean="0"/>
              <a:t> is </a:t>
            </a:r>
            <a:r>
              <a:rPr lang="hu-HU" sz="1600" dirty="0" err="1" smtClean="0"/>
              <a:t>based</a:t>
            </a:r>
            <a:r>
              <a:rPr lang="hu-HU" sz="1600" dirty="0" smtClean="0"/>
              <a:t> </a:t>
            </a:r>
            <a:r>
              <a:rPr lang="hu-HU" sz="1600" dirty="0" err="1" smtClean="0"/>
              <a:t>on</a:t>
            </a:r>
            <a:r>
              <a:rPr lang="hu-HU" sz="1600" dirty="0" smtClean="0"/>
              <a:t>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DH</a:t>
            </a:r>
            <a:r>
              <a:rPr lang="hu-HU" sz="1600" dirty="0" smtClean="0"/>
              <a:t>.</a:t>
            </a:r>
          </a:p>
          <a:p>
            <a:r>
              <a:rPr lang="hu-HU" sz="1600" b="1" dirty="0" err="1" smtClean="0"/>
              <a:t>Weak</a:t>
            </a:r>
            <a:r>
              <a:rPr lang="hu-HU" sz="1600" b="1" dirty="0" smtClean="0"/>
              <a:t> </a:t>
            </a:r>
            <a:r>
              <a:rPr lang="hu-HU" sz="1600" dirty="0" err="1" smtClean="0"/>
              <a:t>distributionalism</a:t>
            </a:r>
            <a:r>
              <a:rPr lang="hu-HU" sz="1600" dirty="0" smtClean="0"/>
              <a:t>:</a:t>
            </a:r>
          </a:p>
          <a:p>
            <a:pPr lvl="1"/>
            <a:r>
              <a:rPr lang="hu-HU" sz="1400" dirty="0" err="1" smtClean="0"/>
              <a:t>DH</a:t>
            </a:r>
            <a:r>
              <a:rPr lang="hu-HU" sz="1400" dirty="0" smtClean="0"/>
              <a:t> is a </a:t>
            </a:r>
            <a:r>
              <a:rPr lang="hu-HU" sz="1400" b="1" dirty="0" err="1" smtClean="0"/>
              <a:t>heuristic</a:t>
            </a:r>
            <a:r>
              <a:rPr lang="hu-HU" sz="1400" b="1" dirty="0" smtClean="0"/>
              <a:t> </a:t>
            </a:r>
            <a:r>
              <a:rPr lang="hu-HU" sz="1400" b="1" dirty="0" err="1" smtClean="0"/>
              <a:t>principle</a:t>
            </a:r>
            <a:r>
              <a:rPr lang="hu-HU" sz="1400" dirty="0" smtClean="0"/>
              <a:t>, </a:t>
            </a:r>
            <a:r>
              <a:rPr lang="hu-HU" sz="1400" dirty="0" err="1" smtClean="0"/>
              <a:t>a</a:t>
            </a:r>
            <a:r>
              <a:rPr lang="hu-HU" sz="1400" dirty="0" smtClean="0"/>
              <a:t> </a:t>
            </a:r>
            <a:r>
              <a:rPr lang="hu-HU" sz="1400" dirty="0" err="1" smtClean="0"/>
              <a:t>method</a:t>
            </a:r>
            <a:r>
              <a:rPr lang="hu-HU" sz="1400" dirty="0" smtClean="0"/>
              <a:t>.</a:t>
            </a:r>
          </a:p>
          <a:p>
            <a:pPr lvl="1"/>
            <a:r>
              <a:rPr lang="hu-HU" sz="1400" dirty="0" err="1" smtClean="0"/>
              <a:t>Whatever</a:t>
            </a:r>
            <a:r>
              <a:rPr lang="hu-HU" sz="1400" dirty="0" smtClean="0"/>
              <a:t> </a:t>
            </a:r>
            <a:r>
              <a:rPr lang="hu-HU" sz="1400" dirty="0" err="1" smtClean="0"/>
              <a:t>we</a:t>
            </a:r>
            <a:r>
              <a:rPr lang="hu-HU" sz="1400" dirty="0" smtClean="0"/>
              <a:t> </a:t>
            </a:r>
            <a:r>
              <a:rPr lang="hu-HU" sz="1400" dirty="0" err="1" smtClean="0"/>
              <a:t>think</a:t>
            </a:r>
            <a:r>
              <a:rPr lang="hu-HU" sz="1400" dirty="0" smtClean="0"/>
              <a:t> </a:t>
            </a:r>
            <a:r>
              <a:rPr lang="hu-HU" sz="1400" dirty="0" err="1" smtClean="0"/>
              <a:t>about</a:t>
            </a:r>
            <a:r>
              <a:rPr lang="hu-HU" sz="1400" dirty="0" smtClean="0"/>
              <a:t>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nature</a:t>
            </a:r>
            <a:r>
              <a:rPr lang="hu-HU" sz="1400" dirty="0" smtClean="0"/>
              <a:t> of </a:t>
            </a:r>
            <a:r>
              <a:rPr lang="hu-HU" sz="1400" dirty="0" err="1" smtClean="0"/>
              <a:t>linguistic</a:t>
            </a:r>
            <a:r>
              <a:rPr lang="hu-HU" sz="1400" dirty="0" smtClean="0"/>
              <a:t> </a:t>
            </a:r>
            <a:r>
              <a:rPr lang="hu-HU" sz="1400" dirty="0" err="1" smtClean="0"/>
              <a:t>meaning</a:t>
            </a:r>
            <a:r>
              <a:rPr lang="hu-HU" sz="1400" dirty="0" smtClean="0"/>
              <a:t>,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DH</a:t>
            </a:r>
            <a:r>
              <a:rPr lang="hu-HU" sz="1400" dirty="0" smtClean="0"/>
              <a:t> </a:t>
            </a:r>
            <a:r>
              <a:rPr lang="hu-HU" sz="1400" dirty="0" err="1" smtClean="0"/>
              <a:t>can</a:t>
            </a:r>
            <a:r>
              <a:rPr lang="hu-HU" sz="1400" dirty="0" smtClean="0"/>
              <a:t> </a:t>
            </a:r>
            <a:r>
              <a:rPr lang="hu-HU" sz="1400" dirty="0" err="1" smtClean="0"/>
              <a:t>serve</a:t>
            </a:r>
            <a:r>
              <a:rPr lang="hu-HU" sz="1400" dirty="0" smtClean="0"/>
              <a:t> </a:t>
            </a:r>
            <a:r>
              <a:rPr lang="hu-HU" sz="1400" dirty="0" err="1" smtClean="0"/>
              <a:t>as</a:t>
            </a:r>
            <a:r>
              <a:rPr lang="hu-HU" sz="1400" dirty="0" smtClean="0"/>
              <a:t>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foundation</a:t>
            </a:r>
            <a:r>
              <a:rPr lang="hu-HU" sz="1400" dirty="0" smtClean="0"/>
              <a:t> </a:t>
            </a:r>
            <a:r>
              <a:rPr lang="hu-HU" sz="1400" dirty="0" err="1" smtClean="0"/>
              <a:t>of</a:t>
            </a:r>
            <a:r>
              <a:rPr lang="hu-HU" sz="1400" dirty="0" smtClean="0"/>
              <a:t> a </a:t>
            </a:r>
            <a:r>
              <a:rPr lang="hu-HU" sz="1400" dirty="0" err="1" smtClean="0"/>
              <a:t>method</a:t>
            </a:r>
            <a:r>
              <a:rPr lang="hu-HU" sz="1400" dirty="0" smtClean="0"/>
              <a:t> </a:t>
            </a:r>
            <a:r>
              <a:rPr lang="hu-HU" sz="1400" dirty="0" err="1" smtClean="0"/>
              <a:t>by</a:t>
            </a:r>
            <a:r>
              <a:rPr lang="hu-HU" sz="1400" dirty="0" smtClean="0"/>
              <a:t> </a:t>
            </a:r>
            <a:r>
              <a:rPr lang="hu-HU" sz="1400" dirty="0" err="1" smtClean="0"/>
              <a:t>which</a:t>
            </a:r>
            <a:r>
              <a:rPr lang="hu-HU" sz="1400" dirty="0" smtClean="0"/>
              <a:t> </a:t>
            </a:r>
            <a:r>
              <a:rPr lang="hu-HU" sz="1400" dirty="0" err="1" smtClean="0"/>
              <a:t>we</a:t>
            </a:r>
            <a:r>
              <a:rPr lang="hu-HU" sz="1400" dirty="0" smtClean="0"/>
              <a:t> </a:t>
            </a:r>
            <a:r>
              <a:rPr lang="hu-HU" sz="1400" dirty="0" err="1" smtClean="0"/>
              <a:t>can</a:t>
            </a:r>
            <a:r>
              <a:rPr lang="hu-HU" sz="1400" dirty="0" smtClean="0"/>
              <a:t> </a:t>
            </a:r>
            <a:r>
              <a:rPr lang="hu-HU" sz="1400" dirty="0" err="1" smtClean="0"/>
              <a:t>extract</a:t>
            </a:r>
            <a:r>
              <a:rPr lang="hu-HU" sz="1400" dirty="0" smtClean="0"/>
              <a:t> </a:t>
            </a:r>
            <a:r>
              <a:rPr lang="hu-HU" sz="1400" dirty="0" err="1" smtClean="0"/>
              <a:t>approximate</a:t>
            </a:r>
            <a:r>
              <a:rPr lang="hu-HU" sz="1400" dirty="0" smtClean="0"/>
              <a:t> </a:t>
            </a:r>
            <a:r>
              <a:rPr lang="hu-HU" sz="1400" b="1" dirty="0" err="1" smtClean="0"/>
              <a:t>meaning</a:t>
            </a:r>
            <a:r>
              <a:rPr lang="hu-HU" sz="1400" b="1" dirty="0" smtClean="0"/>
              <a:t> </a:t>
            </a:r>
            <a:r>
              <a:rPr lang="hu-HU" sz="1400" b="1" dirty="0" err="1" smtClean="0"/>
              <a:t>representations</a:t>
            </a:r>
            <a:r>
              <a:rPr lang="hu-HU" sz="1400" b="1" dirty="0" smtClean="0"/>
              <a:t> </a:t>
            </a:r>
            <a:r>
              <a:rPr lang="hu-HU" sz="1400" dirty="0" err="1" smtClean="0"/>
              <a:t>from</a:t>
            </a:r>
            <a:r>
              <a:rPr lang="hu-HU" sz="1400" dirty="0" smtClean="0"/>
              <a:t> </a:t>
            </a:r>
            <a:r>
              <a:rPr lang="hu-HU" sz="1400" dirty="0" err="1" smtClean="0"/>
              <a:t>a</a:t>
            </a:r>
            <a:r>
              <a:rPr lang="hu-HU" sz="1400" dirty="0" smtClean="0"/>
              <a:t> corpus.</a:t>
            </a:r>
          </a:p>
          <a:p>
            <a:pPr lvl="1"/>
            <a:r>
              <a:rPr lang="hu-HU" sz="1400" dirty="0" err="1" smtClean="0"/>
              <a:t>These</a:t>
            </a:r>
            <a:r>
              <a:rPr lang="hu-HU" sz="1400" dirty="0" smtClean="0"/>
              <a:t> </a:t>
            </a:r>
            <a:r>
              <a:rPr lang="hu-HU" sz="1400" dirty="0" err="1" smtClean="0"/>
              <a:t>representations</a:t>
            </a:r>
            <a:r>
              <a:rPr lang="hu-HU" sz="1400" dirty="0" smtClean="0"/>
              <a:t> </a:t>
            </a:r>
            <a:r>
              <a:rPr lang="hu-HU" sz="1400" dirty="0" err="1" smtClean="0"/>
              <a:t>capture</a:t>
            </a:r>
            <a:r>
              <a:rPr lang="hu-HU" sz="1400" dirty="0" smtClean="0"/>
              <a:t> </a:t>
            </a:r>
            <a:r>
              <a:rPr lang="hu-HU" sz="1400" b="1" dirty="0" err="1" smtClean="0"/>
              <a:t>similarities</a:t>
            </a:r>
            <a:r>
              <a:rPr lang="hu-HU" sz="1400" b="1" dirty="0" smtClean="0"/>
              <a:t> and </a:t>
            </a:r>
            <a:r>
              <a:rPr lang="hu-HU" sz="1400" b="1" dirty="0" err="1" smtClean="0"/>
              <a:t>differences</a:t>
            </a:r>
            <a:r>
              <a:rPr lang="hu-HU" sz="1400" b="1" dirty="0" smtClean="0"/>
              <a:t> </a:t>
            </a:r>
            <a:r>
              <a:rPr lang="hu-HU" sz="1400" dirty="0" err="1" smtClean="0"/>
              <a:t>between</a:t>
            </a:r>
            <a:r>
              <a:rPr lang="hu-HU" sz="1400" dirty="0" smtClean="0"/>
              <a:t> </a:t>
            </a:r>
            <a:r>
              <a:rPr lang="hu-HU" sz="1400" dirty="0" err="1" smtClean="0"/>
              <a:t>meanings</a:t>
            </a:r>
            <a:r>
              <a:rPr lang="hu-HU" sz="1400" dirty="0" smtClean="0"/>
              <a:t> of </a:t>
            </a:r>
            <a:r>
              <a:rPr lang="hu-HU" sz="1400" dirty="0" err="1" smtClean="0"/>
              <a:t>words</a:t>
            </a:r>
            <a:r>
              <a:rPr lang="hu-HU" sz="1400" dirty="0" smtClean="0"/>
              <a:t>.</a:t>
            </a:r>
          </a:p>
          <a:p>
            <a:r>
              <a:rPr lang="hu-HU" sz="1600" b="1" dirty="0" smtClean="0"/>
              <a:t>Strong </a:t>
            </a:r>
            <a:r>
              <a:rPr lang="hu-HU" sz="1600" dirty="0" err="1" smtClean="0"/>
              <a:t>distributionalism</a:t>
            </a:r>
            <a:r>
              <a:rPr lang="hu-HU" sz="1600" dirty="0" smtClean="0"/>
              <a:t>:</a:t>
            </a:r>
          </a:p>
          <a:p>
            <a:pPr lvl="1"/>
            <a:r>
              <a:rPr lang="hu-HU" sz="1400" dirty="0" err="1" smtClean="0"/>
              <a:t>DH</a:t>
            </a:r>
            <a:r>
              <a:rPr lang="hu-HU" sz="1400" dirty="0" smtClean="0"/>
              <a:t> is </a:t>
            </a:r>
            <a:r>
              <a:rPr lang="hu-HU" sz="1400" dirty="0" err="1" smtClean="0"/>
              <a:t>not</a:t>
            </a:r>
            <a:r>
              <a:rPr lang="hu-HU" sz="1400" dirty="0" smtClean="0"/>
              <a:t> </a:t>
            </a:r>
            <a:r>
              <a:rPr lang="hu-HU" sz="1400" dirty="0" err="1" smtClean="0"/>
              <a:t>so</a:t>
            </a:r>
            <a:r>
              <a:rPr lang="hu-HU" sz="1400" dirty="0" smtClean="0"/>
              <a:t> </a:t>
            </a:r>
            <a:r>
              <a:rPr lang="hu-HU" sz="1400" dirty="0" err="1" smtClean="0"/>
              <a:t>much</a:t>
            </a:r>
            <a:r>
              <a:rPr lang="hu-HU" sz="1400" dirty="0" smtClean="0"/>
              <a:t> a </a:t>
            </a:r>
            <a:r>
              <a:rPr lang="hu-HU" sz="1400" dirty="0" err="1" smtClean="0"/>
              <a:t>hypothesis</a:t>
            </a:r>
            <a:r>
              <a:rPr lang="hu-HU" sz="1400" dirty="0" smtClean="0"/>
              <a:t> </a:t>
            </a:r>
            <a:r>
              <a:rPr lang="hu-HU" sz="1400" dirty="0" err="1" smtClean="0"/>
              <a:t>but</a:t>
            </a:r>
            <a:r>
              <a:rPr lang="hu-HU" sz="1400" dirty="0" smtClean="0"/>
              <a:t> </a:t>
            </a:r>
            <a:r>
              <a:rPr lang="hu-HU" sz="1400" dirty="0" err="1" smtClean="0"/>
              <a:t>rather</a:t>
            </a:r>
            <a:r>
              <a:rPr lang="hu-HU" sz="1400" dirty="0" smtClean="0"/>
              <a:t> </a:t>
            </a:r>
            <a:r>
              <a:rPr lang="hu-HU" sz="1400" dirty="0" err="1" smtClean="0"/>
              <a:t>some</a:t>
            </a:r>
            <a:r>
              <a:rPr lang="hu-HU" sz="1400" dirty="0" smtClean="0"/>
              <a:t> sort of </a:t>
            </a:r>
            <a:r>
              <a:rPr lang="hu-HU" sz="1400" dirty="0" err="1" smtClean="0"/>
              <a:t>definition</a:t>
            </a:r>
            <a:r>
              <a:rPr lang="hu-HU" sz="1400" dirty="0" smtClean="0"/>
              <a:t> </a:t>
            </a:r>
            <a:r>
              <a:rPr lang="hu-HU" sz="1400" dirty="0" err="1" smtClean="0"/>
              <a:t>of</a:t>
            </a:r>
            <a:r>
              <a:rPr lang="hu-HU" sz="1400" dirty="0" smtClean="0"/>
              <a:t> </a:t>
            </a:r>
            <a:r>
              <a:rPr lang="hu-HU" sz="1400" dirty="0" err="1" smtClean="0"/>
              <a:t>meaning</a:t>
            </a:r>
            <a:r>
              <a:rPr lang="hu-HU" sz="1400" dirty="0" smtClean="0"/>
              <a:t>.</a:t>
            </a:r>
          </a:p>
          <a:p>
            <a:pPr lvl="1"/>
            <a:r>
              <a:rPr lang="hu-HU" sz="1400" dirty="0" err="1" smtClean="0"/>
              <a:t>Meaning</a:t>
            </a:r>
            <a:r>
              <a:rPr lang="hu-HU" sz="1400" dirty="0" smtClean="0"/>
              <a:t> is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use</a:t>
            </a:r>
            <a:r>
              <a:rPr lang="hu-HU" sz="1400" dirty="0" smtClean="0"/>
              <a:t> of a </a:t>
            </a:r>
            <a:r>
              <a:rPr lang="hu-HU" sz="1400" dirty="0" err="1" smtClean="0"/>
              <a:t>word</a:t>
            </a:r>
            <a:r>
              <a:rPr lang="hu-HU" sz="1400" dirty="0" smtClean="0"/>
              <a:t> </a:t>
            </a:r>
            <a:r>
              <a:rPr lang="hu-HU" sz="1400" dirty="0" err="1" smtClean="0"/>
              <a:t>in</a:t>
            </a:r>
            <a:r>
              <a:rPr lang="hu-HU" sz="1400" dirty="0" smtClean="0"/>
              <a:t> </a:t>
            </a:r>
            <a:r>
              <a:rPr lang="hu-HU" sz="1400" dirty="0" err="1" smtClean="0"/>
              <a:t>linguistic</a:t>
            </a:r>
            <a:r>
              <a:rPr lang="hu-HU" sz="1400" dirty="0" smtClean="0"/>
              <a:t> </a:t>
            </a:r>
            <a:r>
              <a:rPr lang="hu-HU" sz="1400" dirty="0" err="1" smtClean="0"/>
              <a:t>contexts</a:t>
            </a:r>
            <a:r>
              <a:rPr lang="hu-HU" sz="1400" dirty="0" smtClean="0"/>
              <a:t>. </a:t>
            </a:r>
            <a:r>
              <a:rPr lang="hu-HU" sz="1400" dirty="0" err="1" smtClean="0"/>
              <a:t>In</a:t>
            </a:r>
            <a:r>
              <a:rPr lang="hu-HU" sz="1400" dirty="0" smtClean="0"/>
              <a:t> </a:t>
            </a:r>
            <a:r>
              <a:rPr lang="hu-HU" sz="1400" dirty="0" err="1" smtClean="0"/>
              <a:t>other</a:t>
            </a:r>
            <a:r>
              <a:rPr lang="hu-HU" sz="1400" dirty="0" smtClean="0"/>
              <a:t> </a:t>
            </a:r>
            <a:r>
              <a:rPr lang="hu-HU" sz="1400" dirty="0" err="1" smtClean="0"/>
              <a:t>words</a:t>
            </a:r>
            <a:r>
              <a:rPr lang="hu-HU" sz="1400" dirty="0" smtClean="0"/>
              <a:t>, </a:t>
            </a:r>
            <a:r>
              <a:rPr lang="hu-HU" sz="1400" dirty="0" err="1" smtClean="0"/>
              <a:t>distribution</a:t>
            </a:r>
            <a:r>
              <a:rPr lang="hu-HU" sz="1400" dirty="0" smtClean="0"/>
              <a:t> </a:t>
            </a:r>
            <a:r>
              <a:rPr lang="hu-HU" sz="1400" b="1" dirty="0" err="1" smtClean="0"/>
              <a:t>constitutes</a:t>
            </a:r>
            <a:r>
              <a:rPr lang="hu-HU" sz="1400" b="1" dirty="0" smtClean="0"/>
              <a:t>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meaning</a:t>
            </a:r>
            <a:r>
              <a:rPr lang="hu-HU" sz="1400" dirty="0" smtClean="0"/>
              <a:t> of a </a:t>
            </a:r>
            <a:r>
              <a:rPr lang="hu-HU" sz="1400" dirty="0" err="1" smtClean="0"/>
              <a:t>word</a:t>
            </a:r>
            <a:r>
              <a:rPr lang="hu-HU" sz="1400" dirty="0" smtClean="0"/>
              <a:t>.</a:t>
            </a:r>
          </a:p>
          <a:p>
            <a:pPr lvl="1"/>
            <a:r>
              <a:rPr lang="hu-HU" sz="1400" dirty="0" err="1" smtClean="0"/>
              <a:t>Arguments</a:t>
            </a:r>
            <a:r>
              <a:rPr lang="hu-HU" sz="1400" dirty="0" smtClean="0"/>
              <a:t> </a:t>
            </a:r>
            <a:r>
              <a:rPr lang="hu-HU" sz="1400" dirty="0" err="1" smtClean="0"/>
              <a:t>for</a:t>
            </a:r>
            <a:r>
              <a:rPr lang="hu-HU" sz="1400" dirty="0" smtClean="0"/>
              <a:t> </a:t>
            </a:r>
            <a:r>
              <a:rPr lang="hu-HU" sz="1400" dirty="0" err="1" smtClean="0"/>
              <a:t>strong</a:t>
            </a:r>
            <a:r>
              <a:rPr lang="hu-HU" sz="1400" dirty="0" smtClean="0"/>
              <a:t> </a:t>
            </a:r>
            <a:r>
              <a:rPr lang="hu-HU" sz="1400" dirty="0" err="1" smtClean="0"/>
              <a:t>distributionalism</a:t>
            </a:r>
            <a:r>
              <a:rPr lang="hu-HU" sz="1400" dirty="0" smtClean="0"/>
              <a:t>:</a:t>
            </a:r>
          </a:p>
          <a:p>
            <a:pPr lvl="2"/>
            <a:r>
              <a:rPr lang="hu-HU" sz="1400" dirty="0" err="1" smtClean="0"/>
              <a:t>Words</a:t>
            </a:r>
            <a:r>
              <a:rPr lang="hu-HU" sz="1400" dirty="0" smtClean="0"/>
              <a:t> </a:t>
            </a:r>
            <a:r>
              <a:rPr lang="hu-HU" sz="1400" dirty="0" err="1" smtClean="0"/>
              <a:t>with</a:t>
            </a:r>
            <a:r>
              <a:rPr lang="hu-HU" sz="1400" dirty="0" smtClean="0"/>
              <a:t> an </a:t>
            </a:r>
            <a:r>
              <a:rPr lang="hu-HU" sz="1400" b="1" dirty="0" err="1" smtClean="0"/>
              <a:t>abstract</a:t>
            </a:r>
            <a:r>
              <a:rPr lang="hu-HU" sz="1400" b="1" dirty="0" smtClean="0"/>
              <a:t> </a:t>
            </a:r>
            <a:r>
              <a:rPr lang="hu-HU" sz="1400" dirty="0" err="1" smtClean="0"/>
              <a:t>meaning</a:t>
            </a:r>
            <a:r>
              <a:rPr lang="hu-HU" sz="1400" dirty="0" smtClean="0"/>
              <a:t>: </a:t>
            </a:r>
            <a:r>
              <a:rPr lang="hu-HU" sz="1400" i="1" dirty="0" err="1" smtClean="0"/>
              <a:t>rule</a:t>
            </a:r>
            <a:r>
              <a:rPr lang="hu-HU" sz="1400" i="1" dirty="0" smtClean="0"/>
              <a:t>, </a:t>
            </a:r>
            <a:r>
              <a:rPr lang="hu-HU" sz="1400" i="1" dirty="0" err="1" smtClean="0"/>
              <a:t>knowledge</a:t>
            </a:r>
            <a:r>
              <a:rPr lang="hu-HU" sz="1400" i="1" dirty="0" smtClean="0"/>
              <a:t> </a:t>
            </a:r>
            <a:r>
              <a:rPr lang="hu-HU" sz="1400" dirty="0" smtClean="0"/>
              <a:t>– </a:t>
            </a:r>
            <a:r>
              <a:rPr lang="hu-HU" sz="1400" dirty="0" err="1" smtClean="0"/>
              <a:t>do</a:t>
            </a:r>
            <a:r>
              <a:rPr lang="hu-HU" sz="1400" dirty="0" smtClean="0"/>
              <a:t> </a:t>
            </a:r>
            <a:r>
              <a:rPr lang="hu-HU" sz="1400" dirty="0" err="1" smtClean="0"/>
              <a:t>not</a:t>
            </a:r>
            <a:r>
              <a:rPr lang="hu-HU" sz="1400" dirty="0" smtClean="0"/>
              <a:t> </a:t>
            </a:r>
            <a:r>
              <a:rPr lang="hu-HU" sz="1400" dirty="0" err="1" smtClean="0"/>
              <a:t>refer</a:t>
            </a:r>
            <a:r>
              <a:rPr lang="hu-HU" sz="1400" dirty="0" smtClean="0"/>
              <a:t> </a:t>
            </a:r>
            <a:r>
              <a:rPr lang="hu-HU" sz="1400" dirty="0" err="1" smtClean="0"/>
              <a:t>to</a:t>
            </a:r>
            <a:r>
              <a:rPr lang="hu-HU" sz="1400" dirty="0" smtClean="0"/>
              <a:t> </a:t>
            </a:r>
            <a:r>
              <a:rPr lang="hu-HU" sz="1400" dirty="0" err="1" smtClean="0"/>
              <a:t>something</a:t>
            </a:r>
            <a:r>
              <a:rPr lang="hu-HU" sz="1400" dirty="0" smtClean="0"/>
              <a:t> </a:t>
            </a:r>
            <a:r>
              <a:rPr lang="hu-HU" sz="1400" dirty="0" err="1" smtClean="0"/>
              <a:t>in</a:t>
            </a:r>
            <a:r>
              <a:rPr lang="hu-HU" sz="1400" dirty="0" smtClean="0"/>
              <a:t>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world</a:t>
            </a:r>
            <a:r>
              <a:rPr lang="hu-HU" sz="1400" dirty="0" smtClean="0"/>
              <a:t>.</a:t>
            </a:r>
          </a:p>
          <a:p>
            <a:pPr lvl="2"/>
            <a:r>
              <a:rPr lang="hu-HU" sz="1400" dirty="0" err="1" smtClean="0"/>
              <a:t>Names</a:t>
            </a:r>
            <a:r>
              <a:rPr lang="hu-HU" sz="1400" dirty="0" smtClean="0"/>
              <a:t> of </a:t>
            </a:r>
            <a:r>
              <a:rPr lang="hu-HU" sz="1400" dirty="0" err="1" smtClean="0"/>
              <a:t>so-called</a:t>
            </a:r>
            <a:r>
              <a:rPr lang="hu-HU" sz="1400" dirty="0" smtClean="0"/>
              <a:t> </a:t>
            </a:r>
            <a:r>
              <a:rPr lang="hu-HU" sz="1400" b="1" dirty="0" err="1" smtClean="0"/>
              <a:t>natural</a:t>
            </a:r>
            <a:r>
              <a:rPr lang="hu-HU" sz="1400" b="1" dirty="0" smtClean="0"/>
              <a:t> </a:t>
            </a:r>
            <a:r>
              <a:rPr lang="hu-HU" sz="1400" b="1" dirty="0" err="1" smtClean="0"/>
              <a:t>kinds</a:t>
            </a:r>
            <a:r>
              <a:rPr lang="hu-HU" sz="1400" dirty="0" smtClean="0"/>
              <a:t>, </a:t>
            </a:r>
            <a:r>
              <a:rPr lang="hu-HU" sz="1400" dirty="0" err="1" smtClean="0"/>
              <a:t>e.g</a:t>
            </a:r>
            <a:r>
              <a:rPr lang="hu-HU" sz="1400" dirty="0" smtClean="0"/>
              <a:t>. </a:t>
            </a:r>
            <a:r>
              <a:rPr lang="hu-HU" sz="1400" i="1" dirty="0" err="1" smtClean="0"/>
              <a:t>elm</a:t>
            </a:r>
            <a:r>
              <a:rPr lang="hu-HU" sz="1400" dirty="0" smtClean="0"/>
              <a:t> – </a:t>
            </a:r>
            <a:r>
              <a:rPr lang="hu-HU" sz="1400" dirty="0" err="1" smtClean="0"/>
              <a:t>Recognising</a:t>
            </a:r>
            <a:r>
              <a:rPr lang="hu-HU" sz="1400" dirty="0" smtClean="0"/>
              <a:t> a </a:t>
            </a:r>
            <a:r>
              <a:rPr lang="hu-HU" sz="1400" dirty="0" err="1" smtClean="0"/>
              <a:t>real</a:t>
            </a:r>
            <a:r>
              <a:rPr lang="hu-HU" sz="1400" dirty="0" smtClean="0"/>
              <a:t> </a:t>
            </a:r>
            <a:r>
              <a:rPr lang="hu-HU" sz="1400" dirty="0" err="1" smtClean="0"/>
              <a:t>elm</a:t>
            </a:r>
            <a:r>
              <a:rPr lang="hu-HU" sz="1400" dirty="0" smtClean="0"/>
              <a:t> </a:t>
            </a:r>
            <a:r>
              <a:rPr lang="hu-HU" sz="1400" dirty="0" err="1" smtClean="0"/>
              <a:t>tree</a:t>
            </a:r>
            <a:r>
              <a:rPr lang="hu-HU" sz="1400" dirty="0" smtClean="0"/>
              <a:t> is </a:t>
            </a:r>
            <a:r>
              <a:rPr lang="hu-HU" sz="1400" dirty="0" err="1" smtClean="0"/>
              <a:t>not</a:t>
            </a:r>
            <a:r>
              <a:rPr lang="hu-HU" sz="1400" dirty="0" smtClean="0"/>
              <a:t> </a:t>
            </a:r>
            <a:r>
              <a:rPr lang="hu-HU" sz="1400" dirty="0" err="1" smtClean="0"/>
              <a:t>linguistic</a:t>
            </a:r>
            <a:r>
              <a:rPr lang="hu-HU" sz="1400" dirty="0" smtClean="0"/>
              <a:t> </a:t>
            </a:r>
            <a:r>
              <a:rPr lang="hu-HU" sz="1400" dirty="0" err="1" smtClean="0"/>
              <a:t>but</a:t>
            </a:r>
            <a:r>
              <a:rPr lang="hu-HU" sz="1400" dirty="0" smtClean="0"/>
              <a:t> </a:t>
            </a:r>
            <a:r>
              <a:rPr lang="hu-HU" sz="1400" dirty="0" err="1" smtClean="0"/>
              <a:t>botanical</a:t>
            </a:r>
            <a:r>
              <a:rPr lang="hu-HU" sz="1400" dirty="0" smtClean="0"/>
              <a:t> </a:t>
            </a:r>
            <a:r>
              <a:rPr lang="hu-HU" sz="1400" dirty="0" err="1" smtClean="0"/>
              <a:t>knowledge</a:t>
            </a:r>
            <a:r>
              <a:rPr lang="hu-HU" sz="1400" dirty="0" smtClean="0"/>
              <a:t>. </a:t>
            </a:r>
            <a:r>
              <a:rPr lang="hu-HU" sz="1400" dirty="0" err="1" smtClean="0"/>
              <a:t>We</a:t>
            </a:r>
            <a:r>
              <a:rPr lang="hu-HU" sz="1400" dirty="0" smtClean="0"/>
              <a:t> </a:t>
            </a:r>
            <a:r>
              <a:rPr lang="hu-HU" sz="1400" dirty="0" err="1" smtClean="0"/>
              <a:t>know</a:t>
            </a:r>
            <a:r>
              <a:rPr lang="hu-HU" sz="1400" dirty="0" smtClean="0"/>
              <a:t>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meaning</a:t>
            </a:r>
            <a:r>
              <a:rPr lang="hu-HU" sz="1400" dirty="0" smtClean="0"/>
              <a:t> of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word</a:t>
            </a:r>
            <a:r>
              <a:rPr lang="hu-HU" sz="1400" dirty="0" smtClean="0"/>
              <a:t> (</a:t>
            </a:r>
            <a:r>
              <a:rPr lang="hu-HU" sz="1400" dirty="0" err="1" smtClean="0"/>
              <a:t>at</a:t>
            </a:r>
            <a:r>
              <a:rPr lang="hu-HU" sz="1400" dirty="0" smtClean="0"/>
              <a:t> </a:t>
            </a:r>
            <a:r>
              <a:rPr lang="hu-HU" sz="1400" dirty="0" err="1" smtClean="0"/>
              <a:t>least</a:t>
            </a:r>
            <a:r>
              <a:rPr lang="hu-HU" sz="1400" dirty="0" smtClean="0"/>
              <a:t> </a:t>
            </a:r>
            <a:r>
              <a:rPr lang="hu-HU" sz="1400" dirty="0" err="1" smtClean="0"/>
              <a:t>partially</a:t>
            </a:r>
            <a:r>
              <a:rPr lang="hu-HU" sz="1400" dirty="0" smtClean="0"/>
              <a:t>) </a:t>
            </a:r>
            <a:r>
              <a:rPr lang="hu-HU" sz="1400" dirty="0" err="1" smtClean="0"/>
              <a:t>if</a:t>
            </a:r>
            <a:r>
              <a:rPr lang="hu-HU" sz="1400" dirty="0" smtClean="0"/>
              <a:t> </a:t>
            </a:r>
            <a:r>
              <a:rPr lang="hu-HU" sz="1400" dirty="0" err="1" smtClean="0"/>
              <a:t>we</a:t>
            </a:r>
            <a:r>
              <a:rPr lang="hu-HU" sz="1400" dirty="0" smtClean="0"/>
              <a:t> </a:t>
            </a:r>
            <a:r>
              <a:rPr lang="hu-HU" sz="1400" dirty="0" err="1" smtClean="0"/>
              <a:t>know</a:t>
            </a:r>
            <a:r>
              <a:rPr lang="hu-HU" sz="1400" dirty="0" smtClean="0"/>
              <a:t> </a:t>
            </a:r>
            <a:r>
              <a:rPr lang="hu-HU" sz="1400" dirty="0" err="1" smtClean="0"/>
              <a:t>that</a:t>
            </a:r>
            <a:r>
              <a:rPr lang="hu-HU" sz="1400" dirty="0" smtClean="0"/>
              <a:t> an </a:t>
            </a:r>
            <a:r>
              <a:rPr lang="hu-HU" sz="1400" dirty="0" err="1" smtClean="0"/>
              <a:t>elm</a:t>
            </a:r>
            <a:r>
              <a:rPr lang="hu-HU" sz="1400" dirty="0" smtClean="0"/>
              <a:t> is a </a:t>
            </a:r>
            <a:r>
              <a:rPr lang="hu-HU" sz="1400" dirty="0" err="1" smtClean="0"/>
              <a:t>tree</a:t>
            </a:r>
            <a:r>
              <a:rPr lang="hu-HU" sz="1400" dirty="0" smtClean="0"/>
              <a:t>.</a:t>
            </a:r>
          </a:p>
          <a:p>
            <a:pPr lvl="2"/>
            <a:r>
              <a:rPr lang="hu-HU" sz="1400" b="1" dirty="0" err="1" smtClean="0"/>
              <a:t>Learning</a:t>
            </a:r>
            <a:r>
              <a:rPr lang="hu-HU" sz="1400" b="1" dirty="0" smtClean="0"/>
              <a:t> </a:t>
            </a:r>
            <a:r>
              <a:rPr lang="hu-HU" sz="1400" b="1" dirty="0" err="1" smtClean="0"/>
              <a:t>the</a:t>
            </a:r>
            <a:r>
              <a:rPr lang="hu-HU" sz="1400" b="1" dirty="0" smtClean="0"/>
              <a:t> </a:t>
            </a:r>
            <a:r>
              <a:rPr lang="hu-HU" sz="1400" b="1" dirty="0" err="1" smtClean="0"/>
              <a:t>meanings</a:t>
            </a:r>
            <a:r>
              <a:rPr lang="hu-HU" sz="1400" b="1" dirty="0" smtClean="0"/>
              <a:t> of </a:t>
            </a:r>
            <a:r>
              <a:rPr lang="hu-HU" sz="1400" b="1" dirty="0" err="1" smtClean="0"/>
              <a:t>words</a:t>
            </a:r>
            <a:r>
              <a:rPr lang="hu-HU" sz="1400" dirty="0" smtClean="0"/>
              <a:t>: </a:t>
            </a:r>
            <a:r>
              <a:rPr lang="hu-HU" sz="1400" dirty="0" err="1" smtClean="0"/>
              <a:t>Schoolchildren</a:t>
            </a:r>
            <a:r>
              <a:rPr lang="hu-HU" sz="1400" dirty="0" smtClean="0"/>
              <a:t> </a:t>
            </a:r>
            <a:r>
              <a:rPr lang="hu-HU" sz="1400" dirty="0" err="1" smtClean="0"/>
              <a:t>learn</a:t>
            </a:r>
            <a:r>
              <a:rPr lang="hu-HU" sz="1400" dirty="0" smtClean="0"/>
              <a:t> </a:t>
            </a:r>
            <a:r>
              <a:rPr lang="hu-HU" sz="1400" dirty="0" err="1" smtClean="0"/>
              <a:t>about</a:t>
            </a:r>
            <a:r>
              <a:rPr lang="hu-HU" sz="1400" dirty="0" smtClean="0"/>
              <a:t> 10 </a:t>
            </a:r>
            <a:r>
              <a:rPr lang="hu-HU" sz="1400" dirty="0" err="1" smtClean="0"/>
              <a:t>words</a:t>
            </a:r>
            <a:r>
              <a:rPr lang="hu-HU" sz="1400" dirty="0" smtClean="0"/>
              <a:t> </a:t>
            </a:r>
            <a:r>
              <a:rPr lang="hu-HU" sz="1400" dirty="0" err="1" smtClean="0"/>
              <a:t>on</a:t>
            </a:r>
            <a:r>
              <a:rPr lang="hu-HU" sz="1400" dirty="0" smtClean="0"/>
              <a:t> </a:t>
            </a:r>
            <a:r>
              <a:rPr lang="hu-HU" sz="1400" dirty="0" err="1" smtClean="0"/>
              <a:t>average</a:t>
            </a:r>
            <a:r>
              <a:rPr lang="hu-HU" sz="1400" dirty="0" smtClean="0"/>
              <a:t> per </a:t>
            </a:r>
            <a:r>
              <a:rPr lang="hu-HU" sz="1400" dirty="0" err="1" smtClean="0"/>
              <a:t>day</a:t>
            </a:r>
            <a:r>
              <a:rPr lang="hu-HU" sz="1400" dirty="0" smtClean="0"/>
              <a:t>. </a:t>
            </a:r>
            <a:r>
              <a:rPr lang="hu-HU" sz="1400" dirty="0" err="1" smtClean="0"/>
              <a:t>They</a:t>
            </a:r>
            <a:r>
              <a:rPr lang="hu-HU" sz="1400" dirty="0" smtClean="0"/>
              <a:t> </a:t>
            </a:r>
            <a:r>
              <a:rPr lang="hu-HU" sz="1400" dirty="0" err="1" smtClean="0"/>
              <a:t>learn</a:t>
            </a:r>
            <a:r>
              <a:rPr lang="hu-HU" sz="1400" dirty="0" smtClean="0"/>
              <a:t> </a:t>
            </a:r>
            <a:r>
              <a:rPr lang="hu-HU" sz="1400" dirty="0" err="1" smtClean="0"/>
              <a:t>these</a:t>
            </a:r>
            <a:r>
              <a:rPr lang="hu-HU" sz="1400" dirty="0" smtClean="0"/>
              <a:t> </a:t>
            </a:r>
            <a:r>
              <a:rPr lang="hu-HU" sz="1400" dirty="0" err="1" smtClean="0"/>
              <a:t>not</a:t>
            </a:r>
            <a:r>
              <a:rPr lang="hu-HU" sz="1400" dirty="0" smtClean="0"/>
              <a:t> </a:t>
            </a:r>
            <a:r>
              <a:rPr lang="hu-HU" sz="1400" dirty="0" err="1" smtClean="0"/>
              <a:t>through</a:t>
            </a:r>
            <a:r>
              <a:rPr lang="hu-HU" sz="1400" dirty="0" smtClean="0"/>
              <a:t> (</a:t>
            </a:r>
            <a:r>
              <a:rPr lang="hu-HU" sz="1400" dirty="0" err="1" smtClean="0"/>
              <a:t>dictionary-like</a:t>
            </a:r>
            <a:r>
              <a:rPr lang="hu-HU" sz="1400" dirty="0" smtClean="0"/>
              <a:t>) </a:t>
            </a:r>
            <a:r>
              <a:rPr lang="hu-HU" sz="1400" dirty="0" err="1" smtClean="0"/>
              <a:t>definitions</a:t>
            </a:r>
            <a:r>
              <a:rPr lang="hu-HU" sz="1400" dirty="0"/>
              <a:t> </a:t>
            </a:r>
            <a:r>
              <a:rPr lang="hu-HU" sz="1400" dirty="0" err="1" smtClean="0"/>
              <a:t>or</a:t>
            </a:r>
            <a:r>
              <a:rPr lang="hu-HU" sz="1400" dirty="0" smtClean="0"/>
              <a:t> </a:t>
            </a:r>
            <a:r>
              <a:rPr lang="hu-HU" sz="1400" dirty="0" err="1" smtClean="0"/>
              <a:t>within</a:t>
            </a:r>
            <a:r>
              <a:rPr lang="hu-HU" sz="1400" dirty="0" smtClean="0"/>
              <a:t> </a:t>
            </a:r>
            <a:r>
              <a:rPr lang="hu-HU" sz="1400" dirty="0" err="1" smtClean="0"/>
              <a:t>situational</a:t>
            </a:r>
            <a:r>
              <a:rPr lang="hu-HU" sz="1400" dirty="0" smtClean="0"/>
              <a:t> </a:t>
            </a:r>
            <a:r>
              <a:rPr lang="hu-HU" sz="1400" dirty="0" err="1" smtClean="0"/>
              <a:t>contexts</a:t>
            </a:r>
            <a:r>
              <a:rPr lang="hu-HU" sz="1400" dirty="0" smtClean="0"/>
              <a:t>, </a:t>
            </a:r>
            <a:r>
              <a:rPr lang="hu-HU" sz="1400" dirty="0" err="1" smtClean="0"/>
              <a:t>but</a:t>
            </a:r>
            <a:r>
              <a:rPr lang="hu-HU" sz="1400" dirty="0" smtClean="0"/>
              <a:t> </a:t>
            </a:r>
            <a:r>
              <a:rPr lang="hu-HU" sz="1400" dirty="0" err="1" smtClean="0"/>
              <a:t>through</a:t>
            </a:r>
            <a:r>
              <a:rPr lang="hu-HU" sz="1400" dirty="0" smtClean="0"/>
              <a:t> </a:t>
            </a:r>
            <a:r>
              <a:rPr lang="hu-HU" sz="1400" dirty="0" err="1" smtClean="0"/>
              <a:t>one</a:t>
            </a:r>
            <a:r>
              <a:rPr lang="hu-HU" sz="1400" dirty="0" smtClean="0"/>
              <a:t> </a:t>
            </a:r>
            <a:r>
              <a:rPr lang="hu-HU" sz="1400" dirty="0" err="1" smtClean="0"/>
              <a:t>or</a:t>
            </a:r>
            <a:r>
              <a:rPr lang="hu-HU" sz="1400" dirty="0" smtClean="0"/>
              <a:t> </a:t>
            </a:r>
            <a:r>
              <a:rPr lang="hu-HU" sz="1400" dirty="0" err="1" smtClean="0"/>
              <a:t>two</a:t>
            </a:r>
            <a:r>
              <a:rPr lang="hu-HU" sz="1400" dirty="0" smtClean="0"/>
              <a:t> </a:t>
            </a:r>
            <a:r>
              <a:rPr lang="hu-HU" sz="1400" dirty="0" err="1" smtClean="0"/>
              <a:t>written</a:t>
            </a:r>
            <a:r>
              <a:rPr lang="hu-HU" sz="1400" dirty="0" smtClean="0"/>
              <a:t> </a:t>
            </a:r>
            <a:r>
              <a:rPr lang="hu-HU" sz="1400" dirty="0" err="1" smtClean="0"/>
              <a:t>occurrences</a:t>
            </a:r>
            <a:r>
              <a:rPr lang="hu-HU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950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Word </a:t>
            </a:r>
            <a:r>
              <a:rPr lang="hu-HU" dirty="0" err="1"/>
              <a:t>V</a:t>
            </a:r>
            <a:r>
              <a:rPr lang="hu-HU" dirty="0" err="1" smtClean="0"/>
              <a:t>ectors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000" dirty="0" err="1" smtClean="0"/>
              <a:t>Distributional</a:t>
            </a:r>
            <a:r>
              <a:rPr lang="hu-HU" sz="2000" dirty="0" smtClean="0"/>
              <a:t> </a:t>
            </a:r>
            <a:r>
              <a:rPr lang="hu-HU" sz="2000" dirty="0" err="1" smtClean="0"/>
              <a:t>semantics</a:t>
            </a:r>
            <a:r>
              <a:rPr lang="hu-HU" sz="2000" dirty="0" smtClean="0"/>
              <a:t> </a:t>
            </a:r>
            <a:r>
              <a:rPr lang="hu-HU" sz="2000" dirty="0" err="1" smtClean="0"/>
              <a:t>represents</a:t>
            </a:r>
            <a:r>
              <a:rPr lang="hu-HU" sz="2000" dirty="0" smtClean="0"/>
              <a:t> </a:t>
            </a:r>
            <a:r>
              <a:rPr lang="hu-HU" sz="2000" dirty="0" err="1" smtClean="0"/>
              <a:t>words</a:t>
            </a:r>
            <a:r>
              <a:rPr lang="hu-HU" sz="2000" dirty="0" smtClean="0"/>
              <a:t> (</a:t>
            </a:r>
            <a:r>
              <a:rPr lang="hu-HU" sz="2000" dirty="0" err="1" smtClean="0"/>
              <a:t>meaning</a:t>
            </a:r>
            <a:r>
              <a:rPr lang="hu-HU" sz="2000" dirty="0" smtClean="0"/>
              <a:t>) </a:t>
            </a:r>
            <a:r>
              <a:rPr lang="hu-HU" sz="2000" dirty="0" err="1" smtClean="0"/>
              <a:t>with</a:t>
            </a:r>
            <a:r>
              <a:rPr lang="hu-HU" sz="2000" dirty="0" smtClean="0"/>
              <a:t> </a:t>
            </a:r>
            <a:r>
              <a:rPr lang="hu-HU" sz="2000" b="1" dirty="0" err="1" smtClean="0"/>
              <a:t>vectors</a:t>
            </a:r>
            <a:r>
              <a:rPr lang="hu-HU" sz="2000" dirty="0" smtClean="0"/>
              <a:t>.</a:t>
            </a:r>
          </a:p>
          <a:p>
            <a:pPr lvl="1"/>
            <a:r>
              <a:rPr lang="hu-HU" sz="1600" dirty="0" smtClean="0"/>
              <a:t>A </a:t>
            </a:r>
            <a:r>
              <a:rPr lang="hu-HU" sz="1600" b="1" dirty="0" err="1" smtClean="0"/>
              <a:t>vector</a:t>
            </a:r>
            <a:r>
              <a:rPr lang="hu-HU" sz="1600" b="1" dirty="0" smtClean="0"/>
              <a:t> is a </a:t>
            </a:r>
            <a:r>
              <a:rPr lang="hu-HU" sz="1600" b="1" dirty="0" err="1" smtClean="0"/>
              <a:t>k-tuple</a:t>
            </a:r>
            <a:r>
              <a:rPr lang="hu-HU" sz="1600" b="1" dirty="0" smtClean="0"/>
              <a:t> of </a:t>
            </a:r>
            <a:r>
              <a:rPr lang="hu-HU" sz="1600" b="1" dirty="0" err="1" smtClean="0"/>
              <a:t>numbers</a:t>
            </a:r>
            <a:r>
              <a:rPr lang="hu-HU" sz="1600" b="1" dirty="0"/>
              <a:t> </a:t>
            </a:r>
            <a:r>
              <a:rPr lang="hu-HU" sz="1600" dirty="0" smtClean="0"/>
              <a:t>(an </a:t>
            </a:r>
            <a:r>
              <a:rPr lang="hu-HU" sz="1600" dirty="0" err="1" smtClean="0"/>
              <a:t>ordered</a:t>
            </a:r>
            <a:r>
              <a:rPr lang="hu-HU" sz="1600" dirty="0" smtClean="0"/>
              <a:t> </a:t>
            </a:r>
            <a:r>
              <a:rPr lang="hu-HU" sz="1600" dirty="0" err="1" smtClean="0"/>
              <a:t>list</a:t>
            </a:r>
            <a:r>
              <a:rPr lang="hu-HU" sz="1600" dirty="0" smtClean="0"/>
              <a:t> of k </a:t>
            </a:r>
            <a:r>
              <a:rPr lang="hu-HU" sz="1600" dirty="0" err="1" smtClean="0"/>
              <a:t>numbers</a:t>
            </a:r>
            <a:r>
              <a:rPr lang="hu-HU" sz="1600" dirty="0" smtClean="0"/>
              <a:t>), </a:t>
            </a:r>
            <a:r>
              <a:rPr lang="hu-HU" sz="1600" dirty="0" err="1" smtClean="0"/>
              <a:t>k</a:t>
            </a:r>
            <a:r>
              <a:rPr lang="hu-HU" sz="1600" dirty="0" smtClean="0"/>
              <a:t> is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b="1" dirty="0" err="1" smtClean="0"/>
              <a:t>dimension</a:t>
            </a:r>
            <a:r>
              <a:rPr lang="hu-HU" sz="1600" b="1" dirty="0" smtClean="0"/>
              <a:t> </a:t>
            </a:r>
            <a:r>
              <a:rPr lang="hu-HU" sz="1600" dirty="0" smtClean="0"/>
              <a:t>of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vector</a:t>
            </a:r>
            <a:r>
              <a:rPr lang="hu-HU" sz="1600" dirty="0" smtClean="0"/>
              <a:t>.</a:t>
            </a:r>
          </a:p>
          <a:p>
            <a:pPr lvl="2"/>
            <a:r>
              <a:rPr lang="hu-HU" sz="1400" dirty="0" smtClean="0"/>
              <a:t>[-1,1; 2,0] is a 2-dimensional </a:t>
            </a:r>
            <a:r>
              <a:rPr lang="hu-HU" sz="1400" dirty="0" err="1" smtClean="0"/>
              <a:t>vector</a:t>
            </a:r>
            <a:r>
              <a:rPr lang="hu-HU" sz="1400" dirty="0" smtClean="0"/>
              <a:t>.</a:t>
            </a:r>
          </a:p>
          <a:p>
            <a:pPr lvl="1"/>
            <a:r>
              <a:rPr lang="hu-HU" sz="1600" dirty="0" err="1" smtClean="0"/>
              <a:t>Each</a:t>
            </a:r>
            <a:r>
              <a:rPr lang="hu-HU" sz="1600" dirty="0" smtClean="0"/>
              <a:t> </a:t>
            </a:r>
            <a:r>
              <a:rPr lang="hu-HU" sz="1600" dirty="0" err="1" smtClean="0"/>
              <a:t>vector</a:t>
            </a:r>
            <a:r>
              <a:rPr lang="hu-HU" sz="1600" dirty="0" smtClean="0"/>
              <a:t> </a:t>
            </a:r>
            <a:r>
              <a:rPr lang="hu-HU" sz="1600" dirty="0" err="1" smtClean="0"/>
              <a:t>identifies</a:t>
            </a:r>
            <a:r>
              <a:rPr lang="hu-HU" sz="1600" dirty="0" smtClean="0"/>
              <a:t> a </a:t>
            </a:r>
            <a:r>
              <a:rPr lang="hu-HU" sz="1600" dirty="0" err="1" smtClean="0"/>
              <a:t>point</a:t>
            </a:r>
            <a:r>
              <a:rPr lang="hu-HU" sz="1600" dirty="0" smtClean="0"/>
              <a:t> </a:t>
            </a:r>
            <a:r>
              <a:rPr lang="hu-HU" sz="1600" dirty="0" err="1" smtClean="0"/>
              <a:t>in</a:t>
            </a:r>
            <a:r>
              <a:rPr lang="hu-HU" sz="1600" dirty="0" smtClean="0"/>
              <a:t> </a:t>
            </a:r>
            <a:r>
              <a:rPr lang="hu-HU" sz="1600" dirty="0" err="1" smtClean="0"/>
              <a:t>a</a:t>
            </a:r>
            <a:r>
              <a:rPr lang="hu-HU" sz="1600" dirty="0" smtClean="0"/>
              <a:t> </a:t>
            </a:r>
            <a:r>
              <a:rPr lang="hu-HU" sz="1600" dirty="0" err="1" smtClean="0"/>
              <a:t>k-dimensional</a:t>
            </a:r>
            <a:r>
              <a:rPr lang="hu-HU" sz="1600" dirty="0" smtClean="0"/>
              <a:t> </a:t>
            </a:r>
            <a:r>
              <a:rPr lang="hu-HU" sz="1600" dirty="0" err="1" smtClean="0"/>
              <a:t>space</a:t>
            </a:r>
            <a:r>
              <a:rPr lang="hu-HU" sz="1600" dirty="0" smtClean="0"/>
              <a:t> </a:t>
            </a:r>
            <a:r>
              <a:rPr lang="hu-HU" sz="1600" dirty="0" err="1" smtClean="0"/>
              <a:t>relative</a:t>
            </a:r>
            <a:r>
              <a:rPr lang="hu-HU" sz="1600" dirty="0" smtClean="0"/>
              <a:t> </a:t>
            </a:r>
            <a:r>
              <a:rPr lang="hu-HU" sz="1600" dirty="0" err="1" smtClean="0"/>
              <a:t>to</a:t>
            </a:r>
            <a:r>
              <a:rPr lang="hu-HU" sz="1600" dirty="0" smtClean="0"/>
              <a:t>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origin</a:t>
            </a:r>
            <a:r>
              <a:rPr lang="hu-HU" sz="1600" dirty="0" smtClean="0"/>
              <a:t>; </a:t>
            </a:r>
            <a:r>
              <a:rPr lang="hu-HU" sz="1600" dirty="0" err="1" smtClean="0"/>
              <a:t>this</a:t>
            </a:r>
            <a:r>
              <a:rPr lang="hu-HU" sz="1600" dirty="0" smtClean="0"/>
              <a:t> </a:t>
            </a:r>
            <a:r>
              <a:rPr lang="hu-HU" sz="1600" dirty="0" err="1" smtClean="0"/>
              <a:t>space</a:t>
            </a:r>
            <a:r>
              <a:rPr lang="hu-HU" sz="1600" dirty="0" smtClean="0"/>
              <a:t> is </a:t>
            </a:r>
            <a:r>
              <a:rPr lang="hu-HU" sz="1600" dirty="0" err="1" smtClean="0"/>
              <a:t>called</a:t>
            </a:r>
            <a:r>
              <a:rPr lang="hu-HU" sz="1600" dirty="0" smtClean="0"/>
              <a:t>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vector</a:t>
            </a:r>
            <a:r>
              <a:rPr lang="hu-HU" sz="1600" dirty="0" smtClean="0"/>
              <a:t> </a:t>
            </a:r>
            <a:r>
              <a:rPr lang="hu-HU" sz="1600" dirty="0" err="1" smtClean="0"/>
              <a:t>space</a:t>
            </a:r>
            <a:r>
              <a:rPr lang="hu-HU" sz="1600" dirty="0" smtClean="0"/>
              <a:t>.</a:t>
            </a:r>
          </a:p>
          <a:p>
            <a:pPr lvl="1"/>
            <a:r>
              <a:rPr lang="hu-HU" sz="1600" dirty="0" smtClean="0"/>
              <a:t>The </a:t>
            </a:r>
            <a:r>
              <a:rPr lang="hu-HU" sz="1600" dirty="0" err="1" smtClean="0"/>
              <a:t>numbers</a:t>
            </a:r>
            <a:r>
              <a:rPr lang="hu-HU" sz="1600" dirty="0" smtClean="0"/>
              <a:t> </a:t>
            </a:r>
            <a:r>
              <a:rPr lang="hu-HU" sz="1600" dirty="0" err="1" smtClean="0"/>
              <a:t>that</a:t>
            </a:r>
            <a:r>
              <a:rPr lang="hu-HU" sz="1600" dirty="0" smtClean="0"/>
              <a:t> </a:t>
            </a:r>
            <a:r>
              <a:rPr lang="hu-HU" sz="1600" dirty="0" err="1" smtClean="0"/>
              <a:t>constitute</a:t>
            </a:r>
            <a:r>
              <a:rPr lang="hu-HU" sz="1600" dirty="0" smtClean="0"/>
              <a:t>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vector</a:t>
            </a:r>
            <a:r>
              <a:rPr lang="hu-HU" sz="1600" dirty="0" smtClean="0"/>
              <a:t> </a:t>
            </a:r>
            <a:r>
              <a:rPr lang="hu-HU" sz="1600" dirty="0" err="1" smtClean="0"/>
              <a:t>are</a:t>
            </a:r>
            <a:r>
              <a:rPr lang="hu-HU" sz="1600" dirty="0" smtClean="0"/>
              <a:t> </a:t>
            </a:r>
            <a:r>
              <a:rPr lang="hu-HU" sz="1600" dirty="0" err="1" smtClean="0"/>
              <a:t>called</a:t>
            </a:r>
            <a:r>
              <a:rPr lang="hu-HU" sz="1600" dirty="0" smtClean="0"/>
              <a:t> </a:t>
            </a:r>
            <a:r>
              <a:rPr lang="hu-HU" sz="1600" dirty="0" err="1" smtClean="0"/>
              <a:t>elements</a:t>
            </a:r>
            <a:r>
              <a:rPr lang="hu-HU" sz="1600" dirty="0" smtClean="0"/>
              <a:t> </a:t>
            </a:r>
            <a:r>
              <a:rPr lang="hu-HU" sz="1600" dirty="0" err="1" smtClean="0"/>
              <a:t>or</a:t>
            </a:r>
            <a:r>
              <a:rPr lang="hu-HU" sz="1600" dirty="0" smtClean="0"/>
              <a:t> </a:t>
            </a:r>
            <a:r>
              <a:rPr lang="hu-HU" sz="1600" dirty="0" err="1" smtClean="0"/>
              <a:t>coordinates</a:t>
            </a:r>
            <a:r>
              <a:rPr lang="hu-HU" sz="1600" dirty="0" smtClean="0"/>
              <a:t>. </a:t>
            </a:r>
            <a:r>
              <a:rPr lang="hu-HU" sz="1600" dirty="0" err="1" smtClean="0"/>
              <a:t>We</a:t>
            </a:r>
            <a:r>
              <a:rPr lang="hu-HU" sz="1600" dirty="0" smtClean="0"/>
              <a:t> </a:t>
            </a:r>
            <a:r>
              <a:rPr lang="hu-HU" sz="1600" dirty="0" err="1" smtClean="0"/>
              <a:t>can</a:t>
            </a:r>
            <a:r>
              <a:rPr lang="hu-HU" sz="1600" dirty="0" smtClean="0"/>
              <a:t> </a:t>
            </a:r>
            <a:r>
              <a:rPr lang="hu-HU" sz="1600" dirty="0" err="1" smtClean="0"/>
              <a:t>consider</a:t>
            </a:r>
            <a:r>
              <a:rPr lang="hu-HU" sz="1600" dirty="0" smtClean="0"/>
              <a:t> </a:t>
            </a:r>
            <a:r>
              <a:rPr lang="hu-HU" sz="1600" dirty="0" err="1" smtClean="0"/>
              <a:t>each</a:t>
            </a:r>
            <a:r>
              <a:rPr lang="hu-HU" sz="1600" dirty="0" smtClean="0"/>
              <a:t> </a:t>
            </a:r>
            <a:r>
              <a:rPr lang="hu-HU" sz="1600" dirty="0" err="1" smtClean="0"/>
              <a:t>element</a:t>
            </a:r>
            <a:r>
              <a:rPr lang="hu-HU" sz="1600" dirty="0" smtClean="0"/>
              <a:t> of a </a:t>
            </a:r>
            <a:r>
              <a:rPr lang="hu-HU" sz="1600" dirty="0" err="1" smtClean="0"/>
              <a:t>vector</a:t>
            </a:r>
            <a:r>
              <a:rPr lang="hu-HU" sz="1600" dirty="0" smtClean="0"/>
              <a:t> </a:t>
            </a:r>
            <a:r>
              <a:rPr lang="hu-HU" sz="1600" dirty="0" err="1" smtClean="0"/>
              <a:t>as</a:t>
            </a:r>
            <a:r>
              <a:rPr lang="hu-HU" sz="1600" dirty="0" smtClean="0"/>
              <a:t> </a:t>
            </a:r>
            <a:r>
              <a:rPr lang="hu-HU" sz="1600" dirty="0" err="1" smtClean="0"/>
              <a:t>a</a:t>
            </a:r>
            <a:r>
              <a:rPr lang="hu-HU" sz="1600" dirty="0" smtClean="0"/>
              <a:t> </a:t>
            </a:r>
            <a:r>
              <a:rPr lang="hu-HU" sz="1600" dirty="0" err="1" smtClean="0"/>
              <a:t>semantic</a:t>
            </a:r>
            <a:r>
              <a:rPr lang="hu-HU" sz="1600" dirty="0" smtClean="0"/>
              <a:t> </a:t>
            </a:r>
            <a:r>
              <a:rPr lang="hu-HU" sz="1600" dirty="0" err="1" smtClean="0"/>
              <a:t>feature</a:t>
            </a:r>
            <a:r>
              <a:rPr lang="hu-HU" sz="1600" dirty="0" smtClean="0"/>
              <a:t> </a:t>
            </a:r>
            <a:r>
              <a:rPr lang="hu-HU" sz="1600" dirty="0" err="1" smtClean="0"/>
              <a:t>value</a:t>
            </a:r>
            <a:r>
              <a:rPr lang="hu-HU" sz="1600" dirty="0" smtClean="0"/>
              <a:t>.</a:t>
            </a:r>
          </a:p>
          <a:p>
            <a:pPr lvl="1"/>
            <a:r>
              <a:rPr lang="hu-HU" sz="1600" dirty="0" err="1" smtClean="0"/>
              <a:t>Thus</a:t>
            </a:r>
            <a:r>
              <a:rPr lang="hu-HU" sz="1600" dirty="0" smtClean="0"/>
              <a:t> </a:t>
            </a:r>
            <a:r>
              <a:rPr lang="hu-HU" sz="1600" dirty="0" err="1" smtClean="0"/>
              <a:t>every</a:t>
            </a:r>
            <a:r>
              <a:rPr lang="hu-HU" sz="1600" dirty="0" smtClean="0"/>
              <a:t> </a:t>
            </a:r>
            <a:r>
              <a:rPr lang="hu-HU" sz="1600" dirty="0" err="1" smtClean="0"/>
              <a:t>word</a:t>
            </a:r>
            <a:r>
              <a:rPr lang="hu-HU" sz="1600" dirty="0" smtClean="0"/>
              <a:t> is </a:t>
            </a:r>
            <a:r>
              <a:rPr lang="hu-HU" sz="1600" dirty="0" err="1" smtClean="0"/>
              <a:t>identified</a:t>
            </a:r>
            <a:r>
              <a:rPr lang="hu-HU" sz="1600" dirty="0" smtClean="0"/>
              <a:t> </a:t>
            </a:r>
            <a:r>
              <a:rPr lang="hu-HU" sz="1600" dirty="0" err="1" smtClean="0"/>
              <a:t>by</a:t>
            </a:r>
            <a:r>
              <a:rPr lang="hu-HU" sz="1600" dirty="0" smtClean="0"/>
              <a:t> a </a:t>
            </a:r>
            <a:r>
              <a:rPr lang="hu-HU" sz="1600" dirty="0" err="1" smtClean="0"/>
              <a:t>point</a:t>
            </a:r>
            <a:r>
              <a:rPr lang="hu-HU" sz="1600" dirty="0" smtClean="0"/>
              <a:t> </a:t>
            </a:r>
            <a:r>
              <a:rPr lang="hu-HU" sz="1600" dirty="0" err="1" smtClean="0"/>
              <a:t>in</a:t>
            </a:r>
            <a:r>
              <a:rPr lang="hu-HU" sz="1600" dirty="0" smtClean="0"/>
              <a:t> </a:t>
            </a:r>
            <a:r>
              <a:rPr lang="hu-HU" sz="1600" dirty="0" err="1" smtClean="0"/>
              <a:t>a</a:t>
            </a:r>
            <a:r>
              <a:rPr lang="hu-HU" sz="1600" dirty="0" smtClean="0"/>
              <a:t> </a:t>
            </a:r>
            <a:r>
              <a:rPr lang="hu-HU" sz="1600" dirty="0" err="1" smtClean="0"/>
              <a:t>vector</a:t>
            </a:r>
            <a:r>
              <a:rPr lang="hu-HU" sz="1600" dirty="0" smtClean="0"/>
              <a:t> </a:t>
            </a:r>
            <a:r>
              <a:rPr lang="hu-HU" sz="1600" dirty="0" err="1" smtClean="0"/>
              <a:t>space</a:t>
            </a:r>
            <a:r>
              <a:rPr lang="hu-HU" sz="1600" dirty="0" smtClean="0"/>
              <a:t>. </a:t>
            </a:r>
            <a:r>
              <a:rPr lang="hu-HU" sz="1600" dirty="0" err="1" smtClean="0"/>
              <a:t>Words</a:t>
            </a:r>
            <a:r>
              <a:rPr lang="hu-HU" sz="1600" dirty="0" smtClean="0"/>
              <a:t> </a:t>
            </a:r>
            <a:r>
              <a:rPr lang="hu-HU" sz="1600" dirty="0" err="1" smtClean="0"/>
              <a:t>with</a:t>
            </a:r>
            <a:r>
              <a:rPr lang="hu-HU" sz="1600" dirty="0" smtClean="0"/>
              <a:t> </a:t>
            </a:r>
            <a:r>
              <a:rPr lang="hu-HU" sz="1600" dirty="0" err="1" smtClean="0"/>
              <a:t>similar</a:t>
            </a:r>
            <a:r>
              <a:rPr lang="hu-HU" sz="1600" dirty="0" smtClean="0"/>
              <a:t> </a:t>
            </a:r>
            <a:r>
              <a:rPr lang="hu-HU" sz="1600" dirty="0" err="1" smtClean="0"/>
              <a:t>distributions</a:t>
            </a:r>
            <a:r>
              <a:rPr lang="hu-HU" sz="1600" dirty="0" smtClean="0"/>
              <a:t> (= </a:t>
            </a:r>
            <a:r>
              <a:rPr lang="hu-HU" sz="1600" dirty="0" err="1" smtClean="0"/>
              <a:t>meanings</a:t>
            </a:r>
            <a:r>
              <a:rPr lang="hu-HU" sz="1600" dirty="0" smtClean="0"/>
              <a:t>) </a:t>
            </a:r>
            <a:r>
              <a:rPr lang="hu-HU" sz="1600" dirty="0" err="1" smtClean="0"/>
              <a:t>are</a:t>
            </a:r>
            <a:r>
              <a:rPr lang="hu-HU" sz="1600" dirty="0" smtClean="0"/>
              <a:t> </a:t>
            </a:r>
            <a:r>
              <a:rPr lang="hu-HU" sz="1600" dirty="0" err="1" smtClean="0"/>
              <a:t>closer</a:t>
            </a:r>
            <a:r>
              <a:rPr lang="hu-HU" sz="1600" dirty="0" smtClean="0"/>
              <a:t> </a:t>
            </a:r>
            <a:r>
              <a:rPr lang="hu-HU" sz="1600" dirty="0" err="1" smtClean="0"/>
              <a:t>to</a:t>
            </a:r>
            <a:r>
              <a:rPr lang="hu-HU" sz="1600" dirty="0" smtClean="0"/>
              <a:t> </a:t>
            </a:r>
            <a:r>
              <a:rPr lang="hu-HU" sz="1600" dirty="0" err="1" smtClean="0"/>
              <a:t>each</a:t>
            </a:r>
            <a:r>
              <a:rPr lang="hu-HU" sz="1600" dirty="0" smtClean="0"/>
              <a:t> </a:t>
            </a:r>
            <a:r>
              <a:rPr lang="hu-HU" sz="1600" dirty="0" err="1" smtClean="0"/>
              <a:t>other</a:t>
            </a:r>
            <a:r>
              <a:rPr lang="hu-HU" sz="1600" dirty="0" smtClean="0"/>
              <a:t> </a:t>
            </a:r>
            <a:r>
              <a:rPr lang="hu-HU" sz="1600" dirty="0" err="1" smtClean="0"/>
              <a:t>in</a:t>
            </a:r>
            <a:r>
              <a:rPr lang="hu-HU" sz="1600" dirty="0" smtClean="0"/>
              <a:t> </a:t>
            </a:r>
            <a:r>
              <a:rPr lang="hu-HU" sz="1600" dirty="0" err="1" smtClean="0"/>
              <a:t>this</a:t>
            </a:r>
            <a:r>
              <a:rPr lang="hu-HU" sz="1600" dirty="0" smtClean="0"/>
              <a:t> </a:t>
            </a:r>
            <a:r>
              <a:rPr lang="hu-HU" sz="1600" dirty="0" err="1" smtClean="0"/>
              <a:t>space</a:t>
            </a:r>
            <a:r>
              <a:rPr lang="hu-HU" sz="1600" dirty="0" smtClean="0"/>
              <a:t>.</a:t>
            </a:r>
          </a:p>
          <a:p>
            <a:pPr lvl="1"/>
            <a:r>
              <a:rPr lang="hu-HU" sz="1600" dirty="0" err="1" smtClean="0"/>
              <a:t>Each</a:t>
            </a:r>
            <a:r>
              <a:rPr lang="hu-HU" sz="1600" dirty="0" smtClean="0"/>
              <a:t> </a:t>
            </a:r>
            <a:r>
              <a:rPr lang="hu-HU" sz="1600" dirty="0" err="1" smtClean="0"/>
              <a:t>vector</a:t>
            </a:r>
            <a:r>
              <a:rPr lang="hu-HU" sz="1600" dirty="0" smtClean="0"/>
              <a:t> has a </a:t>
            </a:r>
            <a:r>
              <a:rPr lang="hu-HU" sz="1600" dirty="0" err="1" smtClean="0"/>
              <a:t>direction</a:t>
            </a:r>
            <a:r>
              <a:rPr lang="hu-HU" sz="1600" dirty="0" smtClean="0"/>
              <a:t>. </a:t>
            </a:r>
            <a:r>
              <a:rPr lang="hu-HU" sz="1600" dirty="0" err="1" smtClean="0"/>
              <a:t>Each</a:t>
            </a:r>
            <a:r>
              <a:rPr lang="hu-HU" sz="1600" dirty="0" smtClean="0"/>
              <a:t> </a:t>
            </a:r>
            <a:r>
              <a:rPr lang="hu-HU" sz="1600" dirty="0" err="1" smtClean="0"/>
              <a:t>pair</a:t>
            </a:r>
            <a:r>
              <a:rPr lang="hu-HU" sz="1600" dirty="0" smtClean="0"/>
              <a:t> of </a:t>
            </a:r>
            <a:r>
              <a:rPr lang="hu-HU" sz="1600" dirty="0" err="1" smtClean="0"/>
              <a:t>vectors</a:t>
            </a:r>
            <a:r>
              <a:rPr lang="hu-HU" sz="1600" dirty="0" smtClean="0"/>
              <a:t> </a:t>
            </a:r>
            <a:r>
              <a:rPr lang="hu-HU" sz="1600" dirty="0" err="1" smtClean="0"/>
              <a:t>within</a:t>
            </a:r>
            <a:r>
              <a:rPr lang="hu-HU" sz="1600" dirty="0" smtClean="0"/>
              <a:t>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same</a:t>
            </a:r>
            <a:r>
              <a:rPr lang="hu-HU" sz="1600" dirty="0" smtClean="0"/>
              <a:t> </a:t>
            </a:r>
            <a:r>
              <a:rPr lang="hu-HU" sz="1600" dirty="0" err="1" smtClean="0"/>
              <a:t>space</a:t>
            </a:r>
            <a:r>
              <a:rPr lang="hu-HU" sz="1600" dirty="0" smtClean="0"/>
              <a:t> </a:t>
            </a:r>
            <a:r>
              <a:rPr lang="hu-HU" sz="1600" dirty="0" err="1" smtClean="0"/>
              <a:t>enclose</a:t>
            </a:r>
            <a:r>
              <a:rPr lang="hu-HU" sz="1600" dirty="0" smtClean="0"/>
              <a:t> an </a:t>
            </a:r>
            <a:r>
              <a:rPr lang="hu-HU" sz="1600" dirty="0" err="1" smtClean="0"/>
              <a:t>angle</a:t>
            </a:r>
            <a:r>
              <a:rPr lang="hu-HU" sz="1600" dirty="0"/>
              <a:t> </a:t>
            </a:r>
            <a:r>
              <a:rPr lang="hu-HU" sz="1600" dirty="0" err="1" smtClean="0"/>
              <a:t>between</a:t>
            </a:r>
            <a:r>
              <a:rPr lang="hu-HU" sz="1600" dirty="0" smtClean="0"/>
              <a:t> </a:t>
            </a:r>
            <a:r>
              <a:rPr lang="hu-HU" sz="1600" dirty="0" err="1" smtClean="0"/>
              <a:t>them</a:t>
            </a:r>
            <a:r>
              <a:rPr lang="hu-HU" sz="1600" dirty="0" smtClean="0"/>
              <a:t>. The </a:t>
            </a:r>
            <a:r>
              <a:rPr lang="hu-HU" sz="1600" dirty="0" err="1" smtClean="0"/>
              <a:t>smaller</a:t>
            </a:r>
            <a:r>
              <a:rPr lang="hu-HU" sz="1600" dirty="0" smtClean="0"/>
              <a:t> </a:t>
            </a:r>
            <a:r>
              <a:rPr lang="hu-HU" sz="1600" dirty="0" err="1" smtClean="0"/>
              <a:t>this</a:t>
            </a:r>
            <a:r>
              <a:rPr lang="hu-HU" sz="1600" dirty="0" smtClean="0"/>
              <a:t> </a:t>
            </a:r>
            <a:r>
              <a:rPr lang="hu-HU" sz="1600" dirty="0" err="1" smtClean="0"/>
              <a:t>angle</a:t>
            </a:r>
            <a:r>
              <a:rPr lang="hu-HU" sz="1600" dirty="0" smtClean="0"/>
              <a:t>,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closer</a:t>
            </a:r>
            <a:r>
              <a:rPr lang="hu-HU" sz="1600" dirty="0" smtClean="0"/>
              <a:t>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meaning</a:t>
            </a:r>
            <a:r>
              <a:rPr lang="hu-HU" sz="1600" dirty="0" smtClean="0"/>
              <a:t> of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two</a:t>
            </a:r>
            <a:r>
              <a:rPr lang="hu-HU" sz="1600" dirty="0" smtClean="0"/>
              <a:t> </a:t>
            </a:r>
            <a:r>
              <a:rPr lang="hu-HU" sz="1600" dirty="0" err="1" smtClean="0"/>
              <a:t>words</a:t>
            </a:r>
            <a:r>
              <a:rPr lang="hu-HU" sz="1600" dirty="0" smtClean="0"/>
              <a:t>.</a:t>
            </a:r>
          </a:p>
          <a:p>
            <a:pPr lvl="2"/>
            <a:r>
              <a:rPr lang="hu-HU" sz="1400" dirty="0" smtClean="0"/>
              <a:t>The </a:t>
            </a:r>
            <a:r>
              <a:rPr lang="hu-HU" sz="1400" dirty="0" err="1" smtClean="0"/>
              <a:t>angle</a:t>
            </a:r>
            <a:r>
              <a:rPr lang="hu-HU" sz="1400" dirty="0" smtClean="0"/>
              <a:t> </a:t>
            </a:r>
            <a:r>
              <a:rPr lang="hu-HU" sz="1400" dirty="0" err="1" smtClean="0"/>
              <a:t>between</a:t>
            </a:r>
            <a:r>
              <a:rPr lang="hu-HU" sz="1400" dirty="0" smtClean="0"/>
              <a:t> </a:t>
            </a:r>
            <a:r>
              <a:rPr lang="hu-HU" sz="1400" dirty="0" err="1" smtClean="0"/>
              <a:t>two</a:t>
            </a:r>
            <a:r>
              <a:rPr lang="hu-HU" sz="1400" dirty="0" smtClean="0"/>
              <a:t> </a:t>
            </a:r>
            <a:r>
              <a:rPr lang="hu-HU" sz="1400" dirty="0" err="1" smtClean="0"/>
              <a:t>vectors</a:t>
            </a:r>
            <a:r>
              <a:rPr lang="hu-HU" sz="1400" dirty="0" smtClean="0"/>
              <a:t> </a:t>
            </a:r>
            <a:r>
              <a:rPr lang="hu-HU" sz="1400" dirty="0" err="1" smtClean="0"/>
              <a:t>can</a:t>
            </a:r>
            <a:r>
              <a:rPr lang="hu-HU" sz="1400" dirty="0" smtClean="0"/>
              <a:t> be </a:t>
            </a:r>
            <a:r>
              <a:rPr lang="hu-HU" sz="1400" dirty="0" err="1" smtClean="0"/>
              <a:t>characterised</a:t>
            </a:r>
            <a:r>
              <a:rPr lang="hu-HU" sz="1400" dirty="0" smtClean="0"/>
              <a:t> </a:t>
            </a:r>
            <a:r>
              <a:rPr lang="hu-HU" sz="1400" dirty="0" err="1" smtClean="0"/>
              <a:t>by</a:t>
            </a:r>
            <a:r>
              <a:rPr lang="hu-HU" sz="1400" dirty="0" smtClean="0"/>
              <a:t> </a:t>
            </a:r>
            <a:r>
              <a:rPr lang="hu-HU" sz="1400" dirty="0" err="1" smtClean="0"/>
              <a:t>its</a:t>
            </a:r>
            <a:r>
              <a:rPr lang="hu-HU" sz="1400" dirty="0" smtClean="0"/>
              <a:t> </a:t>
            </a:r>
            <a:r>
              <a:rPr lang="hu-HU" sz="1400" dirty="0" err="1" smtClean="0"/>
              <a:t>cosine</a:t>
            </a:r>
            <a:r>
              <a:rPr lang="hu-HU" sz="1400" dirty="0" smtClean="0"/>
              <a:t>. The </a:t>
            </a:r>
            <a:r>
              <a:rPr lang="hu-HU" sz="1400" dirty="0" err="1" smtClean="0"/>
              <a:t>cosine</a:t>
            </a:r>
            <a:r>
              <a:rPr lang="hu-HU" sz="1400" dirty="0" smtClean="0"/>
              <a:t> is 1 </a:t>
            </a:r>
            <a:r>
              <a:rPr lang="hu-HU" sz="1400" dirty="0" err="1" smtClean="0"/>
              <a:t>if</a:t>
            </a:r>
            <a:r>
              <a:rPr lang="hu-HU" sz="1400" dirty="0" smtClean="0"/>
              <a:t>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vectors</a:t>
            </a:r>
            <a:r>
              <a:rPr lang="hu-HU" sz="1400" dirty="0" smtClean="0"/>
              <a:t> </a:t>
            </a:r>
            <a:r>
              <a:rPr lang="hu-HU" sz="1400" dirty="0" err="1" smtClean="0"/>
              <a:t>point</a:t>
            </a:r>
            <a:r>
              <a:rPr lang="hu-HU" sz="1400" dirty="0" smtClean="0"/>
              <a:t> </a:t>
            </a:r>
            <a:r>
              <a:rPr lang="hu-HU" sz="1400" dirty="0" err="1" smtClean="0"/>
              <a:t>in</a:t>
            </a:r>
            <a:r>
              <a:rPr lang="hu-HU" sz="1400" dirty="0" smtClean="0"/>
              <a:t>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same</a:t>
            </a:r>
            <a:r>
              <a:rPr lang="hu-HU" sz="1400" dirty="0" smtClean="0"/>
              <a:t> </a:t>
            </a:r>
            <a:r>
              <a:rPr lang="hu-HU" sz="1400" dirty="0" err="1" smtClean="0"/>
              <a:t>direction</a:t>
            </a:r>
            <a:r>
              <a:rPr lang="hu-HU" sz="1400" dirty="0" smtClean="0"/>
              <a:t>, and -1 </a:t>
            </a:r>
            <a:r>
              <a:rPr lang="hu-HU" sz="1400" dirty="0" err="1" smtClean="0"/>
              <a:t>if</a:t>
            </a:r>
            <a:r>
              <a:rPr lang="hu-HU" sz="1400" dirty="0" smtClean="0"/>
              <a:t> </a:t>
            </a:r>
            <a:r>
              <a:rPr lang="hu-HU" sz="1400" dirty="0" err="1" smtClean="0"/>
              <a:t>they</a:t>
            </a:r>
            <a:r>
              <a:rPr lang="hu-HU" sz="1400" dirty="0" smtClean="0"/>
              <a:t> </a:t>
            </a:r>
            <a:r>
              <a:rPr lang="hu-HU" sz="1400" dirty="0" err="1" smtClean="0"/>
              <a:t>point</a:t>
            </a:r>
            <a:r>
              <a:rPr lang="hu-HU" sz="1400" dirty="0" smtClean="0"/>
              <a:t> </a:t>
            </a:r>
            <a:r>
              <a:rPr lang="hu-HU" sz="1400" dirty="0" err="1" smtClean="0"/>
              <a:t>in</a:t>
            </a:r>
            <a:r>
              <a:rPr lang="hu-HU" sz="1400" dirty="0" smtClean="0"/>
              <a:t> </a:t>
            </a:r>
            <a:r>
              <a:rPr lang="hu-HU" sz="1400" dirty="0" err="1" smtClean="0"/>
              <a:t>opposite</a:t>
            </a:r>
            <a:r>
              <a:rPr lang="hu-HU" sz="1400" dirty="0" smtClean="0"/>
              <a:t> </a:t>
            </a:r>
            <a:r>
              <a:rPr lang="hu-HU" sz="1400" dirty="0" err="1" smtClean="0"/>
              <a:t>directions</a:t>
            </a:r>
            <a:r>
              <a:rPr lang="hu-HU" sz="1400" dirty="0" smtClean="0"/>
              <a:t>.</a:t>
            </a:r>
          </a:p>
          <a:p>
            <a:pPr lvl="2"/>
            <a:r>
              <a:rPr lang="hu-HU" sz="1400" dirty="0" smtClean="0"/>
              <a:t>The </a:t>
            </a:r>
            <a:r>
              <a:rPr lang="hu-HU" sz="1400" dirty="0" err="1" smtClean="0"/>
              <a:t>length</a:t>
            </a:r>
            <a:r>
              <a:rPr lang="hu-HU" sz="1400" dirty="0" smtClean="0"/>
              <a:t> of </a:t>
            </a:r>
            <a:r>
              <a:rPr lang="hu-HU" sz="1400" dirty="0" err="1" smtClean="0"/>
              <a:t>the</a:t>
            </a:r>
            <a:r>
              <a:rPr lang="hu-HU" sz="1400" dirty="0" smtClean="0"/>
              <a:t> </a:t>
            </a:r>
            <a:r>
              <a:rPr lang="hu-HU" sz="1400" dirty="0" err="1" smtClean="0"/>
              <a:t>vector</a:t>
            </a:r>
            <a:r>
              <a:rPr lang="hu-HU" sz="1400" dirty="0" smtClean="0"/>
              <a:t> is </a:t>
            </a:r>
            <a:r>
              <a:rPr lang="hu-HU" sz="1400" dirty="0" err="1" smtClean="0"/>
              <a:t>usually</a:t>
            </a:r>
            <a:r>
              <a:rPr lang="hu-HU" sz="1400" dirty="0" smtClean="0"/>
              <a:t> </a:t>
            </a:r>
            <a:r>
              <a:rPr lang="hu-HU" sz="1400" dirty="0" err="1" smtClean="0"/>
              <a:t>ignored</a:t>
            </a:r>
            <a:r>
              <a:rPr lang="hu-HU" sz="1400" dirty="0" smtClean="0"/>
              <a:t> </a:t>
            </a:r>
            <a:r>
              <a:rPr lang="hu-HU" sz="1400" dirty="0" err="1" smtClean="0"/>
              <a:t>in</a:t>
            </a:r>
            <a:r>
              <a:rPr lang="hu-HU" sz="1400" dirty="0" smtClean="0"/>
              <a:t> </a:t>
            </a:r>
            <a:r>
              <a:rPr lang="hu-HU" sz="1400" dirty="0" err="1" smtClean="0"/>
              <a:t>distributional</a:t>
            </a:r>
            <a:r>
              <a:rPr lang="hu-HU" sz="1400" dirty="0" smtClean="0"/>
              <a:t> </a:t>
            </a:r>
            <a:r>
              <a:rPr lang="hu-HU" sz="1400" dirty="0" err="1" smtClean="0"/>
              <a:t>semantics</a:t>
            </a:r>
            <a:r>
              <a:rPr lang="hu-HU" sz="1400" dirty="0" smtClean="0"/>
              <a:t> (</a:t>
            </a:r>
            <a:r>
              <a:rPr lang="hu-HU" sz="1400" dirty="0" err="1" smtClean="0"/>
              <a:t>it</a:t>
            </a:r>
            <a:r>
              <a:rPr lang="hu-HU" sz="1400" dirty="0" smtClean="0"/>
              <a:t> </a:t>
            </a:r>
            <a:r>
              <a:rPr lang="hu-HU" sz="1400" dirty="0" err="1" smtClean="0"/>
              <a:t>is</a:t>
            </a:r>
            <a:r>
              <a:rPr lang="hu-HU" sz="1400" dirty="0" smtClean="0"/>
              <a:t> </a:t>
            </a:r>
            <a:r>
              <a:rPr lang="hu-HU" sz="1400" dirty="0" err="1" smtClean="0"/>
              <a:t>normed</a:t>
            </a:r>
            <a:r>
              <a:rPr lang="hu-HU" sz="1400" dirty="0" smtClean="0"/>
              <a:t> </a:t>
            </a:r>
            <a:r>
              <a:rPr lang="hu-HU" sz="1400" dirty="0" err="1" smtClean="0"/>
              <a:t>to</a:t>
            </a:r>
            <a:r>
              <a:rPr lang="hu-HU" sz="1400" dirty="0" smtClean="0"/>
              <a:t> 1).</a:t>
            </a:r>
          </a:p>
        </p:txBody>
      </p:sp>
    </p:spTree>
    <p:extLst>
      <p:ext uri="{BB962C8B-B14F-4D97-AF65-F5344CB8AC3E}">
        <p14:creationId xmlns:p14="http://schemas.microsoft.com/office/powerpoint/2010/main" val="93909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Co-occurrence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800" dirty="0" err="1"/>
              <a:t>H</a:t>
            </a:r>
            <a:r>
              <a:rPr lang="hu-HU" sz="1800" dirty="0" err="1" smtClean="0"/>
              <a:t>ow</a:t>
            </a:r>
            <a:r>
              <a:rPr lang="hu-HU" sz="1800" dirty="0" smtClean="0"/>
              <a:t> </a:t>
            </a:r>
            <a:r>
              <a:rPr lang="hu-HU" sz="1800" dirty="0" err="1" smtClean="0"/>
              <a:t>many</a:t>
            </a:r>
            <a:r>
              <a:rPr lang="hu-HU" sz="1800" dirty="0" smtClean="0"/>
              <a:t> </a:t>
            </a:r>
            <a:r>
              <a:rPr lang="hu-HU" sz="1800" dirty="0" err="1" smtClean="0"/>
              <a:t>dimensions</a:t>
            </a:r>
            <a:r>
              <a:rPr lang="hu-HU" sz="1800" dirty="0" smtClean="0"/>
              <a:t> </a:t>
            </a:r>
            <a:r>
              <a:rPr lang="hu-HU" sz="1800" dirty="0" err="1" smtClean="0"/>
              <a:t>should</a:t>
            </a:r>
            <a:r>
              <a:rPr lang="hu-HU" sz="1800" dirty="0" smtClean="0"/>
              <a:t> </a:t>
            </a:r>
            <a:r>
              <a:rPr lang="hu-HU" sz="1800" dirty="0" err="1" smtClean="0"/>
              <a:t>the</a:t>
            </a:r>
            <a:r>
              <a:rPr lang="hu-HU" sz="1800" dirty="0" smtClean="0"/>
              <a:t> </a:t>
            </a:r>
            <a:r>
              <a:rPr lang="hu-HU" sz="1800" dirty="0" err="1" smtClean="0"/>
              <a:t>vectors</a:t>
            </a:r>
            <a:r>
              <a:rPr lang="hu-HU" sz="1800" dirty="0" smtClean="0"/>
              <a:t> </a:t>
            </a:r>
            <a:r>
              <a:rPr lang="hu-HU" sz="1800" dirty="0" err="1" smtClean="0"/>
              <a:t>we</a:t>
            </a:r>
            <a:r>
              <a:rPr lang="hu-HU" sz="1800" dirty="0" smtClean="0"/>
              <a:t> </a:t>
            </a:r>
            <a:r>
              <a:rPr lang="hu-HU" sz="1800" dirty="0" err="1" smtClean="0"/>
              <a:t>use</a:t>
            </a:r>
            <a:r>
              <a:rPr lang="hu-HU" sz="1800" dirty="0" smtClean="0"/>
              <a:t> </a:t>
            </a:r>
            <a:r>
              <a:rPr lang="hu-HU" sz="1800" dirty="0" err="1" smtClean="0"/>
              <a:t>to</a:t>
            </a:r>
            <a:r>
              <a:rPr lang="hu-HU" sz="1800" dirty="0" smtClean="0"/>
              <a:t> </a:t>
            </a:r>
            <a:r>
              <a:rPr lang="hu-HU" sz="1800" dirty="0" err="1" smtClean="0"/>
              <a:t>represent</a:t>
            </a:r>
            <a:r>
              <a:rPr lang="hu-HU" sz="1800" dirty="0" smtClean="0"/>
              <a:t> </a:t>
            </a:r>
            <a:r>
              <a:rPr lang="hu-HU" sz="1800" dirty="0" err="1" smtClean="0"/>
              <a:t>words</a:t>
            </a:r>
            <a:r>
              <a:rPr lang="hu-HU" sz="1800" dirty="0" smtClean="0"/>
              <a:t> </a:t>
            </a:r>
            <a:r>
              <a:rPr lang="hu-HU" sz="1800" dirty="0" err="1" smtClean="0"/>
              <a:t>have</a:t>
            </a:r>
            <a:r>
              <a:rPr lang="hu-HU" sz="1800" dirty="0"/>
              <a:t>?</a:t>
            </a:r>
            <a:endParaRPr lang="hu-HU" sz="1800" dirty="0" smtClean="0"/>
          </a:p>
          <a:p>
            <a:r>
              <a:rPr lang="hu-HU" sz="1800" dirty="0" err="1" smtClean="0"/>
              <a:t>Obvious</a:t>
            </a:r>
            <a:r>
              <a:rPr lang="hu-HU" sz="1800" dirty="0" smtClean="0"/>
              <a:t> </a:t>
            </a:r>
            <a:r>
              <a:rPr lang="hu-HU" sz="1800" dirty="0" err="1" smtClean="0"/>
              <a:t>solution</a:t>
            </a:r>
            <a:r>
              <a:rPr lang="hu-HU" sz="1800" dirty="0" smtClean="0"/>
              <a:t>: </a:t>
            </a:r>
            <a:r>
              <a:rPr lang="hu-HU" sz="1800" b="1" dirty="0" err="1" smtClean="0"/>
              <a:t>count</a:t>
            </a:r>
            <a:r>
              <a:rPr lang="hu-HU" sz="1800" b="1" dirty="0" smtClean="0"/>
              <a:t> </a:t>
            </a:r>
            <a:r>
              <a:rPr lang="hu-HU" sz="1800" b="1" dirty="0" err="1" smtClean="0"/>
              <a:t>co-occurrences</a:t>
            </a:r>
            <a:r>
              <a:rPr lang="hu-HU" sz="1800" b="1" dirty="0" smtClean="0"/>
              <a:t> </a:t>
            </a:r>
            <a:r>
              <a:rPr lang="hu-HU" sz="1800" b="1" dirty="0" err="1" smtClean="0"/>
              <a:t>with</a:t>
            </a:r>
            <a:r>
              <a:rPr lang="hu-HU" sz="1800" b="1" dirty="0" smtClean="0"/>
              <a:t> </a:t>
            </a:r>
            <a:r>
              <a:rPr lang="hu-HU" sz="1800" b="1" dirty="0" err="1" smtClean="0"/>
              <a:t>context</a:t>
            </a:r>
            <a:r>
              <a:rPr lang="hu-HU" sz="1800" b="1" dirty="0" smtClean="0"/>
              <a:t> </a:t>
            </a:r>
            <a:r>
              <a:rPr lang="hu-HU" sz="1800" b="1" dirty="0" err="1" smtClean="0"/>
              <a:t>words</a:t>
            </a:r>
            <a:r>
              <a:rPr lang="hu-HU" sz="1800" dirty="0" smtClean="0"/>
              <a:t>.</a:t>
            </a:r>
          </a:p>
          <a:p>
            <a:pPr lvl="1"/>
            <a:r>
              <a:rPr lang="hu-HU" sz="1600" dirty="0" err="1" smtClean="0"/>
              <a:t>Each</a:t>
            </a:r>
            <a:r>
              <a:rPr lang="hu-HU" sz="1600" dirty="0" smtClean="0"/>
              <a:t> </a:t>
            </a:r>
            <a:r>
              <a:rPr lang="hu-HU" sz="1600" dirty="0" err="1" smtClean="0"/>
              <a:t>coordinate</a:t>
            </a:r>
            <a:r>
              <a:rPr lang="hu-HU" sz="1600" dirty="0" smtClean="0"/>
              <a:t> of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vector</a:t>
            </a:r>
            <a:r>
              <a:rPr lang="hu-HU" sz="1600" dirty="0" smtClean="0"/>
              <a:t> </a:t>
            </a:r>
            <a:r>
              <a:rPr lang="hu-HU" sz="1600" dirty="0" err="1" smtClean="0"/>
              <a:t>tells</a:t>
            </a:r>
            <a:r>
              <a:rPr lang="hu-HU" sz="1600" dirty="0" smtClean="0"/>
              <a:t> </a:t>
            </a:r>
            <a:r>
              <a:rPr lang="hu-HU" sz="1600" dirty="0" err="1" smtClean="0"/>
              <a:t>us</a:t>
            </a:r>
            <a:r>
              <a:rPr lang="hu-HU" sz="1600" dirty="0" smtClean="0"/>
              <a:t> </a:t>
            </a:r>
            <a:r>
              <a:rPr lang="hu-HU" sz="1600" dirty="0" err="1" smtClean="0"/>
              <a:t>how</a:t>
            </a:r>
            <a:r>
              <a:rPr lang="hu-HU" sz="1600" dirty="0" smtClean="0"/>
              <a:t> </a:t>
            </a:r>
            <a:r>
              <a:rPr lang="hu-HU" sz="1600" dirty="0" err="1" smtClean="0"/>
              <a:t>many</a:t>
            </a:r>
            <a:r>
              <a:rPr lang="hu-HU" sz="1600" dirty="0" smtClean="0"/>
              <a:t> </a:t>
            </a:r>
            <a:r>
              <a:rPr lang="hu-HU" sz="1600" dirty="0" err="1" smtClean="0"/>
              <a:t>times</a:t>
            </a:r>
            <a:r>
              <a:rPr lang="hu-HU" sz="1600" dirty="0" smtClean="0"/>
              <a:t>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target</a:t>
            </a:r>
            <a:r>
              <a:rPr lang="hu-HU" sz="1600" dirty="0" smtClean="0"/>
              <a:t> lemma </a:t>
            </a:r>
            <a:r>
              <a:rPr lang="hu-HU" sz="1600" dirty="0" err="1" smtClean="0"/>
              <a:t>occurs</a:t>
            </a:r>
            <a:r>
              <a:rPr lang="hu-HU" sz="1600" dirty="0" smtClean="0"/>
              <a:t> </a:t>
            </a:r>
            <a:r>
              <a:rPr lang="hu-HU" sz="1600" dirty="0" err="1" smtClean="0"/>
              <a:t>in</a:t>
            </a:r>
            <a:r>
              <a:rPr lang="hu-HU" sz="1600" dirty="0" smtClean="0"/>
              <a:t>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context</a:t>
            </a:r>
            <a:r>
              <a:rPr lang="hu-HU" sz="1600" dirty="0" smtClean="0"/>
              <a:t> of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context</a:t>
            </a:r>
            <a:r>
              <a:rPr lang="hu-HU" sz="1600" dirty="0" smtClean="0"/>
              <a:t> lemma </a:t>
            </a:r>
            <a:r>
              <a:rPr lang="hu-HU" sz="1600" dirty="0" err="1" smtClean="0"/>
              <a:t>in</a:t>
            </a:r>
            <a:r>
              <a:rPr lang="hu-HU" sz="1600" dirty="0" smtClean="0"/>
              <a:t> </a:t>
            </a:r>
            <a:r>
              <a:rPr lang="hu-HU" sz="1600" dirty="0" err="1" smtClean="0"/>
              <a:t>the</a:t>
            </a:r>
            <a:r>
              <a:rPr lang="hu-HU" sz="1600" dirty="0" smtClean="0"/>
              <a:t> </a:t>
            </a:r>
            <a:r>
              <a:rPr lang="hu-HU" sz="1600" dirty="0" err="1" smtClean="0"/>
              <a:t>given</a:t>
            </a:r>
            <a:r>
              <a:rPr lang="hu-HU" sz="1600" dirty="0" smtClean="0"/>
              <a:t> corpus.</a:t>
            </a:r>
          </a:p>
          <a:p>
            <a:pPr lvl="1"/>
            <a:r>
              <a:rPr lang="hu-HU" sz="1600" dirty="0" smtClean="0"/>
              <a:t>The </a:t>
            </a:r>
            <a:r>
              <a:rPr lang="hu-HU" sz="1600" dirty="0" err="1" smtClean="0"/>
              <a:t>vector</a:t>
            </a:r>
            <a:r>
              <a:rPr lang="hu-HU" sz="1600" dirty="0" smtClean="0"/>
              <a:t> has </a:t>
            </a:r>
            <a:r>
              <a:rPr lang="hu-HU" sz="1600" dirty="0" err="1" smtClean="0"/>
              <a:t>as</a:t>
            </a:r>
            <a:r>
              <a:rPr lang="hu-HU" sz="1600" dirty="0" smtClean="0"/>
              <a:t> </a:t>
            </a:r>
            <a:r>
              <a:rPr lang="hu-HU" sz="1600" dirty="0" err="1" smtClean="0"/>
              <a:t>many</a:t>
            </a:r>
            <a:r>
              <a:rPr lang="hu-HU" sz="1600" dirty="0" smtClean="0"/>
              <a:t> </a:t>
            </a:r>
            <a:r>
              <a:rPr lang="hu-HU" sz="1600" dirty="0" err="1" smtClean="0"/>
              <a:t>dimensions</a:t>
            </a:r>
            <a:r>
              <a:rPr lang="hu-HU" sz="1600" dirty="0" smtClean="0"/>
              <a:t> </a:t>
            </a:r>
            <a:r>
              <a:rPr lang="hu-HU" sz="1600" dirty="0" err="1" smtClean="0"/>
              <a:t>as</a:t>
            </a:r>
            <a:r>
              <a:rPr lang="hu-HU" sz="1600" dirty="0" smtClean="0"/>
              <a:t> </a:t>
            </a:r>
            <a:r>
              <a:rPr lang="hu-HU" sz="1600" dirty="0" err="1" smtClean="0"/>
              <a:t>there</a:t>
            </a:r>
            <a:r>
              <a:rPr lang="hu-HU" sz="1600" dirty="0" smtClean="0"/>
              <a:t> </a:t>
            </a:r>
            <a:r>
              <a:rPr lang="hu-HU" sz="1600" dirty="0" err="1" smtClean="0"/>
              <a:t>are</a:t>
            </a:r>
            <a:r>
              <a:rPr lang="hu-HU" sz="1600" dirty="0" smtClean="0"/>
              <a:t> </a:t>
            </a:r>
            <a:r>
              <a:rPr lang="hu-HU" sz="1600" dirty="0" err="1" smtClean="0"/>
              <a:t>lemmata</a:t>
            </a:r>
            <a:r>
              <a:rPr lang="hu-HU" sz="1600" dirty="0" smtClean="0"/>
              <a:t> </a:t>
            </a:r>
            <a:r>
              <a:rPr lang="hu-HU" sz="1600" dirty="0" err="1" smtClean="0"/>
              <a:t>in</a:t>
            </a:r>
            <a:r>
              <a:rPr lang="hu-HU" sz="1600" dirty="0" smtClean="0"/>
              <a:t> </a:t>
            </a:r>
            <a:r>
              <a:rPr lang="hu-HU" sz="1600" dirty="0" err="1" smtClean="0"/>
              <a:t>our</a:t>
            </a:r>
            <a:r>
              <a:rPr lang="hu-HU" sz="1600" dirty="0" smtClean="0"/>
              <a:t> </a:t>
            </a:r>
            <a:r>
              <a:rPr lang="hu-HU" sz="1600" dirty="0" err="1" smtClean="0"/>
              <a:t>vocabulary</a:t>
            </a:r>
            <a:r>
              <a:rPr lang="hu-HU" sz="1600" dirty="0" smtClean="0"/>
              <a:t>.</a:t>
            </a:r>
          </a:p>
          <a:p>
            <a:pPr lvl="2"/>
            <a:r>
              <a:rPr lang="hu-HU" sz="1200" dirty="0" err="1" smtClean="0"/>
              <a:t>Problem</a:t>
            </a:r>
            <a:r>
              <a:rPr lang="hu-HU" sz="1200" dirty="0" smtClean="0"/>
              <a:t>: </a:t>
            </a:r>
            <a:r>
              <a:rPr lang="hu-HU" sz="1200" dirty="0" err="1" smtClean="0"/>
              <a:t>typically</a:t>
            </a:r>
            <a:r>
              <a:rPr lang="hu-HU" sz="1200" dirty="0" smtClean="0"/>
              <a:t> a </a:t>
            </a:r>
            <a:r>
              <a:rPr lang="hu-HU" sz="1200" dirty="0" err="1" smtClean="0"/>
              <a:t>rather</a:t>
            </a:r>
            <a:r>
              <a:rPr lang="hu-HU" sz="1200" dirty="0" smtClean="0"/>
              <a:t> </a:t>
            </a:r>
            <a:r>
              <a:rPr lang="hu-HU" sz="1200" dirty="0" err="1" smtClean="0"/>
              <a:t>large</a:t>
            </a:r>
            <a:r>
              <a:rPr lang="hu-HU" sz="1200" dirty="0" smtClean="0"/>
              <a:t> </a:t>
            </a:r>
            <a:r>
              <a:rPr lang="hu-HU" sz="1200" dirty="0" err="1" smtClean="0"/>
              <a:t>number</a:t>
            </a:r>
            <a:r>
              <a:rPr lang="hu-HU" sz="1200" dirty="0" smtClean="0"/>
              <a:t>, </a:t>
            </a:r>
            <a:r>
              <a:rPr lang="hu-HU" sz="1200" dirty="0" err="1" smtClean="0"/>
              <a:t>at</a:t>
            </a:r>
            <a:r>
              <a:rPr lang="hu-HU" sz="1200" dirty="0" smtClean="0"/>
              <a:t> </a:t>
            </a:r>
            <a:r>
              <a:rPr lang="hu-HU" sz="1200" dirty="0" err="1" smtClean="0"/>
              <a:t>least</a:t>
            </a:r>
            <a:r>
              <a:rPr lang="hu-HU" sz="1200" dirty="0" smtClean="0"/>
              <a:t> </a:t>
            </a:r>
            <a:r>
              <a:rPr lang="hu-HU" sz="1200" dirty="0" err="1" smtClean="0"/>
              <a:t>in</a:t>
            </a:r>
            <a:r>
              <a:rPr lang="hu-HU" sz="1200" dirty="0" smtClean="0"/>
              <a:t> </a:t>
            </a:r>
            <a:r>
              <a:rPr lang="hu-HU" sz="1200" dirty="0" err="1" smtClean="0"/>
              <a:t>the</a:t>
            </a:r>
            <a:r>
              <a:rPr lang="hu-HU" sz="1200" dirty="0" smtClean="0"/>
              <a:t> 10,000s. </a:t>
            </a:r>
            <a:r>
              <a:rPr lang="hu-HU" sz="1200" dirty="0" err="1" smtClean="0"/>
              <a:t>Does</a:t>
            </a:r>
            <a:r>
              <a:rPr lang="hu-HU" sz="1200" dirty="0" smtClean="0"/>
              <a:t> </a:t>
            </a:r>
            <a:r>
              <a:rPr lang="hu-HU" sz="1200" dirty="0" err="1" smtClean="0"/>
              <a:t>not</a:t>
            </a:r>
            <a:r>
              <a:rPr lang="hu-HU" sz="1200" dirty="0" smtClean="0"/>
              <a:t> </a:t>
            </a:r>
            <a:r>
              <a:rPr lang="hu-HU" sz="1200" dirty="0" err="1" smtClean="0"/>
              <a:t>work</a:t>
            </a:r>
            <a:r>
              <a:rPr lang="hu-HU" sz="1200" dirty="0" smtClean="0"/>
              <a:t> </a:t>
            </a:r>
            <a:r>
              <a:rPr lang="hu-HU" sz="1200" dirty="0" err="1" smtClean="0"/>
              <a:t>well</a:t>
            </a:r>
            <a:r>
              <a:rPr lang="hu-HU" sz="1200" dirty="0" smtClean="0"/>
              <a:t> </a:t>
            </a:r>
            <a:r>
              <a:rPr lang="hu-HU" sz="1200" dirty="0" err="1" smtClean="0"/>
              <a:t>in</a:t>
            </a:r>
            <a:r>
              <a:rPr lang="hu-HU" sz="1200" dirty="0" smtClean="0"/>
              <a:t> </a:t>
            </a:r>
            <a:r>
              <a:rPr lang="hu-HU" sz="1200" dirty="0" err="1" smtClean="0"/>
              <a:t>practice</a:t>
            </a:r>
            <a:r>
              <a:rPr lang="hu-HU" sz="1200" dirty="0" smtClean="0"/>
              <a:t>.</a:t>
            </a:r>
            <a:endParaRPr lang="hu-HU" sz="1600" dirty="0" smtClean="0"/>
          </a:p>
          <a:p>
            <a:r>
              <a:rPr lang="hu-HU" sz="1800" dirty="0" smtClean="0"/>
              <a:t>The </a:t>
            </a:r>
            <a:r>
              <a:rPr lang="hu-HU" sz="1800" b="1" dirty="0" err="1" smtClean="0"/>
              <a:t>dictionary</a:t>
            </a:r>
            <a:r>
              <a:rPr lang="hu-HU" sz="1800" b="1" dirty="0" smtClean="0"/>
              <a:t> </a:t>
            </a:r>
            <a:r>
              <a:rPr lang="hu-HU" sz="1800" dirty="0" smtClean="0"/>
              <a:t>is a </a:t>
            </a:r>
            <a:r>
              <a:rPr lang="hu-HU" sz="1800" dirty="0" err="1" smtClean="0"/>
              <a:t>list</a:t>
            </a:r>
            <a:r>
              <a:rPr lang="hu-HU" sz="1800" dirty="0" smtClean="0"/>
              <a:t> of </a:t>
            </a:r>
            <a:r>
              <a:rPr lang="hu-HU" sz="1800" dirty="0" err="1" smtClean="0"/>
              <a:t>lemmas</a:t>
            </a:r>
            <a:r>
              <a:rPr lang="hu-HU" sz="1800" dirty="0" smtClean="0"/>
              <a:t> </a:t>
            </a:r>
            <a:r>
              <a:rPr lang="hu-HU" sz="1800" dirty="0" err="1" smtClean="0"/>
              <a:t>or</a:t>
            </a:r>
            <a:r>
              <a:rPr lang="hu-HU" sz="1800" dirty="0" smtClean="0"/>
              <a:t> </a:t>
            </a:r>
            <a:r>
              <a:rPr lang="hu-HU" sz="1800" dirty="0" err="1" smtClean="0"/>
              <a:t>word</a:t>
            </a:r>
            <a:r>
              <a:rPr lang="hu-HU" sz="1800" dirty="0" smtClean="0"/>
              <a:t> </a:t>
            </a:r>
            <a:r>
              <a:rPr lang="hu-HU" sz="1800" dirty="0" err="1" smtClean="0"/>
              <a:t>forms</a:t>
            </a:r>
            <a:r>
              <a:rPr lang="hu-HU" sz="1800" dirty="0" smtClean="0"/>
              <a:t> </a:t>
            </a:r>
            <a:r>
              <a:rPr lang="hu-HU" sz="1800" dirty="0" err="1" smtClean="0"/>
              <a:t>of</a:t>
            </a:r>
            <a:r>
              <a:rPr lang="hu-HU" sz="1800" dirty="0" smtClean="0"/>
              <a:t> </a:t>
            </a:r>
            <a:r>
              <a:rPr lang="hu-HU" sz="1800" dirty="0" err="1" smtClean="0"/>
              <a:t>length</a:t>
            </a:r>
            <a:r>
              <a:rPr lang="hu-HU" sz="1800" dirty="0" smtClean="0"/>
              <a:t> N, a </a:t>
            </a:r>
            <a:r>
              <a:rPr lang="hu-HU" sz="1800" dirty="0" err="1" smtClean="0"/>
              <a:t>k-dimensional</a:t>
            </a:r>
            <a:r>
              <a:rPr lang="hu-HU" sz="1800" dirty="0" smtClean="0"/>
              <a:t> </a:t>
            </a:r>
            <a:r>
              <a:rPr lang="hu-HU" sz="1800" dirty="0" err="1" smtClean="0"/>
              <a:t>word</a:t>
            </a:r>
            <a:r>
              <a:rPr lang="hu-HU" sz="1800" dirty="0" smtClean="0"/>
              <a:t> </a:t>
            </a:r>
            <a:r>
              <a:rPr lang="hu-HU" sz="1800" dirty="0" err="1" smtClean="0"/>
              <a:t>vector</a:t>
            </a:r>
            <a:r>
              <a:rPr lang="hu-HU" sz="1800" dirty="0" smtClean="0"/>
              <a:t> </a:t>
            </a:r>
            <a:r>
              <a:rPr lang="hu-HU" sz="1800" dirty="0" err="1" smtClean="0"/>
              <a:t>belongs</a:t>
            </a:r>
            <a:r>
              <a:rPr lang="hu-HU" sz="1800" dirty="0" smtClean="0"/>
              <a:t> </a:t>
            </a:r>
            <a:r>
              <a:rPr lang="hu-HU" sz="1800" dirty="0" err="1" smtClean="0"/>
              <a:t>to</a:t>
            </a:r>
            <a:r>
              <a:rPr lang="hu-HU" sz="1800" dirty="0" smtClean="0"/>
              <a:t> </a:t>
            </a:r>
            <a:r>
              <a:rPr lang="hu-HU" sz="1800" dirty="0" err="1" smtClean="0"/>
              <a:t>each</a:t>
            </a:r>
            <a:r>
              <a:rPr lang="hu-HU" sz="1800" dirty="0" smtClean="0"/>
              <a:t> of </a:t>
            </a:r>
            <a:r>
              <a:rPr lang="hu-HU" sz="1800" dirty="0" err="1" smtClean="0"/>
              <a:t>these</a:t>
            </a:r>
            <a:r>
              <a:rPr lang="hu-HU" sz="1800" dirty="0" smtClean="0"/>
              <a:t>.</a:t>
            </a:r>
          </a:p>
          <a:p>
            <a:pPr lvl="1"/>
            <a:r>
              <a:rPr lang="hu-HU" sz="1600" dirty="0" smtClean="0"/>
              <a:t>The </a:t>
            </a:r>
            <a:r>
              <a:rPr lang="hu-HU" sz="1600" dirty="0" err="1" smtClean="0"/>
              <a:t>vectors</a:t>
            </a:r>
            <a:r>
              <a:rPr lang="hu-HU" sz="1600" dirty="0" smtClean="0"/>
              <a:t> </a:t>
            </a:r>
            <a:r>
              <a:rPr lang="hu-HU" sz="1600" dirty="0" err="1" smtClean="0"/>
              <a:t>are</a:t>
            </a:r>
            <a:r>
              <a:rPr lang="hu-HU" sz="1600" dirty="0" smtClean="0"/>
              <a:t> </a:t>
            </a:r>
            <a:r>
              <a:rPr lang="hu-HU" sz="1600" dirty="0" err="1" smtClean="0"/>
              <a:t>stored</a:t>
            </a:r>
            <a:r>
              <a:rPr lang="hu-HU" sz="1600" dirty="0" smtClean="0"/>
              <a:t> </a:t>
            </a:r>
            <a:r>
              <a:rPr lang="hu-HU" sz="1600" dirty="0" err="1" smtClean="0"/>
              <a:t>in</a:t>
            </a:r>
            <a:r>
              <a:rPr lang="hu-HU" sz="1600" dirty="0" smtClean="0"/>
              <a:t> a </a:t>
            </a:r>
            <a:r>
              <a:rPr lang="hu-HU" sz="1600" dirty="0" err="1" smtClean="0"/>
              <a:t>matrix</a:t>
            </a:r>
            <a:r>
              <a:rPr lang="hu-HU" sz="1600" dirty="0" smtClean="0"/>
              <a:t> of N </a:t>
            </a:r>
            <a:r>
              <a:rPr lang="hu-HU" sz="1600" dirty="0" err="1" smtClean="0"/>
              <a:t>rows</a:t>
            </a:r>
            <a:r>
              <a:rPr lang="hu-HU" sz="1600" dirty="0" smtClean="0"/>
              <a:t>, k </a:t>
            </a:r>
            <a:r>
              <a:rPr lang="hu-HU" sz="1600" dirty="0" err="1" smtClean="0"/>
              <a:t>columns</a:t>
            </a:r>
            <a:r>
              <a:rPr lang="hu-HU" sz="1600" dirty="0" smtClean="0"/>
              <a:t>.</a:t>
            </a:r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74012"/>
              </p:ext>
            </p:extLst>
          </p:nvPr>
        </p:nvGraphicFramePr>
        <p:xfrm>
          <a:off x="1115616" y="4797152"/>
          <a:ext cx="6384029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09337"/>
                <a:gridCol w="798870"/>
                <a:gridCol w="980334"/>
                <a:gridCol w="348805"/>
                <a:gridCol w="933170"/>
                <a:gridCol w="377052"/>
                <a:gridCol w="817788"/>
                <a:gridCol w="313367"/>
                <a:gridCol w="1105306"/>
              </a:tblGrid>
              <a:tr h="370840">
                <a:tc>
                  <a:txBody>
                    <a:bodyPr/>
                    <a:lstStyle/>
                    <a:p>
                      <a:endParaRPr lang="hu-HU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err="1" smtClean="0"/>
                        <a:t>abacus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err="1" smtClean="0"/>
                        <a:t>ablative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err="1" smtClean="0"/>
                        <a:t>calculate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err="1" smtClean="0"/>
                        <a:t>picture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zoom</a:t>
                      </a:r>
                      <a:endParaRPr lang="hu-H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err="1" smtClean="0"/>
                        <a:t>abacus</a:t>
                      </a:r>
                      <a:endParaRPr lang="hu-HU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2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0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3825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58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2</a:t>
                      </a:r>
                      <a:endParaRPr lang="hu-H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zoom</a:t>
                      </a:r>
                      <a:endParaRPr lang="hu-HU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2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0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9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2476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5</a:t>
                      </a:r>
                      <a:endParaRPr lang="hu-HU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Szövegdoboz 4"/>
          <p:cNvSpPr txBox="1"/>
          <p:nvPr/>
        </p:nvSpPr>
        <p:spPr>
          <a:xfrm>
            <a:off x="3563888" y="4263777"/>
            <a:ext cx="2304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i="1" dirty="0" smtClean="0"/>
              <a:t>k </a:t>
            </a:r>
            <a:r>
              <a:rPr lang="hu-HU" sz="1400" i="1" dirty="0" err="1" smtClean="0"/>
              <a:t>columns</a:t>
            </a:r>
            <a:r>
              <a:rPr lang="hu-HU" sz="1400" i="1" dirty="0" smtClean="0"/>
              <a:t>: </a:t>
            </a:r>
            <a:r>
              <a:rPr lang="hu-HU" sz="1400" i="1" dirty="0" err="1" smtClean="0"/>
              <a:t>context</a:t>
            </a:r>
            <a:r>
              <a:rPr lang="hu-HU" sz="1400" i="1" dirty="0" smtClean="0"/>
              <a:t> </a:t>
            </a:r>
            <a:r>
              <a:rPr lang="hu-HU" sz="1400" i="1" dirty="0" err="1" smtClean="0"/>
              <a:t>words</a:t>
            </a:r>
            <a:endParaRPr lang="hu-HU" sz="1400" i="1" dirty="0"/>
          </a:p>
        </p:txBody>
      </p:sp>
      <p:sp>
        <p:nvSpPr>
          <p:cNvPr id="6" name="Bal oldali kapcsos zárójel 5"/>
          <p:cNvSpPr/>
          <p:nvPr/>
        </p:nvSpPr>
        <p:spPr>
          <a:xfrm rot="5400000">
            <a:off x="4697149" y="2070142"/>
            <a:ext cx="181747" cy="51845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Bal oldali kapcsos zárójel 6"/>
          <p:cNvSpPr/>
          <p:nvPr/>
        </p:nvSpPr>
        <p:spPr>
          <a:xfrm rot="10800000">
            <a:off x="7524328" y="5229200"/>
            <a:ext cx="144017" cy="100811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Szövegdoboz 7"/>
          <p:cNvSpPr txBox="1"/>
          <p:nvPr/>
        </p:nvSpPr>
        <p:spPr>
          <a:xfrm rot="5400000">
            <a:off x="7402052" y="5471646"/>
            <a:ext cx="11190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1400" i="1" dirty="0" smtClean="0"/>
              <a:t>N </a:t>
            </a:r>
            <a:r>
              <a:rPr lang="hu-HU" sz="1400" i="1" dirty="0" err="1" smtClean="0"/>
              <a:t>rows</a:t>
            </a:r>
            <a:r>
              <a:rPr lang="hu-HU" sz="1400" i="1" dirty="0" smtClean="0"/>
              <a:t>:</a:t>
            </a:r>
          </a:p>
          <a:p>
            <a:pPr algn="ctr"/>
            <a:r>
              <a:rPr lang="hu-HU" sz="1400" i="1" dirty="0" err="1" smtClean="0"/>
              <a:t>target</a:t>
            </a:r>
            <a:r>
              <a:rPr lang="hu-HU" sz="1400" i="1" dirty="0" smtClean="0"/>
              <a:t> </a:t>
            </a:r>
            <a:r>
              <a:rPr lang="hu-HU" sz="1400" i="1" dirty="0" err="1" smtClean="0"/>
              <a:t>words</a:t>
            </a:r>
            <a:endParaRPr lang="hu-HU" sz="1400" i="1" dirty="0"/>
          </a:p>
        </p:txBody>
      </p:sp>
    </p:spTree>
    <p:extLst>
      <p:ext uri="{BB962C8B-B14F-4D97-AF65-F5344CB8AC3E}">
        <p14:creationId xmlns:p14="http://schemas.microsoft.com/office/powerpoint/2010/main" val="1887616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Latent</a:t>
            </a:r>
            <a:r>
              <a:rPr lang="hu-HU" dirty="0" smtClean="0"/>
              <a:t> </a:t>
            </a:r>
            <a:r>
              <a:rPr lang="hu-HU" dirty="0" err="1"/>
              <a:t>S</a:t>
            </a:r>
            <a:r>
              <a:rPr lang="hu-HU" dirty="0" err="1" smtClean="0"/>
              <a:t>emantic</a:t>
            </a:r>
            <a:r>
              <a:rPr lang="hu-HU" dirty="0" smtClean="0"/>
              <a:t> </a:t>
            </a:r>
            <a:r>
              <a:rPr lang="hu-HU" dirty="0" err="1"/>
              <a:t>A</a:t>
            </a:r>
            <a:r>
              <a:rPr lang="hu-HU" dirty="0" err="1" smtClean="0"/>
              <a:t>nalysis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4032448"/>
          </a:xfrm>
        </p:spPr>
        <p:txBody>
          <a:bodyPr>
            <a:normAutofit fontScale="55000" lnSpcReduction="20000"/>
          </a:bodyPr>
          <a:lstStyle/>
          <a:p>
            <a:r>
              <a:rPr lang="hu-HU" dirty="0" err="1" smtClean="0"/>
              <a:t>Co-occurrence</a:t>
            </a:r>
            <a:r>
              <a:rPr lang="hu-HU" dirty="0" smtClean="0"/>
              <a:t> </a:t>
            </a:r>
            <a:r>
              <a:rPr lang="hu-HU" dirty="0" err="1" smtClean="0"/>
              <a:t>counts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weighted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absolute</a:t>
            </a:r>
            <a:r>
              <a:rPr lang="hu-HU" dirty="0" smtClean="0"/>
              <a:t> </a:t>
            </a:r>
            <a:r>
              <a:rPr lang="hu-HU" dirty="0" err="1" smtClean="0"/>
              <a:t>frequency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lemma.</a:t>
            </a:r>
          </a:p>
          <a:p>
            <a:r>
              <a:rPr lang="hu-HU" dirty="0" err="1" smtClean="0"/>
              <a:t>Number</a:t>
            </a:r>
            <a:r>
              <a:rPr lang="hu-HU" dirty="0" smtClean="0"/>
              <a:t> of </a:t>
            </a:r>
            <a:r>
              <a:rPr lang="hu-HU" dirty="0" err="1" smtClean="0"/>
              <a:t>dimensions</a:t>
            </a:r>
            <a:r>
              <a:rPr lang="hu-HU" dirty="0" smtClean="0"/>
              <a:t> is </a:t>
            </a:r>
            <a:r>
              <a:rPr lang="hu-HU" b="1" dirty="0" err="1" smtClean="0"/>
              <a:t>reduced</a:t>
            </a:r>
            <a:r>
              <a:rPr lang="hu-HU" b="1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mathematical</a:t>
            </a:r>
            <a:r>
              <a:rPr lang="hu-HU" dirty="0" smtClean="0"/>
              <a:t> </a:t>
            </a:r>
            <a:r>
              <a:rPr lang="hu-HU" dirty="0" err="1" smtClean="0"/>
              <a:t>methods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some</a:t>
            </a:r>
            <a:r>
              <a:rPr lang="hu-HU" dirty="0" smtClean="0"/>
              <a:t> </a:t>
            </a:r>
            <a:r>
              <a:rPr lang="hu-HU" dirty="0" err="1" smtClean="0"/>
              <a:t>smaller</a:t>
            </a:r>
            <a:r>
              <a:rPr lang="hu-HU" dirty="0" smtClean="0"/>
              <a:t> </a:t>
            </a:r>
            <a:r>
              <a:rPr lang="hu-HU" dirty="0" err="1" smtClean="0"/>
              <a:t>number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A </a:t>
            </a:r>
            <a:r>
              <a:rPr lang="hu-HU" dirty="0" err="1" smtClean="0"/>
              <a:t>technique</a:t>
            </a:r>
            <a:r>
              <a:rPr lang="hu-HU" dirty="0" smtClean="0"/>
              <a:t> </a:t>
            </a:r>
            <a:r>
              <a:rPr lang="hu-HU" dirty="0" err="1" smtClean="0"/>
              <a:t>called</a:t>
            </a:r>
            <a:r>
              <a:rPr lang="hu-HU" dirty="0" smtClean="0"/>
              <a:t> </a:t>
            </a:r>
            <a:r>
              <a:rPr lang="hu-HU" dirty="0" err="1" smtClean="0"/>
              <a:t>latent</a:t>
            </a:r>
            <a:r>
              <a:rPr lang="hu-HU" dirty="0" smtClean="0"/>
              <a:t> </a:t>
            </a:r>
            <a:r>
              <a:rPr lang="hu-HU" dirty="0" err="1" smtClean="0"/>
              <a:t>semantic</a:t>
            </a:r>
            <a:r>
              <a:rPr lang="hu-HU" dirty="0" smtClean="0"/>
              <a:t> </a:t>
            </a:r>
            <a:r>
              <a:rPr lang="hu-HU" dirty="0" err="1" smtClean="0"/>
              <a:t>analysis</a:t>
            </a:r>
            <a:r>
              <a:rPr lang="hu-HU" dirty="0" smtClean="0"/>
              <a:t> (</a:t>
            </a:r>
            <a:r>
              <a:rPr lang="hu-HU" dirty="0" err="1" smtClean="0"/>
              <a:t>LSA</a:t>
            </a:r>
            <a:r>
              <a:rPr lang="hu-HU" dirty="0" smtClean="0"/>
              <a:t>), </a:t>
            </a:r>
            <a:r>
              <a:rPr lang="hu-HU" dirty="0" err="1" smtClean="0"/>
              <a:t>which</a:t>
            </a:r>
            <a:r>
              <a:rPr lang="hu-HU" dirty="0" smtClean="0"/>
              <a:t> is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decomposition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weighted</a:t>
            </a:r>
            <a:r>
              <a:rPr lang="hu-HU" dirty="0" smtClean="0"/>
              <a:t> </a:t>
            </a:r>
            <a:r>
              <a:rPr lang="hu-HU" dirty="0" err="1" smtClean="0"/>
              <a:t>co-occurrence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,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calculate</a:t>
            </a:r>
            <a:r>
              <a:rPr lang="hu-HU" dirty="0" smtClean="0"/>
              <a:t> a </a:t>
            </a:r>
            <a:r>
              <a:rPr lang="hu-HU" dirty="0" err="1" smtClean="0"/>
              <a:t>lower-rank</a:t>
            </a:r>
            <a:r>
              <a:rPr lang="hu-HU" dirty="0" smtClean="0"/>
              <a:t> </a:t>
            </a:r>
            <a:r>
              <a:rPr lang="hu-HU" dirty="0" err="1" smtClean="0"/>
              <a:t>approximation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original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Note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LSA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historically</a:t>
            </a:r>
            <a:r>
              <a:rPr lang="hu-HU" dirty="0" smtClean="0"/>
              <a:t> </a:t>
            </a:r>
            <a:r>
              <a:rPr lang="hu-HU" dirty="0" err="1" smtClean="0"/>
              <a:t>mainly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co-occurrence</a:t>
            </a:r>
            <a:r>
              <a:rPr lang="hu-HU" dirty="0" smtClean="0"/>
              <a:t> </a:t>
            </a:r>
            <a:r>
              <a:rPr lang="hu-HU" dirty="0" err="1" smtClean="0"/>
              <a:t>matrices</a:t>
            </a:r>
            <a:r>
              <a:rPr lang="hu-HU" dirty="0" smtClean="0"/>
              <a:t>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information</a:t>
            </a:r>
            <a:r>
              <a:rPr lang="hu-HU" dirty="0" smtClean="0"/>
              <a:t> </a:t>
            </a:r>
            <a:r>
              <a:rPr lang="hu-HU" dirty="0" err="1" smtClean="0"/>
              <a:t>retrieval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document-term</a:t>
            </a:r>
            <a:r>
              <a:rPr lang="hu-HU" dirty="0" smtClean="0"/>
              <a:t> </a:t>
            </a:r>
            <a:r>
              <a:rPr lang="hu-HU" dirty="0" err="1" smtClean="0"/>
              <a:t>matrices</a:t>
            </a:r>
            <a:r>
              <a:rPr lang="hu-HU" dirty="0" smtClean="0"/>
              <a:t>, </a:t>
            </a:r>
            <a:r>
              <a:rPr lang="hu-HU" dirty="0" err="1" smtClean="0"/>
              <a:t>containing</a:t>
            </a:r>
            <a:r>
              <a:rPr lang="hu-HU" dirty="0" smtClean="0"/>
              <a:t> </a:t>
            </a:r>
            <a:r>
              <a:rPr lang="hu-HU" dirty="0" err="1" smtClean="0"/>
              <a:t>counts</a:t>
            </a:r>
            <a:r>
              <a:rPr lang="hu-HU" dirty="0" smtClean="0"/>
              <a:t> of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. The </a:t>
            </a:r>
            <a:r>
              <a:rPr lang="hu-HU" dirty="0" err="1" smtClean="0"/>
              <a:t>goal</a:t>
            </a:r>
            <a:r>
              <a:rPr lang="hu-HU" dirty="0" smtClean="0"/>
              <a:t> here </a:t>
            </a:r>
            <a:r>
              <a:rPr lang="hu-HU" dirty="0" err="1" smtClean="0"/>
              <a:t>was</a:t>
            </a:r>
            <a:r>
              <a:rPr lang="hu-HU" dirty="0" smtClean="0"/>
              <a:t> a </a:t>
            </a:r>
            <a:r>
              <a:rPr lang="hu-HU" dirty="0" err="1" smtClean="0"/>
              <a:t>semantic</a:t>
            </a:r>
            <a:r>
              <a:rPr lang="hu-HU" dirty="0" smtClean="0"/>
              <a:t> </a:t>
            </a:r>
            <a:r>
              <a:rPr lang="hu-HU" dirty="0" err="1" smtClean="0"/>
              <a:t>representation</a:t>
            </a:r>
            <a:r>
              <a:rPr lang="hu-HU" dirty="0" smtClean="0"/>
              <a:t> of a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lookup</a:t>
            </a:r>
            <a:r>
              <a:rPr lang="hu-HU" dirty="0" smtClean="0"/>
              <a:t>.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application</a:t>
            </a:r>
            <a:r>
              <a:rPr lang="hu-HU" dirty="0" smtClean="0"/>
              <a:t> is </a:t>
            </a:r>
            <a:r>
              <a:rPr lang="hu-HU" dirty="0" err="1" smtClean="0"/>
              <a:t>known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LSI</a:t>
            </a:r>
            <a:r>
              <a:rPr lang="hu-HU" dirty="0"/>
              <a:t> </a:t>
            </a:r>
            <a:r>
              <a:rPr lang="hu-HU" dirty="0" smtClean="0"/>
              <a:t>(indexing).</a:t>
            </a:r>
          </a:p>
          <a:p>
            <a:pPr lvl="1"/>
            <a:r>
              <a:rPr lang="hu-HU" dirty="0" smtClean="0"/>
              <a:t>Best </a:t>
            </a:r>
            <a:r>
              <a:rPr lang="hu-HU" dirty="0" err="1" smtClean="0"/>
              <a:t>practice</a:t>
            </a:r>
            <a:r>
              <a:rPr lang="hu-HU" dirty="0" smtClean="0"/>
              <a:t> is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set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reduced</a:t>
            </a:r>
            <a:r>
              <a:rPr lang="hu-HU" dirty="0" smtClean="0"/>
              <a:t> </a:t>
            </a:r>
            <a:r>
              <a:rPr lang="hu-HU" dirty="0" err="1" smtClean="0"/>
              <a:t>number</a:t>
            </a:r>
            <a:r>
              <a:rPr lang="hu-HU" dirty="0" smtClean="0"/>
              <a:t> of </a:t>
            </a:r>
            <a:r>
              <a:rPr lang="hu-HU" dirty="0" err="1" smtClean="0"/>
              <a:t>dimensions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100 and 1000.</a:t>
            </a:r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constitutes</a:t>
            </a:r>
            <a:r>
              <a:rPr lang="hu-HU" dirty="0" smtClean="0"/>
              <a:t> a </a:t>
            </a:r>
            <a:r>
              <a:rPr lang="hu-HU" dirty="0" err="1" smtClean="0"/>
              <a:t>form</a:t>
            </a:r>
            <a:r>
              <a:rPr lang="hu-HU" dirty="0" smtClean="0"/>
              <a:t> of </a:t>
            </a:r>
            <a:r>
              <a:rPr lang="hu-HU" dirty="0" err="1" smtClean="0"/>
              <a:t>information</a:t>
            </a:r>
            <a:r>
              <a:rPr lang="hu-HU" dirty="0" smtClean="0"/>
              <a:t> </a:t>
            </a:r>
            <a:r>
              <a:rPr lang="hu-HU" dirty="0" err="1" smtClean="0"/>
              <a:t>compression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lower-dimensional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contain</a:t>
            </a:r>
            <a:r>
              <a:rPr lang="hu-HU" dirty="0" smtClean="0"/>
              <a:t> </a:t>
            </a:r>
            <a:r>
              <a:rPr lang="hu-HU" dirty="0" err="1" smtClean="0"/>
              <a:t>roughly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</a:t>
            </a:r>
            <a:r>
              <a:rPr lang="hu-HU" dirty="0" err="1" smtClean="0"/>
              <a:t>information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higher-dimensional</a:t>
            </a:r>
            <a:r>
              <a:rPr lang="hu-HU" dirty="0" smtClean="0"/>
              <a:t> </a:t>
            </a:r>
            <a:r>
              <a:rPr lang="hu-HU" dirty="0" err="1" smtClean="0"/>
              <a:t>ones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meanings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still</a:t>
            </a:r>
            <a:r>
              <a:rPr lang="hu-HU" dirty="0" smtClean="0"/>
              <a:t> </a:t>
            </a:r>
            <a:r>
              <a:rPr lang="hu-HU" dirty="0" err="1" smtClean="0"/>
              <a:t>located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regions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space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distribution</a:t>
            </a:r>
            <a:r>
              <a:rPr lang="hu-HU" dirty="0" smtClean="0"/>
              <a:t> of a </a:t>
            </a:r>
            <a:r>
              <a:rPr lang="hu-HU" dirty="0" err="1" smtClean="0"/>
              <a:t>word</a:t>
            </a:r>
            <a:r>
              <a:rPr lang="hu-HU" dirty="0" smtClean="0"/>
              <a:t> is </a:t>
            </a:r>
            <a:r>
              <a:rPr lang="hu-HU" dirty="0" err="1" smtClean="0"/>
              <a:t>described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distributed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locally</a:t>
            </a:r>
            <a:endParaRPr lang="hu-HU" dirty="0" smtClean="0"/>
          </a:p>
          <a:p>
            <a:pPr lvl="2"/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fact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i="1" dirty="0" err="1" smtClean="0"/>
              <a:t>abacus</a:t>
            </a:r>
            <a:r>
              <a:rPr lang="hu-HU" i="1" dirty="0" smtClean="0"/>
              <a:t> </a:t>
            </a:r>
            <a:r>
              <a:rPr lang="hu-HU" dirty="0" smtClean="0"/>
              <a:t>and </a:t>
            </a:r>
            <a:r>
              <a:rPr lang="hu-HU" i="1" dirty="0" err="1" smtClean="0"/>
              <a:t>calculate</a:t>
            </a:r>
            <a:r>
              <a:rPr lang="hu-HU" i="1" dirty="0" smtClean="0"/>
              <a:t> </a:t>
            </a:r>
            <a:r>
              <a:rPr lang="hu-HU" dirty="0" err="1" smtClean="0"/>
              <a:t>often</a:t>
            </a:r>
            <a:r>
              <a:rPr lang="hu-HU" dirty="0" smtClean="0"/>
              <a:t> </a:t>
            </a:r>
            <a:r>
              <a:rPr lang="hu-HU" dirty="0" err="1" smtClean="0"/>
              <a:t>co-occur</a:t>
            </a:r>
            <a:r>
              <a:rPr lang="hu-HU" dirty="0" smtClean="0"/>
              <a:t> is </a:t>
            </a:r>
            <a:r>
              <a:rPr lang="hu-HU" dirty="0" err="1" smtClean="0"/>
              <a:t>still</a:t>
            </a:r>
            <a:r>
              <a:rPr lang="hu-HU" dirty="0" smtClean="0"/>
              <a:t> </a:t>
            </a:r>
            <a:r>
              <a:rPr lang="hu-HU" dirty="0" err="1" smtClean="0"/>
              <a:t>contained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their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value</a:t>
            </a:r>
            <a:r>
              <a:rPr lang="hu-HU" dirty="0" smtClean="0"/>
              <a:t> of a </a:t>
            </a:r>
            <a:r>
              <a:rPr lang="hu-HU" dirty="0" err="1" smtClean="0"/>
              <a:t>single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element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distributed</a:t>
            </a:r>
            <a:r>
              <a:rPr lang="hu-HU" dirty="0" smtClean="0"/>
              <a:t> </a:t>
            </a:r>
            <a:r>
              <a:rPr lang="hu-HU" dirty="0" err="1" smtClean="0"/>
              <a:t>among</a:t>
            </a:r>
            <a:r>
              <a:rPr lang="hu-HU" dirty="0" smtClean="0"/>
              <a:t> </a:t>
            </a:r>
            <a:r>
              <a:rPr lang="hu-HU" dirty="0" err="1" smtClean="0"/>
              <a:t>multiple</a:t>
            </a:r>
            <a:r>
              <a:rPr lang="hu-HU" dirty="0" smtClean="0"/>
              <a:t> </a:t>
            </a:r>
            <a:r>
              <a:rPr lang="hu-HU" dirty="0" err="1" smtClean="0"/>
              <a:t>feature</a:t>
            </a:r>
            <a:r>
              <a:rPr lang="hu-HU" dirty="0" smtClean="0"/>
              <a:t> </a:t>
            </a:r>
            <a:r>
              <a:rPr lang="hu-HU" dirty="0" err="1" smtClean="0"/>
              <a:t>values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Individual</a:t>
            </a:r>
            <a:r>
              <a:rPr lang="hu-HU" dirty="0" smtClean="0"/>
              <a:t> </a:t>
            </a:r>
            <a:r>
              <a:rPr lang="hu-HU" dirty="0" err="1" smtClean="0"/>
              <a:t>feature</a:t>
            </a:r>
            <a:r>
              <a:rPr lang="hu-HU" dirty="0" smtClean="0"/>
              <a:t> </a:t>
            </a:r>
            <a:r>
              <a:rPr lang="hu-HU" dirty="0" err="1" smtClean="0"/>
              <a:t>values</a:t>
            </a:r>
            <a:r>
              <a:rPr lang="hu-HU" dirty="0" smtClean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express</a:t>
            </a:r>
            <a:r>
              <a:rPr lang="hu-HU" dirty="0" smtClean="0"/>
              <a:t> </a:t>
            </a:r>
            <a:r>
              <a:rPr lang="hu-HU" dirty="0" err="1" smtClean="0"/>
              <a:t>any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meaning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interpretable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humans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calculate</a:t>
            </a:r>
            <a:r>
              <a:rPr lang="hu-HU" dirty="0" smtClean="0"/>
              <a:t> </a:t>
            </a:r>
            <a:r>
              <a:rPr lang="hu-HU" dirty="0" err="1" smtClean="0"/>
              <a:t>similarities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them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a computer.</a:t>
            </a:r>
            <a:endParaRPr lang="hu-HU" dirty="0"/>
          </a:p>
        </p:txBody>
      </p:sp>
      <p:graphicFrame>
        <p:nvGraphicFramePr>
          <p:cNvPr id="4" name="Tábláza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64322"/>
              </p:ext>
            </p:extLst>
          </p:nvPr>
        </p:nvGraphicFramePr>
        <p:xfrm>
          <a:off x="1547664" y="5301208"/>
          <a:ext cx="6168005" cy="1417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0080"/>
                <a:gridCol w="650588"/>
                <a:gridCol w="1033665"/>
                <a:gridCol w="337002"/>
                <a:gridCol w="901594"/>
                <a:gridCol w="364293"/>
                <a:gridCol w="790115"/>
                <a:gridCol w="302764"/>
                <a:gridCol w="1067904"/>
              </a:tblGrid>
              <a:tr h="0">
                <a:tc>
                  <a:txBody>
                    <a:bodyPr/>
                    <a:lstStyle/>
                    <a:p>
                      <a:endParaRPr lang="hu-HU" sz="14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1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2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28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73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100</a:t>
                      </a:r>
                      <a:endParaRPr lang="hu-H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err="1" smtClean="0"/>
                        <a:t>abacus</a:t>
                      </a:r>
                      <a:endParaRPr lang="hu-HU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2,13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-0,52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1,31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3,86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0,51</a:t>
                      </a:r>
                      <a:endParaRPr lang="hu-H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zoom</a:t>
                      </a:r>
                      <a:endParaRPr lang="hu-HU" sz="1400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-3,82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-0,36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4,81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1,17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…</a:t>
                      </a:r>
                      <a:endParaRPr lang="hu-H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dirty="0" smtClean="0"/>
                        <a:t>-2,57</a:t>
                      </a:r>
                      <a:endParaRPr lang="hu-HU" sz="1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01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 smtClean="0"/>
              <a:t>Historical</a:t>
            </a:r>
            <a:r>
              <a:rPr lang="hu-HU" dirty="0" smtClean="0"/>
              <a:t> </a:t>
            </a:r>
            <a:r>
              <a:rPr lang="hu-HU" dirty="0" err="1" smtClean="0"/>
              <a:t>Overview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dirty="0" smtClean="0"/>
              <a:t>Classic </a:t>
            </a:r>
            <a:r>
              <a:rPr lang="hu-HU" dirty="0" err="1" smtClean="0"/>
              <a:t>linguistic</a:t>
            </a:r>
            <a:r>
              <a:rPr lang="hu-HU" dirty="0" smtClean="0"/>
              <a:t> </a:t>
            </a:r>
            <a:r>
              <a:rPr lang="hu-HU" dirty="0" err="1" smtClean="0"/>
              <a:t>structuralism</a:t>
            </a:r>
            <a:endParaRPr lang="hu-HU" dirty="0"/>
          </a:p>
          <a:p>
            <a:pPr lvl="1"/>
            <a:r>
              <a:rPr lang="hu-HU" dirty="0" err="1" smtClean="0"/>
              <a:t>Ideas</a:t>
            </a:r>
            <a:r>
              <a:rPr lang="hu-HU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DH</a:t>
            </a:r>
            <a:r>
              <a:rPr lang="hu-HU" dirty="0" smtClean="0"/>
              <a:t> </a:t>
            </a:r>
            <a:r>
              <a:rPr lang="hu-HU" dirty="0" err="1" smtClean="0"/>
              <a:t>were</a:t>
            </a:r>
            <a:r>
              <a:rPr lang="hu-HU" dirty="0" smtClean="0"/>
              <a:t> </a:t>
            </a:r>
            <a:r>
              <a:rPr lang="hu-HU" dirty="0" err="1" smtClean="0"/>
              <a:t>first</a:t>
            </a:r>
            <a:r>
              <a:rPr lang="hu-HU" dirty="0" smtClean="0"/>
              <a:t> </a:t>
            </a:r>
            <a:r>
              <a:rPr lang="hu-HU" dirty="0" err="1" smtClean="0"/>
              <a:t>formulated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1950s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J.R</a:t>
            </a:r>
            <a:r>
              <a:rPr lang="hu-HU" dirty="0" smtClean="0"/>
              <a:t>. </a:t>
            </a:r>
            <a:r>
              <a:rPr lang="hu-HU" dirty="0" err="1" smtClean="0"/>
              <a:t>Firth</a:t>
            </a:r>
            <a:r>
              <a:rPr lang="hu-HU" dirty="0" smtClean="0"/>
              <a:t> and </a:t>
            </a:r>
            <a:r>
              <a:rPr lang="hu-HU" dirty="0" err="1" smtClean="0"/>
              <a:t>Zellig</a:t>
            </a:r>
            <a:r>
              <a:rPr lang="hu-HU" dirty="0" smtClean="0"/>
              <a:t> Harris.</a:t>
            </a:r>
          </a:p>
          <a:p>
            <a:pPr lvl="1"/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concept</a:t>
            </a:r>
            <a:r>
              <a:rPr lang="hu-HU" dirty="0" smtClean="0"/>
              <a:t> of </a:t>
            </a:r>
            <a:r>
              <a:rPr lang="hu-HU" dirty="0" err="1" smtClean="0"/>
              <a:t>distributional</a:t>
            </a:r>
            <a:r>
              <a:rPr lang="hu-HU" dirty="0" smtClean="0"/>
              <a:t> </a:t>
            </a:r>
            <a:r>
              <a:rPr lang="hu-HU" dirty="0" err="1" smtClean="0"/>
              <a:t>description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suggested</a:t>
            </a:r>
            <a:r>
              <a:rPr lang="hu-HU" dirty="0" smtClean="0"/>
              <a:t>, a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representational</a:t>
            </a:r>
            <a:r>
              <a:rPr lang="hu-HU" dirty="0" smtClean="0"/>
              <a:t> </a:t>
            </a:r>
            <a:r>
              <a:rPr lang="hu-HU" dirty="0" err="1" smtClean="0"/>
              <a:t>format</a:t>
            </a:r>
            <a:r>
              <a:rPr lang="hu-HU" dirty="0" smtClean="0"/>
              <a:t> and </a:t>
            </a:r>
            <a:r>
              <a:rPr lang="hu-HU" dirty="0" err="1" smtClean="0"/>
              <a:t>method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proposed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Mainly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technical</a:t>
            </a:r>
            <a:r>
              <a:rPr lang="hu-HU" dirty="0" smtClean="0"/>
              <a:t> </a:t>
            </a:r>
            <a:r>
              <a:rPr lang="hu-HU" dirty="0" err="1" smtClean="0"/>
              <a:t>reasons</a:t>
            </a:r>
            <a:r>
              <a:rPr lang="hu-HU" dirty="0" smtClean="0"/>
              <a:t>:</a:t>
            </a:r>
          </a:p>
          <a:p>
            <a:pPr lvl="2"/>
            <a:r>
              <a:rPr lang="hu-HU" dirty="0" err="1" smtClean="0"/>
              <a:t>Lack</a:t>
            </a:r>
            <a:r>
              <a:rPr lang="hu-HU" dirty="0" smtClean="0"/>
              <a:t> of </a:t>
            </a:r>
            <a:r>
              <a:rPr lang="hu-HU" dirty="0" err="1" smtClean="0"/>
              <a:t>corpora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a </a:t>
            </a:r>
            <a:r>
              <a:rPr lang="hu-HU" dirty="0" err="1" smtClean="0"/>
              <a:t>suitable</a:t>
            </a:r>
            <a:r>
              <a:rPr lang="hu-HU" dirty="0" smtClean="0"/>
              <a:t> </a:t>
            </a:r>
            <a:r>
              <a:rPr lang="hu-HU" dirty="0" err="1" smtClean="0"/>
              <a:t>size</a:t>
            </a:r>
            <a:endParaRPr lang="hu-HU" dirty="0" smtClean="0"/>
          </a:p>
          <a:p>
            <a:pPr lvl="2"/>
            <a:r>
              <a:rPr lang="hu-HU" dirty="0" err="1" smtClean="0"/>
              <a:t>Lack</a:t>
            </a:r>
            <a:r>
              <a:rPr lang="hu-HU" dirty="0" smtClean="0"/>
              <a:t> of computer hardware </a:t>
            </a:r>
            <a:r>
              <a:rPr lang="hu-HU" dirty="0" err="1" smtClean="0"/>
              <a:t>necessary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processing</a:t>
            </a:r>
            <a:r>
              <a:rPr lang="hu-HU" dirty="0" smtClean="0"/>
              <a:t> </a:t>
            </a:r>
            <a:r>
              <a:rPr lang="hu-HU" dirty="0" err="1" smtClean="0"/>
              <a:t>corpora</a:t>
            </a:r>
            <a:endParaRPr lang="hu-HU" dirty="0" smtClean="0"/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topic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reappeared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80s and 90s</a:t>
            </a:r>
          </a:p>
          <a:p>
            <a:pPr lvl="2"/>
            <a:r>
              <a:rPr lang="hu-HU" dirty="0" smtClean="0"/>
              <a:t>The </a:t>
            </a:r>
            <a:r>
              <a:rPr lang="hu-HU" dirty="0" err="1" smtClean="0"/>
              <a:t>PDP</a:t>
            </a:r>
            <a:r>
              <a:rPr lang="hu-HU" dirty="0" smtClean="0"/>
              <a:t> </a:t>
            </a:r>
            <a:r>
              <a:rPr lang="hu-HU" dirty="0" err="1" smtClean="0"/>
              <a:t>group</a:t>
            </a:r>
            <a:r>
              <a:rPr lang="hu-HU" dirty="0" smtClean="0"/>
              <a:t> </a:t>
            </a:r>
            <a:r>
              <a:rPr lang="hu-HU" dirty="0" err="1" smtClean="0"/>
              <a:t>observed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neural</a:t>
            </a:r>
            <a:r>
              <a:rPr lang="hu-HU" dirty="0" smtClean="0"/>
              <a:t> </a:t>
            </a:r>
            <a:r>
              <a:rPr lang="hu-HU" dirty="0" err="1" smtClean="0"/>
              <a:t>networks</a:t>
            </a:r>
            <a:r>
              <a:rPr lang="hu-HU" dirty="0" smtClean="0"/>
              <a:t> </a:t>
            </a:r>
            <a:r>
              <a:rPr lang="hu-HU" dirty="0" err="1" smtClean="0"/>
              <a:t>spontaneously</a:t>
            </a:r>
            <a:r>
              <a:rPr lang="hu-HU" dirty="0" smtClean="0"/>
              <a:t> </a:t>
            </a:r>
            <a:r>
              <a:rPr lang="hu-HU" dirty="0" err="1" smtClean="0"/>
              <a:t>learned</a:t>
            </a:r>
            <a:r>
              <a:rPr lang="hu-HU" dirty="0" smtClean="0"/>
              <a:t> </a:t>
            </a:r>
            <a:r>
              <a:rPr lang="hu-HU" dirty="0" err="1" smtClean="0"/>
              <a:t>distributed</a:t>
            </a:r>
            <a:r>
              <a:rPr lang="hu-HU" dirty="0" smtClean="0"/>
              <a:t> </a:t>
            </a:r>
            <a:r>
              <a:rPr lang="hu-HU" dirty="0" err="1" smtClean="0"/>
              <a:t>semantic</a:t>
            </a:r>
            <a:r>
              <a:rPr lang="hu-HU" dirty="0" smtClean="0"/>
              <a:t> </a:t>
            </a:r>
            <a:r>
              <a:rPr lang="hu-HU" dirty="0" err="1" smtClean="0"/>
              <a:t>representations</a:t>
            </a:r>
            <a:r>
              <a:rPr lang="hu-HU" dirty="0" smtClean="0"/>
              <a:t> of </a:t>
            </a:r>
            <a:r>
              <a:rPr lang="hu-HU" dirty="0" err="1" smtClean="0"/>
              <a:t>concepts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Latent</a:t>
            </a:r>
            <a:r>
              <a:rPr lang="hu-HU" dirty="0" smtClean="0"/>
              <a:t> </a:t>
            </a:r>
            <a:r>
              <a:rPr lang="hu-HU" dirty="0" err="1" smtClean="0"/>
              <a:t>semantic</a:t>
            </a:r>
            <a:r>
              <a:rPr lang="hu-HU" dirty="0" smtClean="0"/>
              <a:t> </a:t>
            </a:r>
            <a:r>
              <a:rPr lang="hu-HU" dirty="0" err="1" smtClean="0"/>
              <a:t>analysis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suggested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a </a:t>
            </a:r>
            <a:r>
              <a:rPr lang="hu-HU" dirty="0" err="1" smtClean="0"/>
              <a:t>different</a:t>
            </a:r>
            <a:r>
              <a:rPr lang="hu-HU" dirty="0" smtClean="0"/>
              <a:t> </a:t>
            </a:r>
            <a:r>
              <a:rPr lang="hu-HU" dirty="0" err="1" smtClean="0"/>
              <a:t>group</a:t>
            </a:r>
            <a:r>
              <a:rPr lang="hu-HU" dirty="0" smtClean="0"/>
              <a:t> of </a:t>
            </a:r>
            <a:r>
              <a:rPr lang="hu-HU" dirty="0" err="1" smtClean="0"/>
              <a:t>cognitive</a:t>
            </a:r>
            <a:r>
              <a:rPr lang="hu-HU" dirty="0" smtClean="0"/>
              <a:t> </a:t>
            </a:r>
            <a:r>
              <a:rPr lang="hu-HU" dirty="0" err="1" smtClean="0"/>
              <a:t>scientists</a:t>
            </a:r>
            <a:r>
              <a:rPr lang="hu-HU" dirty="0" smtClean="0"/>
              <a:t> and </a:t>
            </a:r>
            <a:r>
              <a:rPr lang="hu-HU" dirty="0" err="1" smtClean="0"/>
              <a:t>NLP</a:t>
            </a:r>
            <a:r>
              <a:rPr lang="hu-HU" dirty="0" smtClean="0"/>
              <a:t> </a:t>
            </a:r>
            <a:r>
              <a:rPr lang="hu-HU" dirty="0" err="1" smtClean="0"/>
              <a:t>researchers</a:t>
            </a:r>
            <a:r>
              <a:rPr lang="hu-HU" dirty="0" smtClean="0"/>
              <a:t> </a:t>
            </a:r>
            <a:r>
              <a:rPr lang="hu-HU" dirty="0" err="1" smtClean="0"/>
              <a:t>and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first</a:t>
            </a:r>
            <a:r>
              <a:rPr lang="hu-HU" dirty="0" smtClean="0"/>
              <a:t> </a:t>
            </a:r>
            <a:r>
              <a:rPr lang="hu-HU" dirty="0" err="1" smtClean="0"/>
              <a:t>serious</a:t>
            </a:r>
            <a:r>
              <a:rPr lang="hu-HU" dirty="0" smtClean="0"/>
              <a:t> </a:t>
            </a:r>
            <a:r>
              <a:rPr lang="hu-HU" dirty="0" err="1" smtClean="0"/>
              <a:t>distributional</a:t>
            </a:r>
            <a:r>
              <a:rPr lang="hu-HU" dirty="0" smtClean="0"/>
              <a:t> </a:t>
            </a:r>
            <a:r>
              <a:rPr lang="hu-HU" dirty="0" err="1" smtClean="0"/>
              <a:t>semantics</a:t>
            </a:r>
            <a:r>
              <a:rPr lang="hu-HU" dirty="0" smtClean="0"/>
              <a:t> </a:t>
            </a:r>
            <a:r>
              <a:rPr lang="hu-HU" dirty="0" err="1" smtClean="0"/>
              <a:t>approach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be </a:t>
            </a:r>
            <a:r>
              <a:rPr lang="hu-HU" dirty="0" err="1" smtClean="0"/>
              <a:t>employed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practice</a:t>
            </a:r>
            <a:r>
              <a:rPr lang="hu-H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023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Historical</a:t>
            </a:r>
            <a:r>
              <a:rPr lang="hu-HU" dirty="0" smtClean="0"/>
              <a:t> </a:t>
            </a:r>
            <a:r>
              <a:rPr lang="hu-HU" dirty="0" err="1" smtClean="0"/>
              <a:t>Overview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err="1" smtClean="0"/>
              <a:t>Nothing</a:t>
            </a:r>
            <a:r>
              <a:rPr lang="hu-HU" dirty="0" smtClean="0"/>
              <a:t> </a:t>
            </a:r>
            <a:r>
              <a:rPr lang="hu-HU" dirty="0" err="1" smtClean="0"/>
              <a:t>happened</a:t>
            </a:r>
            <a:r>
              <a:rPr lang="hu-HU" dirty="0" smtClean="0"/>
              <a:t> </a:t>
            </a:r>
            <a:r>
              <a:rPr lang="hu-HU" dirty="0" err="1" smtClean="0"/>
              <a:t>until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2010s.</a:t>
            </a:r>
          </a:p>
          <a:p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middle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decade</a:t>
            </a:r>
            <a:r>
              <a:rPr lang="hu-HU" dirty="0" smtClean="0"/>
              <a:t>, </a:t>
            </a:r>
            <a:r>
              <a:rPr lang="hu-HU" dirty="0" err="1" smtClean="0"/>
              <a:t>distributional</a:t>
            </a:r>
            <a:r>
              <a:rPr lang="hu-HU" dirty="0" smtClean="0"/>
              <a:t> </a:t>
            </a:r>
            <a:r>
              <a:rPr lang="hu-HU" dirty="0" err="1" smtClean="0"/>
              <a:t>representations</a:t>
            </a:r>
            <a:r>
              <a:rPr lang="hu-HU" dirty="0" smtClean="0"/>
              <a:t> </a:t>
            </a:r>
            <a:r>
              <a:rPr lang="hu-HU" dirty="0" err="1" smtClean="0"/>
              <a:t>became</a:t>
            </a:r>
            <a:r>
              <a:rPr lang="hu-HU" dirty="0" smtClean="0"/>
              <a:t> </a:t>
            </a:r>
            <a:r>
              <a:rPr lang="hu-HU" dirty="0" err="1" smtClean="0"/>
              <a:t>extremely</a:t>
            </a:r>
            <a:r>
              <a:rPr lang="hu-HU" dirty="0" smtClean="0"/>
              <a:t> </a:t>
            </a:r>
            <a:r>
              <a:rPr lang="hu-HU" dirty="0" err="1" smtClean="0"/>
              <a:t>popular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They</a:t>
            </a:r>
            <a:r>
              <a:rPr lang="hu-HU" dirty="0" smtClean="0"/>
              <a:t> </a:t>
            </a:r>
            <a:r>
              <a:rPr lang="hu-HU" dirty="0" err="1" smtClean="0"/>
              <a:t>were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intended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a </a:t>
            </a:r>
            <a:r>
              <a:rPr lang="hu-HU" dirty="0" err="1" smtClean="0"/>
              <a:t>semantic</a:t>
            </a:r>
            <a:r>
              <a:rPr lang="hu-HU" dirty="0" smtClean="0"/>
              <a:t> </a:t>
            </a:r>
            <a:r>
              <a:rPr lang="hu-HU" dirty="0" err="1" smtClean="0"/>
              <a:t>theory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semantic</a:t>
            </a:r>
            <a:r>
              <a:rPr lang="hu-HU" dirty="0" smtClean="0"/>
              <a:t> </a:t>
            </a:r>
            <a:r>
              <a:rPr lang="hu-HU" dirty="0" err="1" smtClean="0"/>
              <a:t>description</a:t>
            </a:r>
            <a:r>
              <a:rPr lang="hu-HU" dirty="0" smtClean="0"/>
              <a:t>.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r>
              <a:rPr lang="hu-HU" dirty="0" smtClean="0"/>
              <a:t> </a:t>
            </a:r>
            <a:r>
              <a:rPr lang="hu-HU" dirty="0" err="1" smtClean="0"/>
              <a:t>needed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a </a:t>
            </a:r>
            <a:r>
              <a:rPr lang="hu-HU" dirty="0" err="1" smtClean="0"/>
              <a:t>way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represent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numbers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What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best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transform</a:t>
            </a:r>
            <a:r>
              <a:rPr lang="hu-HU" dirty="0" smtClean="0"/>
              <a:t> </a:t>
            </a:r>
            <a:r>
              <a:rPr lang="hu-HU" dirty="0" err="1" smtClean="0"/>
              <a:t>sentences</a:t>
            </a:r>
            <a:r>
              <a:rPr lang="hu-HU" dirty="0" smtClean="0"/>
              <a:t>, </a:t>
            </a:r>
            <a:r>
              <a:rPr lang="hu-HU" dirty="0" err="1" smtClean="0"/>
              <a:t>words</a:t>
            </a:r>
            <a:r>
              <a:rPr lang="hu-HU" dirty="0" smtClean="0"/>
              <a:t>, </a:t>
            </a:r>
            <a:r>
              <a:rPr lang="hu-HU" dirty="0" err="1" smtClean="0"/>
              <a:t>phonemes</a:t>
            </a:r>
            <a:r>
              <a:rPr lang="hu-HU" dirty="0" smtClean="0"/>
              <a:t>, etc., </a:t>
            </a:r>
            <a:r>
              <a:rPr lang="hu-HU" dirty="0" err="1" smtClean="0"/>
              <a:t>into</a:t>
            </a:r>
            <a:r>
              <a:rPr lang="hu-HU" dirty="0" smtClean="0"/>
              <a:t> a series of </a:t>
            </a:r>
            <a:r>
              <a:rPr lang="hu-HU" dirty="0" err="1" smtClean="0"/>
              <a:t>numbers</a:t>
            </a:r>
            <a:r>
              <a:rPr lang="hu-HU" dirty="0" smtClean="0"/>
              <a:t>?</a:t>
            </a:r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is a </a:t>
            </a:r>
            <a:r>
              <a:rPr lang="hu-HU" dirty="0" err="1" smtClean="0"/>
              <a:t>crucial</a:t>
            </a:r>
            <a:r>
              <a:rPr lang="hu-HU" dirty="0" smtClean="0"/>
              <a:t> </a:t>
            </a:r>
            <a:r>
              <a:rPr lang="hu-HU" dirty="0" err="1" smtClean="0"/>
              <a:t>problem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computational</a:t>
            </a:r>
            <a:r>
              <a:rPr lang="hu-HU" dirty="0" smtClean="0"/>
              <a:t> </a:t>
            </a:r>
            <a:r>
              <a:rPr lang="hu-HU" dirty="0" err="1" smtClean="0"/>
              <a:t>linguistics</a:t>
            </a:r>
            <a:r>
              <a:rPr lang="hu-HU" dirty="0" smtClean="0"/>
              <a:t> and </a:t>
            </a:r>
            <a:r>
              <a:rPr lang="hu-HU" dirty="0" err="1" smtClean="0"/>
              <a:t>NLP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Machine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 </a:t>
            </a:r>
            <a:r>
              <a:rPr lang="hu-HU" dirty="0" err="1" smtClean="0"/>
              <a:t>methods</a:t>
            </a:r>
            <a:r>
              <a:rPr lang="hu-HU" dirty="0" smtClean="0"/>
              <a:t> </a:t>
            </a:r>
            <a:r>
              <a:rPr lang="hu-HU" dirty="0" err="1" smtClean="0"/>
              <a:t>including</a:t>
            </a:r>
            <a:r>
              <a:rPr lang="hu-HU" dirty="0" smtClean="0"/>
              <a:t> </a:t>
            </a:r>
            <a:r>
              <a:rPr lang="hu-HU" dirty="0" err="1" smtClean="0"/>
              <a:t>neural</a:t>
            </a:r>
            <a:r>
              <a:rPr lang="hu-HU" dirty="0" smtClean="0"/>
              <a:t> </a:t>
            </a:r>
            <a:r>
              <a:rPr lang="hu-HU" dirty="0" err="1" smtClean="0"/>
              <a:t>networks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work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represented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numbers</a:t>
            </a:r>
            <a:r>
              <a:rPr lang="hu-HU" dirty="0" smtClean="0"/>
              <a:t>.</a:t>
            </a:r>
          </a:p>
          <a:p>
            <a:pPr lvl="2"/>
            <a:r>
              <a:rPr lang="hu-HU" dirty="0" smtClean="0"/>
              <a:t>A </a:t>
            </a:r>
            <a:r>
              <a:rPr lang="hu-HU" dirty="0" err="1" smtClean="0"/>
              <a:t>good</a:t>
            </a:r>
            <a:r>
              <a:rPr lang="hu-HU" dirty="0" smtClean="0"/>
              <a:t> </a:t>
            </a:r>
            <a:r>
              <a:rPr lang="hu-HU" dirty="0" err="1" smtClean="0"/>
              <a:t>representation</a:t>
            </a:r>
            <a:r>
              <a:rPr lang="hu-HU" dirty="0" smtClean="0"/>
              <a:t> is </a:t>
            </a:r>
            <a:r>
              <a:rPr lang="hu-HU" dirty="0" err="1" smtClean="0"/>
              <a:t>particularly</a:t>
            </a:r>
            <a:r>
              <a:rPr lang="hu-HU" dirty="0" smtClean="0"/>
              <a:t> </a:t>
            </a:r>
            <a:r>
              <a:rPr lang="hu-HU" dirty="0" err="1" smtClean="0"/>
              <a:t>crucial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modelling.</a:t>
            </a:r>
          </a:p>
          <a:p>
            <a:pPr lvl="2"/>
            <a:r>
              <a:rPr lang="hu-HU" dirty="0" err="1" smtClean="0"/>
              <a:t>You</a:t>
            </a:r>
            <a:r>
              <a:rPr lang="hu-HU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</a:t>
            </a:r>
            <a:r>
              <a:rPr lang="hu-HU" dirty="0" err="1" smtClean="0"/>
              <a:t>represent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series of ASCII </a:t>
            </a:r>
            <a:r>
              <a:rPr lang="hu-HU" dirty="0" err="1" smtClean="0"/>
              <a:t>codes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values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numbers</a:t>
            </a:r>
            <a:r>
              <a:rPr lang="hu-HU" dirty="0" smtClean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mean</a:t>
            </a:r>
            <a:r>
              <a:rPr lang="hu-HU" dirty="0" smtClean="0"/>
              <a:t> </a:t>
            </a:r>
            <a:r>
              <a:rPr lang="hu-HU" dirty="0" err="1" smtClean="0"/>
              <a:t>anything</a:t>
            </a:r>
            <a:r>
              <a:rPr lang="hu-HU" dirty="0" smtClean="0"/>
              <a:t>.</a:t>
            </a:r>
          </a:p>
          <a:p>
            <a:pPr lvl="3"/>
            <a:r>
              <a:rPr lang="hu-HU" dirty="0" smtClean="0"/>
              <a:t>A </a:t>
            </a:r>
            <a:r>
              <a:rPr lang="hu-HU" i="1" dirty="0" smtClean="0"/>
              <a:t>b </a:t>
            </a:r>
            <a:r>
              <a:rPr lang="hu-HU" dirty="0" smtClean="0"/>
              <a:t>is </a:t>
            </a:r>
            <a:r>
              <a:rPr lang="hu-HU" dirty="0" err="1" smtClean="0"/>
              <a:t>not</a:t>
            </a:r>
            <a:r>
              <a:rPr lang="hu-HU" dirty="0" smtClean="0"/>
              <a:t> more </a:t>
            </a:r>
            <a:r>
              <a:rPr lang="hu-HU" dirty="0" err="1" smtClean="0"/>
              <a:t>than</a:t>
            </a:r>
            <a:r>
              <a:rPr lang="hu-HU" dirty="0" smtClean="0"/>
              <a:t> an </a:t>
            </a:r>
            <a:r>
              <a:rPr lang="hu-HU" i="1" dirty="0" smtClean="0"/>
              <a:t>a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any</a:t>
            </a:r>
            <a:r>
              <a:rPr lang="hu-HU" dirty="0" smtClean="0"/>
              <a:t> </a:t>
            </a:r>
            <a:r>
              <a:rPr lang="hu-HU" dirty="0" err="1" smtClean="0"/>
              <a:t>proper</a:t>
            </a:r>
            <a:r>
              <a:rPr lang="hu-HU" dirty="0" smtClean="0"/>
              <a:t> </a:t>
            </a:r>
            <a:r>
              <a:rPr lang="hu-HU" dirty="0" err="1" smtClean="0"/>
              <a:t>sense</a:t>
            </a:r>
            <a:r>
              <a:rPr lang="hu-HU" dirty="0" smtClean="0"/>
              <a:t> </a:t>
            </a:r>
            <a:r>
              <a:rPr lang="hu-HU" dirty="0" err="1" smtClean="0"/>
              <a:t>despite</a:t>
            </a:r>
            <a:r>
              <a:rPr lang="hu-HU" dirty="0" smtClean="0"/>
              <a:t> </a:t>
            </a:r>
            <a:r>
              <a:rPr lang="hu-HU" dirty="0" err="1" smtClean="0"/>
              <a:t>having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larger</a:t>
            </a:r>
            <a:r>
              <a:rPr lang="hu-HU" dirty="0" smtClean="0"/>
              <a:t> ASCII </a:t>
            </a:r>
            <a:r>
              <a:rPr lang="hu-HU" dirty="0" err="1" smtClean="0"/>
              <a:t>code</a:t>
            </a:r>
            <a:r>
              <a:rPr lang="hu-HU" dirty="0" smtClean="0"/>
              <a:t> </a:t>
            </a:r>
            <a:r>
              <a:rPr lang="hu-HU" dirty="0" err="1" smtClean="0"/>
              <a:t>value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Characters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represented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categorical</a:t>
            </a:r>
            <a:r>
              <a:rPr lang="hu-HU" dirty="0" smtClean="0"/>
              <a:t> </a:t>
            </a:r>
            <a:r>
              <a:rPr lang="hu-HU" dirty="0" err="1" smtClean="0"/>
              <a:t>variables</a:t>
            </a:r>
            <a:r>
              <a:rPr lang="hu-HU" dirty="0" smtClean="0"/>
              <a:t>.</a:t>
            </a:r>
          </a:p>
          <a:p>
            <a:pPr lvl="3"/>
            <a:r>
              <a:rPr lang="hu-HU" dirty="0" err="1" smtClean="0"/>
              <a:t>Usual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represent</a:t>
            </a:r>
            <a:r>
              <a:rPr lang="hu-HU" dirty="0" smtClean="0"/>
              <a:t> a </a:t>
            </a:r>
            <a:r>
              <a:rPr lang="hu-HU" dirty="0" err="1" smtClean="0"/>
              <a:t>categorical</a:t>
            </a:r>
            <a:r>
              <a:rPr lang="hu-HU" dirty="0" smtClean="0"/>
              <a:t> </a:t>
            </a:r>
            <a:r>
              <a:rPr lang="hu-HU" dirty="0" err="1" smtClean="0"/>
              <a:t>variable</a:t>
            </a:r>
            <a:r>
              <a:rPr lang="hu-HU" dirty="0" smtClean="0"/>
              <a:t>: </a:t>
            </a:r>
            <a:r>
              <a:rPr lang="hu-HU" dirty="0" err="1" smtClean="0"/>
              <a:t>one-hot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ideal</a:t>
            </a:r>
            <a:r>
              <a:rPr lang="hu-HU" dirty="0" smtClean="0"/>
              <a:t>: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capture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fact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some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more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some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than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others</a:t>
            </a:r>
            <a:r>
              <a:rPr lang="hu-HU" dirty="0" smtClean="0"/>
              <a:t>.</a:t>
            </a:r>
          </a:p>
          <a:p>
            <a:pPr lvl="3"/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one-hot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equally</a:t>
            </a:r>
            <a:r>
              <a:rPr lang="hu-HU" dirty="0" smtClean="0"/>
              <a:t> </a:t>
            </a:r>
            <a:r>
              <a:rPr lang="hu-HU" dirty="0" err="1" smtClean="0"/>
              <a:t>orthogonal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one-hot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191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Historical</a:t>
            </a:r>
            <a:r>
              <a:rPr lang="hu-HU" dirty="0" smtClean="0"/>
              <a:t> </a:t>
            </a:r>
            <a:r>
              <a:rPr lang="hu-HU" dirty="0" err="1" smtClean="0"/>
              <a:t>Overview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hu-HU" dirty="0" smtClean="0"/>
              <a:t>Modern </a:t>
            </a:r>
            <a:r>
              <a:rPr lang="hu-HU" dirty="0" err="1" smtClean="0"/>
              <a:t>distributional</a:t>
            </a:r>
            <a:r>
              <a:rPr lang="hu-HU" dirty="0" smtClean="0"/>
              <a:t> </a:t>
            </a:r>
            <a:r>
              <a:rPr lang="hu-HU" dirty="0" err="1" smtClean="0"/>
              <a:t>representations</a:t>
            </a:r>
            <a:r>
              <a:rPr lang="hu-HU" dirty="0" smtClean="0"/>
              <a:t>: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embeddings</a:t>
            </a:r>
            <a:endParaRPr lang="hu-HU" dirty="0" smtClean="0"/>
          </a:p>
          <a:p>
            <a:pPr lvl="1"/>
            <a:r>
              <a:rPr lang="hu-HU" dirty="0" err="1"/>
              <a:t>Tomaš</a:t>
            </a:r>
            <a:r>
              <a:rPr lang="hu-HU" dirty="0"/>
              <a:t> </a:t>
            </a:r>
            <a:r>
              <a:rPr lang="hu-HU" dirty="0" err="1"/>
              <a:t>Mikolov</a:t>
            </a:r>
            <a:r>
              <a:rPr lang="hu-HU" dirty="0"/>
              <a:t> </a:t>
            </a:r>
            <a:r>
              <a:rPr lang="hu-HU" dirty="0" smtClean="0"/>
              <a:t>et </a:t>
            </a:r>
            <a:r>
              <a:rPr lang="hu-HU" dirty="0" err="1" smtClean="0"/>
              <a:t>al</a:t>
            </a:r>
            <a:r>
              <a:rPr lang="hu-HU" dirty="0" smtClean="0"/>
              <a:t>. </a:t>
            </a:r>
            <a:r>
              <a:rPr lang="hu-HU" dirty="0" err="1" smtClean="0"/>
              <a:t>proposed</a:t>
            </a:r>
            <a:r>
              <a:rPr lang="hu-HU" dirty="0" smtClean="0"/>
              <a:t> a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fast</a:t>
            </a:r>
            <a:r>
              <a:rPr lang="hu-HU" dirty="0" smtClean="0"/>
              <a:t> and </a:t>
            </a:r>
            <a:r>
              <a:rPr lang="hu-HU" dirty="0" err="1" smtClean="0"/>
              <a:t>efficient</a:t>
            </a:r>
            <a:r>
              <a:rPr lang="hu-HU" dirty="0" smtClean="0"/>
              <a:t> </a:t>
            </a:r>
            <a:r>
              <a:rPr lang="hu-HU" dirty="0" err="1" smtClean="0"/>
              <a:t>algorithm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generate</a:t>
            </a:r>
            <a:r>
              <a:rPr lang="hu-HU" dirty="0" smtClean="0"/>
              <a:t> </a:t>
            </a:r>
            <a:r>
              <a:rPr lang="hu-HU" dirty="0" err="1" smtClean="0"/>
              <a:t>distributional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2013.</a:t>
            </a:r>
          </a:p>
          <a:p>
            <a:pPr lvl="2"/>
            <a:r>
              <a:rPr lang="hu-HU" dirty="0" err="1" smtClean="0"/>
              <a:t>LSA</a:t>
            </a:r>
            <a:r>
              <a:rPr lang="hu-HU" dirty="0" smtClean="0"/>
              <a:t> is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 </a:t>
            </a:r>
            <a:r>
              <a:rPr lang="hu-HU" dirty="0" err="1" smtClean="0"/>
              <a:t>factorisation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is</a:t>
            </a:r>
            <a:r>
              <a:rPr lang="hu-HU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slow</a:t>
            </a:r>
            <a:r>
              <a:rPr lang="hu-HU" dirty="0" smtClean="0"/>
              <a:t> and </a:t>
            </a:r>
            <a:r>
              <a:rPr lang="hu-HU" dirty="0" err="1" smtClean="0"/>
              <a:t>costly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large</a:t>
            </a:r>
            <a:r>
              <a:rPr lang="hu-HU" dirty="0" smtClean="0"/>
              <a:t> </a:t>
            </a:r>
            <a:r>
              <a:rPr lang="hu-HU" dirty="0" err="1" smtClean="0"/>
              <a:t>co-occurrence</a:t>
            </a:r>
            <a:r>
              <a:rPr lang="hu-HU" dirty="0" smtClean="0"/>
              <a:t> </a:t>
            </a:r>
            <a:r>
              <a:rPr lang="hu-HU" dirty="0" err="1" smtClean="0"/>
              <a:t>matrices</a:t>
            </a:r>
            <a:endParaRPr lang="hu-HU" dirty="0" smtClean="0"/>
          </a:p>
          <a:p>
            <a:pPr lvl="1"/>
            <a:r>
              <a:rPr lang="hu-HU" dirty="0" smtClean="0"/>
              <a:t>The software </a:t>
            </a:r>
            <a:r>
              <a:rPr lang="hu-HU" dirty="0" err="1" smtClean="0"/>
              <a:t>applications</a:t>
            </a:r>
            <a:r>
              <a:rPr lang="hu-HU" dirty="0" smtClean="0"/>
              <a:t> </a:t>
            </a:r>
            <a:r>
              <a:rPr lang="hu-HU" dirty="0" err="1" smtClean="0"/>
              <a:t>created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Mikolov</a:t>
            </a:r>
            <a:r>
              <a:rPr lang="hu-HU" dirty="0" smtClean="0"/>
              <a:t> and </a:t>
            </a:r>
            <a:r>
              <a:rPr lang="hu-HU" dirty="0" err="1" smtClean="0"/>
              <a:t>his</a:t>
            </a:r>
            <a:r>
              <a:rPr lang="hu-HU" dirty="0" smtClean="0"/>
              <a:t> </a:t>
            </a:r>
            <a:r>
              <a:rPr lang="hu-HU" dirty="0" err="1" smtClean="0"/>
              <a:t>group</a:t>
            </a:r>
            <a:r>
              <a:rPr lang="hu-HU" dirty="0" smtClean="0"/>
              <a:t> (word2vec, </a:t>
            </a:r>
            <a:r>
              <a:rPr lang="hu-HU" dirty="0" err="1" smtClean="0"/>
              <a:t>fastText</a:t>
            </a:r>
            <a:r>
              <a:rPr lang="hu-HU" dirty="0" smtClean="0"/>
              <a:t>)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Google</a:t>
            </a:r>
            <a:r>
              <a:rPr lang="hu-HU" dirty="0" smtClean="0"/>
              <a:t> </a:t>
            </a:r>
            <a:r>
              <a:rPr lang="hu-HU" dirty="0" err="1" smtClean="0"/>
              <a:t>became</a:t>
            </a:r>
            <a:r>
              <a:rPr lang="hu-HU" dirty="0" smtClean="0"/>
              <a:t> </a:t>
            </a:r>
            <a:r>
              <a:rPr lang="hu-HU" dirty="0" err="1" smtClean="0"/>
              <a:t>extremely</a:t>
            </a:r>
            <a:r>
              <a:rPr lang="hu-HU" dirty="0" smtClean="0"/>
              <a:t> </a:t>
            </a:r>
            <a:r>
              <a:rPr lang="hu-HU" dirty="0" err="1" smtClean="0"/>
              <a:t>popular</a:t>
            </a:r>
            <a:r>
              <a:rPr lang="hu-HU" dirty="0" smtClean="0"/>
              <a:t> </a:t>
            </a:r>
            <a:r>
              <a:rPr lang="hu-HU" dirty="0" err="1" smtClean="0"/>
              <a:t>among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r>
              <a:rPr lang="hu-HU" dirty="0" smtClean="0"/>
              <a:t> </a:t>
            </a:r>
            <a:r>
              <a:rPr lang="hu-HU" dirty="0" err="1" smtClean="0"/>
              <a:t>practicioners</a:t>
            </a:r>
            <a:r>
              <a:rPr lang="hu-HU" dirty="0" smtClean="0"/>
              <a:t>.</a:t>
            </a:r>
          </a:p>
          <a:p>
            <a:pPr lvl="2"/>
            <a:r>
              <a:rPr lang="hu-HU" dirty="0" smtClean="0"/>
              <a:t>The </a:t>
            </a:r>
            <a:r>
              <a:rPr lang="hu-HU" dirty="0" err="1" smtClean="0"/>
              <a:t>two</a:t>
            </a:r>
            <a:r>
              <a:rPr lang="hu-HU" dirty="0" smtClean="0"/>
              <a:t> 2013 </a:t>
            </a:r>
            <a:r>
              <a:rPr lang="hu-HU" dirty="0" err="1" smtClean="0"/>
              <a:t>publications</a:t>
            </a:r>
            <a:r>
              <a:rPr lang="hu-HU" dirty="0" smtClean="0"/>
              <a:t> </a:t>
            </a:r>
            <a:r>
              <a:rPr lang="hu-HU" dirty="0" err="1" smtClean="0"/>
              <a:t>describing</a:t>
            </a:r>
            <a:r>
              <a:rPr lang="hu-HU" dirty="0" smtClean="0"/>
              <a:t> word2vec, </a:t>
            </a:r>
            <a:r>
              <a:rPr lang="hu-HU" dirty="0" err="1" smtClean="0">
                <a:hlinkClick r:id="rId2"/>
              </a:rPr>
              <a:t>this</a:t>
            </a:r>
            <a:r>
              <a:rPr lang="hu-HU" dirty="0" smtClean="0"/>
              <a:t> and </a:t>
            </a:r>
            <a:r>
              <a:rPr lang="hu-HU" dirty="0" err="1" smtClean="0">
                <a:hlinkClick r:id="rId3"/>
              </a:rPr>
              <a:t>this</a:t>
            </a:r>
            <a:r>
              <a:rPr lang="hu-HU" dirty="0" smtClean="0"/>
              <a:t>, </a:t>
            </a:r>
            <a:r>
              <a:rPr lang="hu-HU" dirty="0" err="1" smtClean="0"/>
              <a:t>have</a:t>
            </a:r>
            <a:r>
              <a:rPr lang="hu-HU" dirty="0" smtClean="0"/>
              <a:t> </a:t>
            </a:r>
            <a:r>
              <a:rPr lang="hu-HU" dirty="0" err="1" smtClean="0"/>
              <a:t>around</a:t>
            </a:r>
            <a:r>
              <a:rPr lang="hu-HU" dirty="0" smtClean="0"/>
              <a:t> 50,000 </a:t>
            </a:r>
            <a:r>
              <a:rPr lang="hu-HU" dirty="0" err="1" smtClean="0"/>
              <a:t>citations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Google</a:t>
            </a:r>
            <a:r>
              <a:rPr lang="hu-HU" dirty="0" smtClean="0"/>
              <a:t> </a:t>
            </a:r>
            <a:r>
              <a:rPr lang="hu-HU" dirty="0" err="1" smtClean="0"/>
              <a:t>Scholar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Since</a:t>
            </a:r>
            <a:r>
              <a:rPr lang="hu-HU" dirty="0" smtClean="0"/>
              <a:t> 2019, a </a:t>
            </a:r>
            <a:r>
              <a:rPr lang="hu-HU" dirty="0" err="1" smtClean="0"/>
              <a:t>new</a:t>
            </a:r>
            <a:r>
              <a:rPr lang="hu-HU" dirty="0" smtClean="0"/>
              <a:t> </a:t>
            </a:r>
            <a:r>
              <a:rPr lang="hu-HU" dirty="0" err="1" smtClean="0"/>
              <a:t>approach</a:t>
            </a:r>
            <a:r>
              <a:rPr lang="hu-HU" dirty="0" smtClean="0"/>
              <a:t> has </a:t>
            </a:r>
            <a:r>
              <a:rPr lang="hu-HU" dirty="0" err="1" smtClean="0"/>
              <a:t>largely</a:t>
            </a:r>
            <a:r>
              <a:rPr lang="hu-HU" dirty="0" smtClean="0"/>
              <a:t> </a:t>
            </a:r>
            <a:r>
              <a:rPr lang="hu-HU" dirty="0" err="1" smtClean="0"/>
              <a:t>replaced</a:t>
            </a:r>
            <a:r>
              <a:rPr lang="hu-HU" dirty="0" smtClean="0"/>
              <a:t>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practice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is </a:t>
            </a:r>
            <a:r>
              <a:rPr lang="hu-HU" dirty="0" err="1" smtClean="0"/>
              <a:t>referred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contextualised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embeddings</a:t>
            </a:r>
            <a:endParaRPr lang="hu-HU" dirty="0" smtClean="0"/>
          </a:p>
          <a:p>
            <a:pPr lvl="2"/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represent</a:t>
            </a:r>
            <a:r>
              <a:rPr lang="hu-HU" dirty="0" smtClean="0"/>
              <a:t> </a:t>
            </a:r>
            <a:r>
              <a:rPr lang="hu-HU" dirty="0" err="1" smtClean="0"/>
              <a:t>lexemes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forms</a:t>
            </a:r>
            <a:r>
              <a:rPr lang="hu-HU" dirty="0" smtClean="0"/>
              <a:t>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rather</a:t>
            </a:r>
            <a:r>
              <a:rPr lang="hu-HU" dirty="0" smtClean="0"/>
              <a:t> </a:t>
            </a:r>
            <a:r>
              <a:rPr lang="hu-HU" dirty="0" err="1" smtClean="0"/>
              <a:t>concrete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occurrences</a:t>
            </a:r>
            <a:r>
              <a:rPr lang="hu-H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740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err="1" smtClean="0"/>
              <a:t>What</a:t>
            </a:r>
            <a:r>
              <a:rPr lang="hu-HU" sz="4000" dirty="0" smtClean="0"/>
              <a:t> is </a:t>
            </a:r>
            <a:r>
              <a:rPr lang="hu-HU" sz="4000" dirty="0" err="1" smtClean="0"/>
              <a:t>Distributional</a:t>
            </a:r>
            <a:r>
              <a:rPr lang="hu-HU" sz="4000" dirty="0" smtClean="0"/>
              <a:t> </a:t>
            </a:r>
            <a:r>
              <a:rPr lang="hu-HU" sz="4000" dirty="0" err="1" smtClean="0"/>
              <a:t>Semantics</a:t>
            </a:r>
            <a:r>
              <a:rPr lang="hu-HU" sz="4000" dirty="0" smtClean="0"/>
              <a:t> </a:t>
            </a:r>
            <a:r>
              <a:rPr lang="hu-HU" sz="4000" dirty="0" err="1" smtClean="0"/>
              <a:t>for</a:t>
            </a:r>
            <a:r>
              <a:rPr lang="hu-HU" sz="4000" dirty="0" smtClean="0"/>
              <a:t>?</a:t>
            </a:r>
            <a:endParaRPr lang="hu-HU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tell</a:t>
            </a:r>
            <a:r>
              <a:rPr lang="hu-HU" dirty="0" smtClean="0"/>
              <a:t> </a:t>
            </a:r>
            <a:r>
              <a:rPr lang="hu-HU" dirty="0" err="1" smtClean="0"/>
              <a:t>us</a:t>
            </a:r>
            <a:r>
              <a:rPr lang="hu-HU" dirty="0" smtClean="0"/>
              <a:t>,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b="1" dirty="0" err="1" smtClean="0"/>
              <a:t>cosine</a:t>
            </a:r>
            <a:r>
              <a:rPr lang="hu-HU" b="1" dirty="0" smtClean="0"/>
              <a:t> </a:t>
            </a:r>
            <a:r>
              <a:rPr lang="hu-HU" b="1" dirty="0" err="1" smtClean="0"/>
              <a:t>similarities</a:t>
            </a:r>
            <a:r>
              <a:rPr lang="hu-HU" b="1" dirty="0" smtClean="0"/>
              <a:t> </a:t>
            </a:r>
            <a:r>
              <a:rPr lang="hu-HU" b="1" dirty="0" err="1" smtClean="0"/>
              <a:t>between</a:t>
            </a:r>
            <a:r>
              <a:rPr lang="hu-HU" b="1" dirty="0" smtClean="0"/>
              <a:t> </a:t>
            </a:r>
            <a:r>
              <a:rPr lang="hu-HU" b="1" dirty="0" err="1" smtClean="0"/>
              <a:t>word</a:t>
            </a:r>
            <a:r>
              <a:rPr lang="hu-HU" b="1" dirty="0" smtClean="0"/>
              <a:t> </a:t>
            </a:r>
            <a:r>
              <a:rPr lang="hu-HU" b="1" dirty="0" err="1" smtClean="0"/>
              <a:t>vectors</a:t>
            </a:r>
            <a:r>
              <a:rPr lang="hu-HU" dirty="0" smtClean="0"/>
              <a:t>, </a:t>
            </a:r>
            <a:r>
              <a:rPr lang="hu-HU" dirty="0" err="1" smtClean="0"/>
              <a:t>whether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distributions</a:t>
            </a:r>
            <a:r>
              <a:rPr lang="hu-HU" dirty="0" smtClean="0"/>
              <a:t> (= </a:t>
            </a:r>
            <a:r>
              <a:rPr lang="hu-HU" dirty="0" err="1" smtClean="0"/>
              <a:t>meanings</a:t>
            </a:r>
            <a:r>
              <a:rPr lang="hu-HU" dirty="0" smtClean="0"/>
              <a:t>) of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i="1" dirty="0" smtClean="0"/>
              <a:t>a </a:t>
            </a:r>
            <a:r>
              <a:rPr lang="hu-HU" dirty="0" smtClean="0"/>
              <a:t>and </a:t>
            </a:r>
            <a:r>
              <a:rPr lang="hu-HU" i="1" dirty="0" smtClean="0"/>
              <a:t>b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b="1" dirty="0" smtClean="0"/>
              <a:t>more </a:t>
            </a:r>
            <a:r>
              <a:rPr lang="hu-HU" b="1" dirty="0" err="1" smtClean="0"/>
              <a:t>similar</a:t>
            </a:r>
            <a:r>
              <a:rPr lang="hu-HU" b="1" dirty="0" smtClean="0"/>
              <a:t> </a:t>
            </a:r>
            <a:r>
              <a:rPr lang="hu-HU" dirty="0" err="1" smtClean="0"/>
              <a:t>than</a:t>
            </a:r>
            <a:r>
              <a:rPr lang="hu-HU" dirty="0" smtClean="0"/>
              <a:t> </a:t>
            </a:r>
            <a:r>
              <a:rPr lang="hu-HU" dirty="0" err="1" smtClean="0"/>
              <a:t>those</a:t>
            </a:r>
            <a:r>
              <a:rPr lang="hu-HU" dirty="0" smtClean="0"/>
              <a:t> of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i="1" dirty="0" smtClean="0"/>
              <a:t>a </a:t>
            </a:r>
            <a:r>
              <a:rPr lang="hu-HU" dirty="0" smtClean="0"/>
              <a:t>and </a:t>
            </a:r>
            <a:r>
              <a:rPr lang="hu-HU" i="1" dirty="0" smtClean="0"/>
              <a:t>c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tell</a:t>
            </a:r>
            <a:r>
              <a:rPr lang="hu-HU" dirty="0" smtClean="0"/>
              <a:t> </a:t>
            </a:r>
            <a:r>
              <a:rPr lang="hu-HU" dirty="0" err="1" smtClean="0"/>
              <a:t>us</a:t>
            </a:r>
            <a:r>
              <a:rPr lang="hu-HU" dirty="0" smtClean="0"/>
              <a:t> </a:t>
            </a:r>
            <a:r>
              <a:rPr lang="hu-HU" b="1" dirty="0" err="1" smtClean="0"/>
              <a:t>how</a:t>
            </a:r>
            <a:r>
              <a:rPr lang="hu-HU" b="1" dirty="0" smtClean="0"/>
              <a:t> </a:t>
            </a:r>
            <a:r>
              <a:rPr lang="hu-HU" dirty="0" err="1" smtClean="0"/>
              <a:t>they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similar</a:t>
            </a:r>
            <a:r>
              <a:rPr lang="hu-HU" dirty="0" smtClean="0"/>
              <a:t> / </a:t>
            </a:r>
            <a:r>
              <a:rPr lang="hu-HU" dirty="0" err="1" smtClean="0"/>
              <a:t>different</a:t>
            </a:r>
            <a:r>
              <a:rPr lang="hu-HU" dirty="0" smtClean="0"/>
              <a:t> (</a:t>
            </a:r>
            <a:r>
              <a:rPr lang="hu-HU" dirty="0" err="1" smtClean="0"/>
              <a:t>due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distributed</a:t>
            </a:r>
            <a:r>
              <a:rPr lang="hu-HU" dirty="0" smtClean="0"/>
              <a:t> </a:t>
            </a:r>
            <a:r>
              <a:rPr lang="hu-HU" dirty="0" err="1" smtClean="0"/>
              <a:t>representation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There</a:t>
            </a:r>
            <a:r>
              <a:rPr lang="hu-HU" dirty="0" smtClean="0"/>
              <a:t> is no </a:t>
            </a:r>
            <a:r>
              <a:rPr lang="hu-HU" dirty="0" err="1" smtClean="0"/>
              <a:t>notion</a:t>
            </a:r>
            <a:r>
              <a:rPr lang="hu-HU" dirty="0" smtClean="0"/>
              <a:t> of </a:t>
            </a:r>
            <a:r>
              <a:rPr lang="hu-HU" b="1" dirty="0" err="1" smtClean="0"/>
              <a:t>absolute</a:t>
            </a:r>
            <a:r>
              <a:rPr lang="hu-HU" b="1" dirty="0" smtClean="0"/>
              <a:t> </a:t>
            </a:r>
            <a:r>
              <a:rPr lang="hu-HU" dirty="0" err="1" smtClean="0"/>
              <a:t>similarity</a:t>
            </a:r>
            <a:r>
              <a:rPr lang="hu-HU" dirty="0"/>
              <a:t> </a:t>
            </a:r>
            <a:r>
              <a:rPr lang="hu-HU" dirty="0" smtClean="0"/>
              <a:t>(is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similarity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i="1" dirty="0" smtClean="0"/>
              <a:t>a </a:t>
            </a:r>
            <a:r>
              <a:rPr lang="hu-HU" dirty="0" smtClean="0"/>
              <a:t>and </a:t>
            </a:r>
            <a:r>
              <a:rPr lang="hu-HU" i="1" dirty="0" smtClean="0"/>
              <a:t>b </a:t>
            </a:r>
            <a:r>
              <a:rPr lang="hu-HU" dirty="0" err="1" smtClean="0"/>
              <a:t>small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large</a:t>
            </a:r>
            <a:r>
              <a:rPr lang="hu-HU" dirty="0" smtClean="0"/>
              <a:t>?)</a:t>
            </a:r>
          </a:p>
          <a:p>
            <a:r>
              <a:rPr lang="hu-HU" dirty="0" err="1" smtClean="0"/>
              <a:t>Similarities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embeddings</a:t>
            </a:r>
            <a:r>
              <a:rPr lang="hu-HU" dirty="0" smtClean="0"/>
              <a:t> </a:t>
            </a:r>
            <a:r>
              <a:rPr lang="hu-HU" dirty="0" err="1" smtClean="0"/>
              <a:t>correspond</a:t>
            </a:r>
            <a:r>
              <a:rPr lang="hu-HU" dirty="0" smtClean="0"/>
              <a:t> </a:t>
            </a:r>
            <a:r>
              <a:rPr lang="hu-HU" dirty="0" err="1" smtClean="0"/>
              <a:t>relatively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associations</a:t>
            </a:r>
            <a:r>
              <a:rPr lang="hu-HU" dirty="0" smtClean="0"/>
              <a:t> </a:t>
            </a:r>
            <a:r>
              <a:rPr lang="hu-HU" dirty="0" err="1" smtClean="0"/>
              <a:t>elicited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b="1" dirty="0" err="1" smtClean="0"/>
              <a:t>word</a:t>
            </a:r>
            <a:r>
              <a:rPr lang="hu-HU" b="1" dirty="0" smtClean="0"/>
              <a:t> </a:t>
            </a:r>
            <a:r>
              <a:rPr lang="hu-HU" b="1" dirty="0" err="1" smtClean="0"/>
              <a:t>association</a:t>
            </a:r>
            <a:r>
              <a:rPr lang="hu-HU" b="1" dirty="0" smtClean="0"/>
              <a:t> </a:t>
            </a:r>
            <a:r>
              <a:rPr lang="hu-HU" b="1" dirty="0" err="1" smtClean="0"/>
              <a:t>experiments</a:t>
            </a:r>
            <a:r>
              <a:rPr lang="hu-HU" b="1" dirty="0" smtClean="0"/>
              <a:t> </a:t>
            </a:r>
            <a:r>
              <a:rPr lang="hu-HU" dirty="0" err="1" smtClean="0"/>
              <a:t>carried</a:t>
            </a:r>
            <a:r>
              <a:rPr lang="hu-HU" dirty="0" smtClean="0"/>
              <a:t> out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psychologists</a:t>
            </a:r>
            <a:r>
              <a:rPr lang="hu-HU" dirty="0" smtClean="0"/>
              <a:t> (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Quillian</a:t>
            </a:r>
            <a:r>
              <a:rPr lang="hu-HU" dirty="0" smtClean="0"/>
              <a:t>, </a:t>
            </a:r>
            <a:r>
              <a:rPr lang="hu-HU" dirty="0" err="1" smtClean="0"/>
              <a:t>semantic</a:t>
            </a:r>
            <a:r>
              <a:rPr lang="hu-HU" dirty="0" smtClean="0"/>
              <a:t> </a:t>
            </a:r>
            <a:r>
              <a:rPr lang="hu-HU" dirty="0" err="1" smtClean="0"/>
              <a:t>networks</a:t>
            </a:r>
            <a:r>
              <a:rPr lang="hu-HU" dirty="0" smtClean="0"/>
              <a:t>).</a:t>
            </a:r>
          </a:p>
          <a:p>
            <a:pPr lvl="1"/>
            <a:r>
              <a:rPr lang="hu-HU" dirty="0" err="1" smtClean="0"/>
              <a:t>Distributional</a:t>
            </a:r>
            <a:r>
              <a:rPr lang="hu-HU" dirty="0" smtClean="0"/>
              <a:t> </a:t>
            </a:r>
            <a:r>
              <a:rPr lang="hu-HU" dirty="0" err="1" smtClean="0"/>
              <a:t>semantics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results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Surprising</a:t>
            </a:r>
            <a:r>
              <a:rPr lang="hu-HU" dirty="0" smtClean="0"/>
              <a:t> </a:t>
            </a:r>
            <a:r>
              <a:rPr lang="hu-HU" dirty="0" err="1" smtClean="0"/>
              <a:t>observation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Mikolov</a:t>
            </a:r>
            <a:r>
              <a:rPr lang="hu-HU" dirty="0" smtClean="0"/>
              <a:t> et </a:t>
            </a:r>
            <a:r>
              <a:rPr lang="hu-HU" dirty="0" err="1" smtClean="0"/>
              <a:t>al</a:t>
            </a:r>
            <a:r>
              <a:rPr lang="hu-HU" dirty="0" smtClean="0"/>
              <a:t>.:</a:t>
            </a:r>
          </a:p>
          <a:p>
            <a:pPr lvl="1"/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arithmetic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carried</a:t>
            </a:r>
            <a:r>
              <a:rPr lang="hu-HU" dirty="0" smtClean="0"/>
              <a:t> out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embeddings</a:t>
            </a:r>
            <a:r>
              <a:rPr lang="hu-HU" dirty="0" smtClean="0"/>
              <a:t>, and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adding</a:t>
            </a:r>
            <a:r>
              <a:rPr lang="hu-HU" dirty="0" smtClean="0"/>
              <a:t> </a:t>
            </a:r>
            <a:r>
              <a:rPr lang="hu-HU" dirty="0" err="1" smtClean="0"/>
              <a:t>and</a:t>
            </a:r>
            <a:r>
              <a:rPr lang="hu-HU" dirty="0" smtClean="0"/>
              <a:t> </a:t>
            </a:r>
            <a:r>
              <a:rPr lang="hu-HU" dirty="0" err="1" smtClean="0"/>
              <a:t>subtracting</a:t>
            </a:r>
            <a:r>
              <a:rPr lang="hu-HU" dirty="0" smtClean="0"/>
              <a:t> </a:t>
            </a:r>
            <a:r>
              <a:rPr lang="hu-HU" dirty="0" err="1" smtClean="0"/>
              <a:t>them</a:t>
            </a:r>
            <a:r>
              <a:rPr lang="hu-HU" dirty="0" smtClean="0"/>
              <a:t>,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solve</a:t>
            </a:r>
            <a:r>
              <a:rPr lang="hu-HU" dirty="0" smtClean="0"/>
              <a:t> </a:t>
            </a:r>
            <a:r>
              <a:rPr lang="hu-HU" dirty="0" err="1" smtClean="0"/>
              <a:t>analogy</a:t>
            </a:r>
            <a:r>
              <a:rPr lang="hu-HU" dirty="0" smtClean="0"/>
              <a:t> </a:t>
            </a:r>
            <a:r>
              <a:rPr lang="hu-HU" dirty="0" err="1" smtClean="0"/>
              <a:t>problems</a:t>
            </a:r>
            <a:r>
              <a:rPr lang="hu-HU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:</a:t>
            </a:r>
          </a:p>
          <a:p>
            <a:pPr lvl="2"/>
            <a:r>
              <a:rPr lang="hu-HU" dirty="0" smtClean="0"/>
              <a:t>man </a:t>
            </a:r>
            <a:r>
              <a:rPr lang="hu-HU" dirty="0"/>
              <a:t>– </a:t>
            </a:r>
            <a:r>
              <a:rPr lang="hu-HU" dirty="0" err="1" smtClean="0"/>
              <a:t>woman</a:t>
            </a:r>
            <a:r>
              <a:rPr lang="hu-HU" dirty="0" smtClean="0"/>
              <a:t> </a:t>
            </a:r>
            <a:r>
              <a:rPr lang="hu-HU" dirty="0"/>
              <a:t>:: </a:t>
            </a:r>
            <a:r>
              <a:rPr lang="hu-HU" dirty="0" err="1" smtClean="0"/>
              <a:t>king</a:t>
            </a:r>
            <a:r>
              <a:rPr lang="hu-HU" dirty="0" smtClean="0"/>
              <a:t> </a:t>
            </a:r>
            <a:r>
              <a:rPr lang="hu-HU" dirty="0"/>
              <a:t>– ? </a:t>
            </a:r>
            <a:r>
              <a:rPr lang="hu-HU" dirty="0" smtClean="0"/>
              <a:t>(</a:t>
            </a:r>
            <a:r>
              <a:rPr lang="hu-HU" dirty="0" err="1" smtClean="0"/>
              <a:t>answer</a:t>
            </a:r>
            <a:r>
              <a:rPr lang="hu-HU" dirty="0" smtClean="0"/>
              <a:t>: </a:t>
            </a:r>
            <a:r>
              <a:rPr lang="hu-HU" dirty="0" err="1" smtClean="0"/>
              <a:t>queen</a:t>
            </a:r>
            <a:r>
              <a:rPr lang="hu-HU" dirty="0" smtClean="0"/>
              <a:t>; </a:t>
            </a:r>
            <a:r>
              <a:rPr lang="hu-HU" u="sng" dirty="0" err="1" smtClean="0"/>
              <a:t>king</a:t>
            </a:r>
            <a:r>
              <a:rPr lang="hu-HU" dirty="0" smtClean="0"/>
              <a:t> </a:t>
            </a:r>
            <a:r>
              <a:rPr lang="hu-HU" dirty="0"/>
              <a:t>– </a:t>
            </a:r>
            <a:r>
              <a:rPr lang="hu-HU" u="sng" dirty="0" smtClean="0"/>
              <a:t>man</a:t>
            </a:r>
            <a:r>
              <a:rPr lang="hu-HU" dirty="0" smtClean="0"/>
              <a:t> </a:t>
            </a:r>
            <a:r>
              <a:rPr lang="hu-HU" dirty="0"/>
              <a:t>+ </a:t>
            </a:r>
            <a:r>
              <a:rPr lang="hu-HU" u="sng" dirty="0" err="1" smtClean="0"/>
              <a:t>woman</a:t>
            </a:r>
            <a:r>
              <a:rPr lang="hu-HU" dirty="0" smtClean="0"/>
              <a:t>)</a:t>
            </a:r>
            <a:endParaRPr lang="hu-HU" dirty="0"/>
          </a:p>
          <a:p>
            <a:pPr lvl="2"/>
            <a:r>
              <a:rPr lang="hu-HU" dirty="0" err="1" smtClean="0"/>
              <a:t>Italy</a:t>
            </a:r>
            <a:r>
              <a:rPr lang="hu-HU" dirty="0" smtClean="0"/>
              <a:t> </a:t>
            </a:r>
            <a:r>
              <a:rPr lang="hu-HU" dirty="0"/>
              <a:t>– pizza :: </a:t>
            </a:r>
            <a:r>
              <a:rPr lang="hu-HU" dirty="0" err="1" smtClean="0"/>
              <a:t>Germany</a:t>
            </a:r>
            <a:r>
              <a:rPr lang="hu-HU" dirty="0" smtClean="0"/>
              <a:t> </a:t>
            </a:r>
            <a:r>
              <a:rPr lang="hu-HU" dirty="0"/>
              <a:t>– ? </a:t>
            </a:r>
            <a:r>
              <a:rPr lang="hu-HU" dirty="0" smtClean="0"/>
              <a:t>(</a:t>
            </a:r>
            <a:r>
              <a:rPr lang="hu-HU" dirty="0" err="1" smtClean="0"/>
              <a:t>answer</a:t>
            </a:r>
            <a:r>
              <a:rPr lang="hu-HU" dirty="0" smtClean="0"/>
              <a:t>: </a:t>
            </a:r>
            <a:r>
              <a:rPr lang="hu-HU" dirty="0" err="1" smtClean="0"/>
              <a:t>bratwurst</a:t>
            </a:r>
            <a:r>
              <a:rPr lang="hu-HU" dirty="0" smtClean="0"/>
              <a:t>; </a:t>
            </a:r>
            <a:r>
              <a:rPr lang="hu-HU" u="sng" dirty="0"/>
              <a:t>pizza</a:t>
            </a:r>
            <a:r>
              <a:rPr lang="hu-HU" dirty="0"/>
              <a:t> – </a:t>
            </a:r>
            <a:r>
              <a:rPr lang="hu-HU" u="sng" dirty="0" err="1" smtClean="0"/>
              <a:t>Italy</a:t>
            </a:r>
            <a:r>
              <a:rPr lang="hu-HU" dirty="0" smtClean="0"/>
              <a:t> </a:t>
            </a:r>
            <a:r>
              <a:rPr lang="hu-HU" dirty="0"/>
              <a:t>+ </a:t>
            </a:r>
            <a:r>
              <a:rPr lang="hu-HU" u="sng" dirty="0" err="1" smtClean="0"/>
              <a:t>Germany</a:t>
            </a:r>
            <a:r>
              <a:rPr lang="hu-HU" dirty="0" smtClean="0"/>
              <a:t>)</a:t>
            </a:r>
            <a:endParaRPr lang="hu-HU" dirty="0"/>
          </a:p>
          <a:p>
            <a:pPr lvl="2"/>
            <a:r>
              <a:rPr lang="hu-HU" dirty="0" smtClean="0"/>
              <a:t>and </a:t>
            </a:r>
            <a:r>
              <a:rPr lang="hu-HU" dirty="0" err="1" smtClean="0"/>
              <a:t>many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semantic</a:t>
            </a:r>
            <a:r>
              <a:rPr lang="hu-HU" dirty="0" smtClean="0"/>
              <a:t> relations: country – </a:t>
            </a:r>
            <a:r>
              <a:rPr lang="hu-HU" dirty="0" err="1" smtClean="0"/>
              <a:t>capital</a:t>
            </a:r>
            <a:r>
              <a:rPr lang="hu-HU" dirty="0" smtClean="0"/>
              <a:t>, </a:t>
            </a:r>
            <a:r>
              <a:rPr lang="hu-HU" dirty="0" err="1" smtClean="0"/>
              <a:t>country</a:t>
            </a:r>
            <a:r>
              <a:rPr lang="hu-HU" dirty="0" smtClean="0"/>
              <a:t> – </a:t>
            </a:r>
            <a:r>
              <a:rPr lang="hu-HU" dirty="0" err="1" smtClean="0"/>
              <a:t>language</a:t>
            </a:r>
            <a:r>
              <a:rPr lang="hu-HU" dirty="0" smtClean="0"/>
              <a:t>, </a:t>
            </a:r>
            <a:r>
              <a:rPr lang="hu-HU" dirty="0" err="1" smtClean="0"/>
              <a:t>verb</a:t>
            </a:r>
            <a:r>
              <a:rPr lang="hu-HU" dirty="0" smtClean="0"/>
              <a:t> – </a:t>
            </a:r>
            <a:r>
              <a:rPr lang="hu-HU" dirty="0" err="1" smtClean="0"/>
              <a:t>nominalisation</a:t>
            </a:r>
            <a:r>
              <a:rPr lang="hu-HU" dirty="0" smtClean="0"/>
              <a:t>, </a:t>
            </a:r>
            <a:r>
              <a:rPr lang="hu-HU" dirty="0" err="1" smtClean="0"/>
              <a:t>adjective</a:t>
            </a:r>
            <a:r>
              <a:rPr lang="hu-HU" dirty="0" smtClean="0"/>
              <a:t> –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comparative</a:t>
            </a:r>
            <a:r>
              <a:rPr lang="hu-HU" dirty="0" smtClean="0"/>
              <a:t>, etc.</a:t>
            </a:r>
          </a:p>
          <a:p>
            <a:pPr lvl="1"/>
            <a:r>
              <a:rPr lang="hu-HU" dirty="0" err="1" smtClean="0"/>
              <a:t>Correct</a:t>
            </a:r>
            <a:r>
              <a:rPr lang="hu-HU" dirty="0" smtClean="0"/>
              <a:t> </a:t>
            </a:r>
            <a:r>
              <a:rPr lang="hu-HU" dirty="0" err="1" smtClean="0"/>
              <a:t>interpretation</a:t>
            </a:r>
            <a:r>
              <a:rPr lang="hu-HU" dirty="0" smtClean="0"/>
              <a:t> of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equations</a:t>
            </a:r>
            <a:r>
              <a:rPr lang="hu-HU" dirty="0" smtClean="0"/>
              <a:t>: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looking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whose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 smtClean="0"/>
              <a:t> is most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of </a:t>
            </a:r>
            <a:r>
              <a:rPr lang="hu-HU" i="1" dirty="0" err="1" smtClean="0"/>
              <a:t>king</a:t>
            </a:r>
            <a:r>
              <a:rPr lang="hu-HU" dirty="0" smtClean="0"/>
              <a:t> and </a:t>
            </a:r>
            <a:r>
              <a:rPr lang="hu-HU" i="1" dirty="0" err="1" smtClean="0"/>
              <a:t>woman</a:t>
            </a:r>
            <a:r>
              <a:rPr lang="hu-HU" i="1" dirty="0" smtClean="0"/>
              <a:t>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least</a:t>
            </a:r>
            <a:r>
              <a:rPr lang="hu-HU" dirty="0" smtClean="0"/>
              <a:t>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of </a:t>
            </a:r>
            <a:r>
              <a:rPr lang="hu-HU" i="1" dirty="0" smtClean="0"/>
              <a:t>man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, </a:t>
            </a:r>
            <a:r>
              <a:rPr lang="hu-HU" dirty="0" err="1" smtClean="0"/>
              <a:t>facts</a:t>
            </a:r>
            <a:r>
              <a:rPr lang="hu-HU" dirty="0" smtClean="0"/>
              <a:t> </a:t>
            </a:r>
            <a:r>
              <a:rPr lang="hu-HU" dirty="0" err="1" smtClean="0"/>
              <a:t>concerning</a:t>
            </a:r>
            <a:r>
              <a:rPr lang="hu-HU" dirty="0" smtClean="0"/>
              <a:t> </a:t>
            </a:r>
            <a:r>
              <a:rPr lang="hu-HU" dirty="0" err="1" smtClean="0"/>
              <a:t>semantic</a:t>
            </a:r>
            <a:r>
              <a:rPr lang="hu-HU" dirty="0" smtClean="0"/>
              <a:t> relations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phrased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distributional</a:t>
            </a:r>
            <a:r>
              <a:rPr lang="hu-HU" dirty="0" smtClean="0"/>
              <a:t> </a:t>
            </a:r>
            <a:r>
              <a:rPr lang="hu-HU" dirty="0" err="1" smtClean="0"/>
              <a:t>facts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747028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err="1" smtClean="0"/>
              <a:t>What</a:t>
            </a:r>
            <a:r>
              <a:rPr lang="hu-HU" sz="4000" dirty="0" smtClean="0"/>
              <a:t> is </a:t>
            </a:r>
            <a:r>
              <a:rPr lang="hu-HU" sz="4000" dirty="0" err="1" smtClean="0"/>
              <a:t>Distributional</a:t>
            </a:r>
            <a:r>
              <a:rPr lang="hu-HU" sz="4000" dirty="0" smtClean="0"/>
              <a:t> </a:t>
            </a:r>
            <a:r>
              <a:rPr lang="hu-HU" sz="4000" dirty="0" err="1" smtClean="0"/>
              <a:t>Semantics</a:t>
            </a:r>
            <a:r>
              <a:rPr lang="hu-HU" sz="4000" dirty="0" smtClean="0"/>
              <a:t> </a:t>
            </a:r>
            <a:r>
              <a:rPr lang="hu-HU" sz="4000" dirty="0" err="1" smtClean="0"/>
              <a:t>for</a:t>
            </a:r>
            <a:r>
              <a:rPr lang="hu-HU" sz="4000" dirty="0" smtClean="0"/>
              <a:t>?</a:t>
            </a:r>
            <a:endParaRPr lang="hu-HU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hu-HU" sz="1800" dirty="0" smtClean="0"/>
              <a:t>Word </a:t>
            </a:r>
            <a:r>
              <a:rPr lang="hu-HU" sz="1800" dirty="0" err="1" smtClean="0"/>
              <a:t>meaning</a:t>
            </a:r>
            <a:r>
              <a:rPr lang="hu-HU" sz="1800" dirty="0" smtClean="0"/>
              <a:t> </a:t>
            </a:r>
            <a:r>
              <a:rPr lang="hu-HU" sz="1800" dirty="0" err="1" smtClean="0"/>
              <a:t>representations</a:t>
            </a:r>
            <a:r>
              <a:rPr lang="hu-HU" sz="1800" dirty="0" smtClean="0"/>
              <a:t> </a:t>
            </a:r>
            <a:r>
              <a:rPr lang="hu-HU" sz="1800" dirty="0" err="1" smtClean="0"/>
              <a:t>can</a:t>
            </a:r>
            <a:r>
              <a:rPr lang="hu-HU" sz="1800" dirty="0" smtClean="0"/>
              <a:t> be </a:t>
            </a:r>
            <a:r>
              <a:rPr lang="hu-HU" sz="1800" dirty="0" err="1" smtClean="0"/>
              <a:t>extracted</a:t>
            </a:r>
            <a:r>
              <a:rPr lang="hu-HU" sz="1800" dirty="0" smtClean="0"/>
              <a:t> </a:t>
            </a:r>
            <a:r>
              <a:rPr lang="hu-HU" sz="1800" dirty="0" err="1" smtClean="0"/>
              <a:t>automatically</a:t>
            </a:r>
            <a:r>
              <a:rPr lang="hu-HU" sz="1800" dirty="0" smtClean="0"/>
              <a:t> and </a:t>
            </a:r>
            <a:r>
              <a:rPr lang="hu-HU" sz="1800" dirty="0" err="1" smtClean="0"/>
              <a:t>easily</a:t>
            </a:r>
            <a:r>
              <a:rPr lang="hu-HU" sz="1800" dirty="0" smtClean="0"/>
              <a:t> </a:t>
            </a:r>
            <a:r>
              <a:rPr lang="hu-HU" sz="1800" dirty="0" err="1" smtClean="0"/>
              <a:t>from</a:t>
            </a:r>
            <a:r>
              <a:rPr lang="hu-HU" sz="1800" dirty="0" smtClean="0"/>
              <a:t> </a:t>
            </a:r>
            <a:r>
              <a:rPr lang="hu-HU" sz="1800" dirty="0" err="1" smtClean="0"/>
              <a:t>corpora</a:t>
            </a:r>
            <a:r>
              <a:rPr lang="hu-HU" sz="1800" dirty="0" smtClean="0"/>
              <a:t> </a:t>
            </a:r>
            <a:r>
              <a:rPr lang="hu-HU" sz="1800" dirty="0" err="1" smtClean="0"/>
              <a:t>for</a:t>
            </a:r>
            <a:r>
              <a:rPr lang="hu-HU" sz="1800" dirty="0" smtClean="0"/>
              <a:t> </a:t>
            </a:r>
            <a:r>
              <a:rPr lang="hu-HU" sz="1800" dirty="0" err="1" smtClean="0"/>
              <a:t>the</a:t>
            </a:r>
            <a:r>
              <a:rPr lang="hu-HU" sz="1800" dirty="0" smtClean="0"/>
              <a:t> </a:t>
            </a:r>
            <a:r>
              <a:rPr lang="hu-HU" sz="1800" dirty="0" err="1" smtClean="0"/>
              <a:t>entire</a:t>
            </a:r>
            <a:r>
              <a:rPr lang="hu-HU" sz="1800" dirty="0" smtClean="0"/>
              <a:t> </a:t>
            </a:r>
            <a:r>
              <a:rPr lang="hu-HU" sz="1800" dirty="0" err="1" smtClean="0"/>
              <a:t>vocabulary</a:t>
            </a:r>
            <a:r>
              <a:rPr lang="hu-HU" sz="1800" dirty="0" smtClean="0"/>
              <a:t>.</a:t>
            </a:r>
          </a:p>
          <a:p>
            <a:r>
              <a:rPr lang="hu-HU" sz="1800" dirty="0" smtClean="0"/>
              <a:t>Word </a:t>
            </a:r>
            <a:r>
              <a:rPr lang="hu-HU" sz="1800" dirty="0" err="1" smtClean="0"/>
              <a:t>meanings</a:t>
            </a:r>
            <a:r>
              <a:rPr lang="hu-HU" sz="1800" dirty="0" smtClean="0"/>
              <a:t> </a:t>
            </a:r>
            <a:r>
              <a:rPr lang="hu-HU" sz="1800" dirty="0" err="1" smtClean="0"/>
              <a:t>constitute</a:t>
            </a:r>
            <a:r>
              <a:rPr lang="hu-HU" sz="1800" dirty="0" smtClean="0"/>
              <a:t> </a:t>
            </a:r>
            <a:r>
              <a:rPr lang="hu-HU" sz="1800" dirty="0" err="1" smtClean="0"/>
              <a:t>at</a:t>
            </a:r>
            <a:r>
              <a:rPr lang="hu-HU" sz="1800" dirty="0" smtClean="0"/>
              <a:t> </a:t>
            </a:r>
            <a:r>
              <a:rPr lang="hu-HU" sz="1800" dirty="0" err="1" smtClean="0"/>
              <a:t>least</a:t>
            </a:r>
            <a:r>
              <a:rPr lang="hu-HU" sz="1800" dirty="0" smtClean="0"/>
              <a:t> 85 % of </a:t>
            </a:r>
            <a:r>
              <a:rPr lang="hu-HU" sz="1800" dirty="0" err="1" smtClean="0"/>
              <a:t>the</a:t>
            </a:r>
            <a:r>
              <a:rPr lang="hu-HU" sz="1800" dirty="0" smtClean="0"/>
              <a:t> </a:t>
            </a:r>
            <a:r>
              <a:rPr lang="hu-HU" sz="1800" dirty="0" err="1" smtClean="0"/>
              <a:t>information</a:t>
            </a:r>
            <a:r>
              <a:rPr lang="hu-HU" sz="1800" dirty="0" smtClean="0"/>
              <a:t> </a:t>
            </a:r>
            <a:r>
              <a:rPr lang="hu-HU" sz="1800" dirty="0" err="1" smtClean="0"/>
              <a:t>content</a:t>
            </a:r>
            <a:r>
              <a:rPr lang="hu-HU" sz="1800" dirty="0" smtClean="0"/>
              <a:t> </a:t>
            </a:r>
            <a:r>
              <a:rPr lang="hu-HU" sz="1800" dirty="0" err="1" smtClean="0"/>
              <a:t>of</a:t>
            </a:r>
            <a:r>
              <a:rPr lang="hu-HU" sz="1800" dirty="0" smtClean="0"/>
              <a:t> </a:t>
            </a:r>
            <a:r>
              <a:rPr lang="hu-HU" sz="1800" dirty="0" err="1" smtClean="0"/>
              <a:t>linguistic</a:t>
            </a:r>
            <a:r>
              <a:rPr lang="hu-HU" sz="1800" dirty="0" smtClean="0"/>
              <a:t> </a:t>
            </a:r>
            <a:r>
              <a:rPr lang="hu-HU" sz="1800" dirty="0" err="1" smtClean="0"/>
              <a:t>utterances</a:t>
            </a:r>
            <a:r>
              <a:rPr lang="hu-HU" sz="1800" dirty="0" smtClean="0"/>
              <a:t> (</a:t>
            </a:r>
            <a:r>
              <a:rPr lang="hu-HU" sz="1800" dirty="0" err="1" smtClean="0"/>
              <a:t>Kornai</a:t>
            </a:r>
            <a:r>
              <a:rPr lang="hu-HU" sz="1800" dirty="0" smtClean="0"/>
              <a:t>, 2020).</a:t>
            </a:r>
          </a:p>
          <a:p>
            <a:pPr lvl="1"/>
            <a:r>
              <a:rPr lang="hu-HU" sz="1400" dirty="0" err="1" smtClean="0"/>
              <a:t>Truth-conditional</a:t>
            </a:r>
            <a:r>
              <a:rPr lang="hu-HU" sz="1400" dirty="0" smtClean="0"/>
              <a:t> </a:t>
            </a:r>
            <a:r>
              <a:rPr lang="hu-HU" sz="1400" dirty="0" err="1" smtClean="0"/>
              <a:t>semantics</a:t>
            </a:r>
            <a:r>
              <a:rPr lang="hu-HU" sz="1400" dirty="0" smtClean="0"/>
              <a:t> </a:t>
            </a:r>
            <a:r>
              <a:rPr lang="hu-HU" sz="1400" dirty="0" err="1" smtClean="0"/>
              <a:t>does</a:t>
            </a:r>
            <a:r>
              <a:rPr lang="hu-HU" sz="1400" dirty="0" smtClean="0"/>
              <a:t> </a:t>
            </a:r>
            <a:r>
              <a:rPr lang="hu-HU" sz="1400" dirty="0" err="1" smtClean="0"/>
              <a:t>not</a:t>
            </a:r>
            <a:r>
              <a:rPr lang="hu-HU" sz="1400" dirty="0" smtClean="0"/>
              <a:t> </a:t>
            </a:r>
            <a:r>
              <a:rPr lang="hu-HU" sz="1400" dirty="0" err="1" smtClean="0"/>
              <a:t>tell</a:t>
            </a:r>
            <a:r>
              <a:rPr lang="hu-HU" sz="1400" dirty="0" smtClean="0"/>
              <a:t> </a:t>
            </a:r>
            <a:r>
              <a:rPr lang="hu-HU" sz="1400" dirty="0" err="1" smtClean="0"/>
              <a:t>us</a:t>
            </a:r>
            <a:r>
              <a:rPr lang="hu-HU" sz="1400" dirty="0" smtClean="0"/>
              <a:t> </a:t>
            </a:r>
            <a:r>
              <a:rPr lang="hu-HU" sz="1400" dirty="0" err="1" smtClean="0"/>
              <a:t>anything</a:t>
            </a:r>
            <a:r>
              <a:rPr lang="hu-HU" sz="1400" dirty="0" smtClean="0"/>
              <a:t> </a:t>
            </a:r>
            <a:r>
              <a:rPr lang="hu-HU" sz="1400" dirty="0" err="1" smtClean="0"/>
              <a:t>about</a:t>
            </a:r>
            <a:r>
              <a:rPr lang="hu-HU" sz="1400" dirty="0" smtClean="0"/>
              <a:t> </a:t>
            </a:r>
            <a:r>
              <a:rPr lang="hu-HU" sz="1400" dirty="0" err="1" smtClean="0"/>
              <a:t>these</a:t>
            </a:r>
            <a:r>
              <a:rPr lang="hu-HU" sz="1400" dirty="0" smtClean="0"/>
              <a:t>.</a:t>
            </a:r>
            <a:endParaRPr lang="hu-HU" sz="1400" i="1" dirty="0"/>
          </a:p>
          <a:p>
            <a:r>
              <a:rPr lang="hu-HU" sz="1800" dirty="0" err="1" smtClean="0"/>
              <a:t>In</a:t>
            </a:r>
            <a:r>
              <a:rPr lang="hu-HU" sz="1800" dirty="0" smtClean="0"/>
              <a:t> </a:t>
            </a:r>
            <a:r>
              <a:rPr lang="hu-HU" sz="1800" dirty="0" err="1" smtClean="0"/>
              <a:t>linguistic</a:t>
            </a:r>
            <a:r>
              <a:rPr lang="hu-HU" sz="1800" dirty="0" smtClean="0"/>
              <a:t> </a:t>
            </a:r>
            <a:r>
              <a:rPr lang="hu-HU" sz="1800" dirty="0" err="1" smtClean="0"/>
              <a:t>semantics</a:t>
            </a:r>
            <a:r>
              <a:rPr lang="hu-HU" sz="1800" dirty="0" smtClean="0"/>
              <a:t>, </a:t>
            </a:r>
            <a:r>
              <a:rPr lang="hu-HU" sz="1800" dirty="0" err="1" smtClean="0"/>
              <a:t>nobody</a:t>
            </a:r>
            <a:r>
              <a:rPr lang="hu-HU" sz="1800" dirty="0" smtClean="0"/>
              <a:t> has </a:t>
            </a:r>
            <a:r>
              <a:rPr lang="hu-HU" sz="1800" dirty="0" err="1" smtClean="0"/>
              <a:t>ever</a:t>
            </a:r>
            <a:r>
              <a:rPr lang="hu-HU" sz="1800" dirty="0" smtClean="0"/>
              <a:t> </a:t>
            </a:r>
            <a:r>
              <a:rPr lang="hu-HU" sz="1800" dirty="0" err="1" smtClean="0"/>
              <a:t>tried</a:t>
            </a:r>
            <a:r>
              <a:rPr lang="hu-HU" sz="1800" dirty="0" smtClean="0"/>
              <a:t> </a:t>
            </a:r>
            <a:r>
              <a:rPr lang="hu-HU" sz="1800" dirty="0" err="1" smtClean="0"/>
              <a:t>to</a:t>
            </a:r>
            <a:r>
              <a:rPr lang="hu-HU" sz="1800" dirty="0" smtClean="0"/>
              <a:t> </a:t>
            </a:r>
            <a:r>
              <a:rPr lang="hu-HU" sz="1800" dirty="0" err="1" smtClean="0"/>
              <a:t>specify</a:t>
            </a:r>
            <a:r>
              <a:rPr lang="hu-HU" sz="1800" dirty="0" smtClean="0"/>
              <a:t> </a:t>
            </a:r>
            <a:r>
              <a:rPr lang="hu-HU" sz="1800" dirty="0" err="1" smtClean="0"/>
              <a:t>word</a:t>
            </a:r>
            <a:r>
              <a:rPr lang="hu-HU" sz="1800" dirty="0" smtClean="0"/>
              <a:t> </a:t>
            </a:r>
            <a:r>
              <a:rPr lang="hu-HU" sz="1800" dirty="0" err="1" smtClean="0"/>
              <a:t>meaning</a:t>
            </a:r>
            <a:r>
              <a:rPr lang="hu-HU" sz="1800" dirty="0" smtClean="0"/>
              <a:t> </a:t>
            </a:r>
            <a:r>
              <a:rPr lang="hu-HU" sz="1800" dirty="0" err="1" smtClean="0"/>
              <a:t>representations</a:t>
            </a:r>
            <a:r>
              <a:rPr lang="hu-HU" sz="1800" dirty="0" smtClean="0"/>
              <a:t> </a:t>
            </a:r>
            <a:r>
              <a:rPr lang="hu-HU" sz="1800" dirty="0" err="1" smtClean="0"/>
              <a:t>for</a:t>
            </a:r>
            <a:r>
              <a:rPr lang="hu-HU" sz="1800" dirty="0" smtClean="0"/>
              <a:t> </a:t>
            </a:r>
            <a:r>
              <a:rPr lang="hu-HU" sz="1800" dirty="0" err="1" smtClean="0"/>
              <a:t>significant</a:t>
            </a:r>
            <a:r>
              <a:rPr lang="hu-HU" sz="1800" dirty="0" smtClean="0"/>
              <a:t> </a:t>
            </a:r>
            <a:r>
              <a:rPr lang="hu-HU" sz="1800" dirty="0" err="1" smtClean="0"/>
              <a:t>parts</a:t>
            </a:r>
            <a:r>
              <a:rPr lang="hu-HU" sz="1800" dirty="0" smtClean="0"/>
              <a:t> of </a:t>
            </a:r>
            <a:r>
              <a:rPr lang="hu-HU" sz="1800" dirty="0" err="1" smtClean="0"/>
              <a:t>the</a:t>
            </a:r>
            <a:r>
              <a:rPr lang="hu-HU" sz="1800" dirty="0" smtClean="0"/>
              <a:t> </a:t>
            </a:r>
            <a:r>
              <a:rPr lang="hu-HU" sz="1800" dirty="0" err="1" smtClean="0"/>
              <a:t>vocabularly</a:t>
            </a:r>
            <a:r>
              <a:rPr lang="hu-HU" sz="1800" dirty="0" smtClean="0"/>
              <a:t>, </a:t>
            </a:r>
            <a:r>
              <a:rPr lang="hu-HU" sz="1800" dirty="0" err="1" smtClean="0"/>
              <a:t>only</a:t>
            </a:r>
            <a:r>
              <a:rPr lang="hu-HU" sz="1800" dirty="0" smtClean="0"/>
              <a:t> </a:t>
            </a:r>
            <a:r>
              <a:rPr lang="hu-HU" sz="1800" dirty="0" err="1" smtClean="0"/>
              <a:t>for</a:t>
            </a:r>
            <a:r>
              <a:rPr lang="hu-HU" sz="1800" dirty="0" smtClean="0"/>
              <a:t> </a:t>
            </a:r>
            <a:r>
              <a:rPr lang="hu-HU" sz="1800" dirty="0" err="1" smtClean="0"/>
              <a:t>small</a:t>
            </a:r>
            <a:r>
              <a:rPr lang="hu-HU" sz="1800" dirty="0" smtClean="0"/>
              <a:t> </a:t>
            </a:r>
            <a:r>
              <a:rPr lang="hu-HU" sz="1800" dirty="0" err="1" smtClean="0"/>
              <a:t>semantic</a:t>
            </a:r>
            <a:r>
              <a:rPr lang="hu-HU" sz="1800" dirty="0" smtClean="0"/>
              <a:t> </a:t>
            </a:r>
            <a:r>
              <a:rPr lang="hu-HU" sz="1800" dirty="0" err="1" smtClean="0"/>
              <a:t>domains</a:t>
            </a:r>
            <a:r>
              <a:rPr lang="hu-HU" sz="1800" dirty="0" smtClean="0"/>
              <a:t>.</a:t>
            </a:r>
          </a:p>
          <a:p>
            <a:r>
              <a:rPr lang="hu-HU" sz="1800" dirty="0" err="1" smtClean="0"/>
              <a:t>Monolingual</a:t>
            </a:r>
            <a:r>
              <a:rPr lang="hu-HU" sz="1800" dirty="0" smtClean="0"/>
              <a:t> </a:t>
            </a:r>
            <a:r>
              <a:rPr lang="hu-HU" sz="1800" dirty="0" err="1" smtClean="0"/>
              <a:t>dictionary</a:t>
            </a:r>
            <a:r>
              <a:rPr lang="hu-HU" sz="1800" dirty="0" smtClean="0"/>
              <a:t> </a:t>
            </a:r>
            <a:r>
              <a:rPr lang="hu-HU" sz="1800" dirty="0" err="1" smtClean="0"/>
              <a:t>definitions</a:t>
            </a:r>
            <a:r>
              <a:rPr lang="hu-HU" sz="1800" dirty="0" smtClean="0"/>
              <a:t> </a:t>
            </a:r>
            <a:r>
              <a:rPr lang="hu-HU" sz="1800" dirty="0" err="1" smtClean="0"/>
              <a:t>are</a:t>
            </a:r>
            <a:r>
              <a:rPr lang="hu-HU" sz="1800" dirty="0" smtClean="0"/>
              <a:t> </a:t>
            </a:r>
            <a:r>
              <a:rPr lang="hu-HU" sz="1800" dirty="0" err="1" smtClean="0"/>
              <a:t>closest</a:t>
            </a:r>
            <a:r>
              <a:rPr lang="hu-HU" sz="1800" dirty="0" smtClean="0"/>
              <a:t> </a:t>
            </a:r>
            <a:r>
              <a:rPr lang="hu-HU" sz="1800" dirty="0" err="1" smtClean="0"/>
              <a:t>to</a:t>
            </a:r>
            <a:r>
              <a:rPr lang="hu-HU" sz="1800" dirty="0" smtClean="0"/>
              <a:t> </a:t>
            </a:r>
            <a:r>
              <a:rPr lang="hu-HU" sz="1800" dirty="0" err="1" smtClean="0"/>
              <a:t>this</a:t>
            </a:r>
            <a:r>
              <a:rPr lang="hu-HU" sz="1800" dirty="0" smtClean="0"/>
              <a:t> </a:t>
            </a:r>
            <a:r>
              <a:rPr lang="hu-HU" sz="1800" dirty="0" err="1" smtClean="0"/>
              <a:t>goal</a:t>
            </a:r>
            <a:r>
              <a:rPr lang="hu-HU" sz="1800" dirty="0"/>
              <a:t>.</a:t>
            </a:r>
            <a:endParaRPr lang="hu-HU" sz="1800" dirty="0" smtClean="0"/>
          </a:p>
          <a:p>
            <a:pPr lvl="1"/>
            <a:r>
              <a:rPr lang="hu-HU" sz="1400" dirty="0" err="1" smtClean="0"/>
              <a:t>But</a:t>
            </a:r>
            <a:r>
              <a:rPr lang="hu-HU" sz="1400" dirty="0" smtClean="0"/>
              <a:t> </a:t>
            </a:r>
            <a:r>
              <a:rPr lang="hu-HU" sz="1400" dirty="0" err="1" smtClean="0"/>
              <a:t>they</a:t>
            </a:r>
            <a:r>
              <a:rPr lang="hu-HU" sz="1400" dirty="0" smtClean="0"/>
              <a:t> </a:t>
            </a:r>
            <a:r>
              <a:rPr lang="hu-HU" sz="1400" dirty="0" err="1" smtClean="0"/>
              <a:t>cannot</a:t>
            </a:r>
            <a:r>
              <a:rPr lang="hu-HU" sz="1400" dirty="0" smtClean="0"/>
              <a:t> be </a:t>
            </a:r>
            <a:r>
              <a:rPr lang="hu-HU" sz="1400" dirty="0" err="1" smtClean="0"/>
              <a:t>utilised</a:t>
            </a:r>
            <a:r>
              <a:rPr lang="hu-HU" sz="1400" dirty="0" smtClean="0"/>
              <a:t> </a:t>
            </a:r>
            <a:r>
              <a:rPr lang="hu-HU" sz="1400" dirty="0" err="1" smtClean="0"/>
              <a:t>for</a:t>
            </a:r>
            <a:r>
              <a:rPr lang="hu-HU" sz="1400" dirty="0" smtClean="0"/>
              <a:t> </a:t>
            </a:r>
            <a:r>
              <a:rPr lang="hu-HU" sz="1400" dirty="0" err="1" smtClean="0"/>
              <a:t>NLP</a:t>
            </a:r>
            <a:r>
              <a:rPr lang="hu-HU" sz="1400" dirty="0" smtClean="0"/>
              <a:t> </a:t>
            </a:r>
            <a:r>
              <a:rPr lang="hu-HU" sz="1400" dirty="0" err="1" smtClean="0"/>
              <a:t>directly</a:t>
            </a:r>
            <a:r>
              <a:rPr lang="hu-HU" sz="1400" dirty="0" smtClean="0"/>
              <a:t>.</a:t>
            </a:r>
          </a:p>
          <a:p>
            <a:r>
              <a:rPr lang="hu-HU" sz="1800" dirty="0" err="1" smtClean="0"/>
              <a:t>In</a:t>
            </a:r>
            <a:r>
              <a:rPr lang="hu-HU" sz="1800" dirty="0" smtClean="0"/>
              <a:t> </a:t>
            </a:r>
            <a:r>
              <a:rPr lang="hu-HU" sz="1800" dirty="0" err="1" smtClean="0"/>
              <a:t>NLP</a:t>
            </a:r>
            <a:r>
              <a:rPr lang="hu-HU" sz="1800" dirty="0" smtClean="0"/>
              <a:t>, </a:t>
            </a:r>
            <a:r>
              <a:rPr lang="hu-HU" sz="1800" dirty="0" err="1" smtClean="0"/>
              <a:t>word</a:t>
            </a:r>
            <a:r>
              <a:rPr lang="hu-HU" sz="1800" dirty="0" smtClean="0"/>
              <a:t> </a:t>
            </a:r>
            <a:r>
              <a:rPr lang="hu-HU" sz="1800" dirty="0" err="1" smtClean="0"/>
              <a:t>databases</a:t>
            </a:r>
            <a:r>
              <a:rPr lang="hu-HU" sz="1800" dirty="0" smtClean="0"/>
              <a:t> had </a:t>
            </a:r>
            <a:r>
              <a:rPr lang="hu-HU" sz="1800" dirty="0" err="1" smtClean="0"/>
              <a:t>been</a:t>
            </a:r>
            <a:r>
              <a:rPr lang="hu-HU" sz="1800" dirty="0" smtClean="0"/>
              <a:t> </a:t>
            </a:r>
            <a:r>
              <a:rPr lang="hu-HU" sz="1800" dirty="0" err="1" smtClean="0"/>
              <a:t>used</a:t>
            </a:r>
            <a:r>
              <a:rPr lang="hu-HU" sz="1800" dirty="0" smtClean="0"/>
              <a:t> </a:t>
            </a:r>
            <a:r>
              <a:rPr lang="hu-HU" sz="1800" dirty="0" err="1" smtClean="0"/>
              <a:t>for</a:t>
            </a:r>
            <a:r>
              <a:rPr lang="hu-HU" sz="1800" dirty="0" smtClean="0"/>
              <a:t> </a:t>
            </a:r>
            <a:r>
              <a:rPr lang="hu-HU" sz="1800" dirty="0" err="1" smtClean="0"/>
              <a:t>this</a:t>
            </a:r>
            <a:r>
              <a:rPr lang="hu-HU" sz="1800" dirty="0" smtClean="0"/>
              <a:t> </a:t>
            </a:r>
            <a:r>
              <a:rPr lang="hu-HU" sz="1800" dirty="0" err="1" smtClean="0"/>
              <a:t>purpose</a:t>
            </a:r>
            <a:r>
              <a:rPr lang="hu-HU" sz="1800" dirty="0" smtClean="0"/>
              <a:t> </a:t>
            </a:r>
            <a:r>
              <a:rPr lang="hu-HU" sz="1800" dirty="0" err="1" smtClean="0"/>
              <a:t>traditionally</a:t>
            </a:r>
            <a:r>
              <a:rPr lang="hu-HU" sz="1800" dirty="0" smtClean="0"/>
              <a:t>, </a:t>
            </a:r>
            <a:r>
              <a:rPr lang="hu-HU" sz="1800" dirty="0" err="1" smtClean="0"/>
              <a:t>such</a:t>
            </a:r>
            <a:r>
              <a:rPr lang="hu-HU" sz="1800" dirty="0" smtClean="0"/>
              <a:t> </a:t>
            </a:r>
            <a:r>
              <a:rPr lang="hu-HU" sz="1800" dirty="0" err="1" smtClean="0"/>
              <a:t>as</a:t>
            </a:r>
            <a:r>
              <a:rPr lang="hu-HU" sz="1800" dirty="0" smtClean="0"/>
              <a:t> </a:t>
            </a:r>
            <a:r>
              <a:rPr lang="hu-HU" sz="1800" dirty="0" err="1" smtClean="0"/>
              <a:t>WordNet</a:t>
            </a:r>
            <a:endParaRPr lang="hu-HU" sz="1800" dirty="0" smtClean="0"/>
          </a:p>
          <a:p>
            <a:pPr lvl="1"/>
            <a:r>
              <a:rPr lang="hu-HU" sz="1400" dirty="0" err="1" smtClean="0"/>
              <a:t>these</a:t>
            </a:r>
            <a:r>
              <a:rPr lang="hu-HU" sz="1400" dirty="0" smtClean="0"/>
              <a:t> </a:t>
            </a:r>
            <a:r>
              <a:rPr lang="hu-HU" sz="1400" dirty="0" err="1" smtClean="0"/>
              <a:t>capture</a:t>
            </a:r>
            <a:r>
              <a:rPr lang="hu-HU" sz="1400" dirty="0" smtClean="0"/>
              <a:t> </a:t>
            </a:r>
            <a:r>
              <a:rPr lang="hu-HU" sz="1400" dirty="0" err="1" smtClean="0"/>
              <a:t>fundamental</a:t>
            </a:r>
            <a:r>
              <a:rPr lang="hu-HU" sz="1400" dirty="0" smtClean="0"/>
              <a:t> </a:t>
            </a:r>
            <a:r>
              <a:rPr lang="hu-HU" sz="1400" dirty="0" err="1" smtClean="0"/>
              <a:t>semantic</a:t>
            </a:r>
            <a:r>
              <a:rPr lang="hu-HU" sz="1400" dirty="0" smtClean="0"/>
              <a:t> relations: </a:t>
            </a:r>
            <a:r>
              <a:rPr lang="hu-HU" sz="1400" dirty="0" err="1" smtClean="0"/>
              <a:t>synonymy</a:t>
            </a:r>
            <a:r>
              <a:rPr lang="hu-HU" sz="1400" dirty="0" smtClean="0"/>
              <a:t>, </a:t>
            </a:r>
            <a:r>
              <a:rPr lang="hu-HU" sz="1400" dirty="0" err="1" smtClean="0"/>
              <a:t>antonymy</a:t>
            </a:r>
            <a:r>
              <a:rPr lang="hu-HU" sz="1400" dirty="0" smtClean="0"/>
              <a:t>, </a:t>
            </a:r>
            <a:r>
              <a:rPr lang="hu-HU" sz="1400" dirty="0" err="1" smtClean="0"/>
              <a:t>hyponymy</a:t>
            </a:r>
            <a:r>
              <a:rPr lang="hu-HU" sz="1400" dirty="0" smtClean="0"/>
              <a:t> (</a:t>
            </a:r>
            <a:r>
              <a:rPr lang="hu-HU" sz="1400" dirty="0" err="1" smtClean="0"/>
              <a:t>entailment</a:t>
            </a:r>
            <a:r>
              <a:rPr lang="hu-HU" sz="1400" dirty="0" smtClean="0"/>
              <a:t>).</a:t>
            </a:r>
          </a:p>
          <a:p>
            <a:pPr lvl="1"/>
            <a:r>
              <a:rPr lang="hu-HU" sz="1400" dirty="0" err="1" smtClean="0"/>
              <a:t>Creating</a:t>
            </a:r>
            <a:r>
              <a:rPr lang="hu-HU" sz="1400" dirty="0" smtClean="0"/>
              <a:t> </a:t>
            </a:r>
            <a:r>
              <a:rPr lang="hu-HU" sz="1400" dirty="0" err="1" smtClean="0"/>
              <a:t>these</a:t>
            </a:r>
            <a:r>
              <a:rPr lang="hu-HU" sz="1400" dirty="0" smtClean="0"/>
              <a:t> </a:t>
            </a:r>
            <a:r>
              <a:rPr lang="hu-HU" sz="1400" dirty="0" err="1" smtClean="0"/>
              <a:t>automatically</a:t>
            </a:r>
            <a:r>
              <a:rPr lang="hu-HU" sz="1400" dirty="0" smtClean="0"/>
              <a:t> </a:t>
            </a:r>
            <a:r>
              <a:rPr lang="hu-HU" sz="1400" dirty="0" err="1" smtClean="0"/>
              <a:t>from</a:t>
            </a:r>
            <a:r>
              <a:rPr lang="hu-HU" sz="1400" dirty="0" smtClean="0"/>
              <a:t> </a:t>
            </a:r>
            <a:r>
              <a:rPr lang="hu-HU" sz="1400" dirty="0" err="1" smtClean="0"/>
              <a:t>texts</a:t>
            </a:r>
            <a:r>
              <a:rPr lang="hu-HU" sz="1400" dirty="0" smtClean="0"/>
              <a:t> is, </a:t>
            </a:r>
            <a:r>
              <a:rPr lang="hu-HU" sz="1400" dirty="0" err="1" smtClean="0"/>
              <a:t>however</a:t>
            </a:r>
            <a:r>
              <a:rPr lang="hu-HU" sz="1400" dirty="0" smtClean="0"/>
              <a:t>, an </a:t>
            </a:r>
            <a:r>
              <a:rPr lang="hu-HU" sz="1400" dirty="0" err="1" smtClean="0"/>
              <a:t>unsolved</a:t>
            </a:r>
            <a:r>
              <a:rPr lang="hu-HU" sz="1400" dirty="0" smtClean="0"/>
              <a:t> and </a:t>
            </a:r>
            <a:r>
              <a:rPr lang="hu-HU" sz="1400" dirty="0" err="1" smtClean="0"/>
              <a:t>very</a:t>
            </a:r>
            <a:r>
              <a:rPr lang="hu-HU" sz="1400" dirty="0" smtClean="0"/>
              <a:t> </a:t>
            </a:r>
            <a:r>
              <a:rPr lang="hu-HU" sz="1400" dirty="0" err="1" smtClean="0"/>
              <a:t>hard</a:t>
            </a:r>
            <a:r>
              <a:rPr lang="hu-HU" sz="1400" dirty="0" smtClean="0"/>
              <a:t> </a:t>
            </a:r>
            <a:r>
              <a:rPr lang="hu-HU" sz="1400" dirty="0" err="1" smtClean="0"/>
              <a:t>problem</a:t>
            </a:r>
            <a:r>
              <a:rPr lang="hu-HU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65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 smtClean="0"/>
              <a:t>What</a:t>
            </a:r>
            <a:r>
              <a:rPr lang="hu-HU" dirty="0" smtClean="0"/>
              <a:t> Is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/>
              <a:t>N</a:t>
            </a:r>
            <a:r>
              <a:rPr lang="hu-HU" dirty="0" err="1" smtClean="0"/>
              <a:t>ot</a:t>
            </a:r>
            <a:r>
              <a:rPr lang="hu-HU" dirty="0" smtClean="0"/>
              <a:t> </a:t>
            </a:r>
            <a:r>
              <a:rPr lang="hu-HU" dirty="0" err="1"/>
              <a:t>F</a:t>
            </a:r>
            <a:r>
              <a:rPr lang="hu-HU" dirty="0" err="1" smtClean="0"/>
              <a:t>or</a:t>
            </a:r>
            <a:r>
              <a:rPr lang="hu-HU" dirty="0" smtClean="0"/>
              <a:t>?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No </a:t>
            </a:r>
            <a:r>
              <a:rPr lang="hu-HU" dirty="0" err="1" smtClean="0"/>
              <a:t>connection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extralinguistic</a:t>
            </a:r>
            <a:r>
              <a:rPr lang="hu-HU" dirty="0" smtClean="0"/>
              <a:t> </a:t>
            </a:r>
            <a:r>
              <a:rPr lang="hu-HU" dirty="0" err="1" smtClean="0"/>
              <a:t>reality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dirty="0" err="1" smtClean="0"/>
              <a:t>commonly</a:t>
            </a:r>
            <a:r>
              <a:rPr lang="hu-HU" dirty="0" smtClean="0"/>
              <a:t> </a:t>
            </a:r>
            <a:r>
              <a:rPr lang="hu-HU" dirty="0" err="1" smtClean="0"/>
              <a:t>referred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problem</a:t>
            </a:r>
            <a:r>
              <a:rPr lang="hu-HU" dirty="0" smtClean="0"/>
              <a:t> of </a:t>
            </a:r>
            <a:r>
              <a:rPr lang="hu-HU" dirty="0" err="1" smtClean="0"/>
              <a:t>grounding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Because</a:t>
            </a:r>
            <a:r>
              <a:rPr lang="hu-HU" dirty="0" smtClean="0"/>
              <a:t> of </a:t>
            </a:r>
            <a:r>
              <a:rPr lang="hu-HU" dirty="0" err="1" smtClean="0"/>
              <a:t>this</a:t>
            </a:r>
            <a:r>
              <a:rPr lang="hu-HU" dirty="0" smtClean="0"/>
              <a:t>, </a:t>
            </a:r>
            <a:r>
              <a:rPr lang="hu-HU" dirty="0" err="1" smtClean="0"/>
              <a:t>strong</a:t>
            </a:r>
            <a:r>
              <a:rPr lang="hu-HU" dirty="0" smtClean="0"/>
              <a:t> </a:t>
            </a:r>
            <a:r>
              <a:rPr lang="hu-HU" dirty="0" err="1" smtClean="0"/>
              <a:t>distributionalism</a:t>
            </a:r>
            <a:r>
              <a:rPr lang="hu-HU" dirty="0" smtClean="0"/>
              <a:t> is </a:t>
            </a:r>
            <a:r>
              <a:rPr lang="hu-HU" dirty="0" err="1" smtClean="0"/>
              <a:t>rejected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many</a:t>
            </a:r>
            <a:r>
              <a:rPr lang="hu-HU" dirty="0" smtClean="0"/>
              <a:t> </a:t>
            </a:r>
            <a:r>
              <a:rPr lang="hu-HU" dirty="0" err="1" smtClean="0"/>
              <a:t>cognitive</a:t>
            </a:r>
            <a:r>
              <a:rPr lang="hu-HU" dirty="0" smtClean="0"/>
              <a:t> </a:t>
            </a:r>
            <a:r>
              <a:rPr lang="hu-HU" dirty="0" err="1" smtClean="0"/>
              <a:t>psychologists</a:t>
            </a:r>
            <a:r>
              <a:rPr lang="hu-HU" dirty="0" smtClean="0"/>
              <a:t>:</a:t>
            </a:r>
          </a:p>
          <a:p>
            <a:pPr lvl="1"/>
            <a:r>
              <a:rPr lang="hu-HU" dirty="0" smtClean="0"/>
              <a:t>„[K]</a:t>
            </a:r>
            <a:r>
              <a:rPr lang="hu-HU" dirty="0" err="1" smtClean="0"/>
              <a:t>nowing</a:t>
            </a:r>
            <a:r>
              <a:rPr lang="hu-HU" dirty="0" smtClean="0"/>
              <a:t>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associated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another</a:t>
            </a:r>
            <a:r>
              <a:rPr lang="hu-HU" dirty="0" smtClean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specify</a:t>
            </a:r>
            <a:r>
              <a:rPr lang="hu-HU" dirty="0" smtClean="0"/>
              <a:t>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meaning</a:t>
            </a:r>
            <a:r>
              <a:rPr lang="hu-HU" dirty="0" smtClean="0"/>
              <a:t> of an </a:t>
            </a:r>
            <a:r>
              <a:rPr lang="hu-HU" dirty="0" err="1" smtClean="0"/>
              <a:t>individual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is. […] </a:t>
            </a:r>
            <a:r>
              <a:rPr lang="hu-HU" dirty="0" err="1" smtClean="0"/>
              <a:t>Words</a:t>
            </a:r>
            <a:r>
              <a:rPr lang="hu-HU" dirty="0" smtClean="0"/>
              <a:t> must be </a:t>
            </a:r>
            <a:r>
              <a:rPr lang="hu-HU" dirty="0" err="1" smtClean="0"/>
              <a:t>connected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our</a:t>
            </a:r>
            <a:r>
              <a:rPr lang="hu-HU" dirty="0" smtClean="0"/>
              <a:t> </a:t>
            </a:r>
            <a:r>
              <a:rPr lang="hu-HU" dirty="0" err="1" smtClean="0"/>
              <a:t>knowledge</a:t>
            </a:r>
            <a:r>
              <a:rPr lang="hu-HU" dirty="0" smtClean="0"/>
              <a:t> of </a:t>
            </a:r>
            <a:r>
              <a:rPr lang="hu-HU" dirty="0" err="1" smtClean="0"/>
              <a:t>things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world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just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.” (Murphy 2002: 429)</a:t>
            </a:r>
          </a:p>
          <a:p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</a:t>
            </a:r>
            <a:r>
              <a:rPr lang="hu-HU" dirty="0" err="1" smtClean="0"/>
              <a:t>time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Distributional</a:t>
            </a:r>
            <a:r>
              <a:rPr lang="hu-HU" dirty="0" smtClean="0"/>
              <a:t> </a:t>
            </a:r>
            <a:r>
              <a:rPr lang="hu-HU" dirty="0" err="1" smtClean="0"/>
              <a:t>representations</a:t>
            </a:r>
            <a:r>
              <a:rPr lang="hu-HU" dirty="0" smtClean="0"/>
              <a:t> </a:t>
            </a:r>
            <a:r>
              <a:rPr lang="hu-HU" dirty="0" err="1" smtClean="0"/>
              <a:t>contain</a:t>
            </a:r>
            <a:r>
              <a:rPr lang="hu-HU" dirty="0" smtClean="0"/>
              <a:t> </a:t>
            </a:r>
            <a:r>
              <a:rPr lang="hu-HU" dirty="0" err="1" smtClean="0"/>
              <a:t>world</a:t>
            </a:r>
            <a:r>
              <a:rPr lang="hu-HU" dirty="0" smtClean="0"/>
              <a:t> </a:t>
            </a:r>
            <a:r>
              <a:rPr lang="hu-HU" dirty="0" err="1" smtClean="0"/>
              <a:t>knowledge</a:t>
            </a:r>
            <a:r>
              <a:rPr lang="hu-HU" dirty="0" smtClean="0"/>
              <a:t> </a:t>
            </a:r>
            <a:r>
              <a:rPr lang="hu-HU" dirty="0" err="1" smtClean="0"/>
              <a:t>expressed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linguistic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, </a:t>
            </a:r>
            <a:r>
              <a:rPr lang="hu-HU" dirty="0" err="1" smtClean="0"/>
              <a:t>e.g</a:t>
            </a:r>
            <a:r>
              <a:rPr lang="hu-HU" dirty="0" smtClean="0"/>
              <a:t>. a dog </a:t>
            </a:r>
            <a:r>
              <a:rPr lang="hu-HU" dirty="0" err="1" smtClean="0"/>
              <a:t>barks</a:t>
            </a:r>
            <a:r>
              <a:rPr lang="hu-HU" dirty="0" smtClean="0"/>
              <a:t>, has an </a:t>
            </a:r>
            <a:r>
              <a:rPr lang="hu-HU" dirty="0" err="1" smtClean="0"/>
              <a:t>owner</a:t>
            </a:r>
            <a:r>
              <a:rPr lang="hu-HU" dirty="0" smtClean="0"/>
              <a:t>, etc.</a:t>
            </a:r>
          </a:p>
          <a:p>
            <a:pPr lvl="1"/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of </a:t>
            </a:r>
            <a:r>
              <a:rPr lang="hu-HU" dirty="0" err="1" smtClean="0"/>
              <a:t>words</a:t>
            </a:r>
            <a:r>
              <a:rPr lang="hu-HU" dirty="0" smtClean="0"/>
              <a:t> is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restricted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linguistic</a:t>
            </a:r>
            <a:r>
              <a:rPr lang="hu-HU" dirty="0" smtClean="0"/>
              <a:t> </a:t>
            </a:r>
            <a:r>
              <a:rPr lang="hu-HU" dirty="0" err="1" smtClean="0"/>
              <a:t>material</a:t>
            </a:r>
            <a:r>
              <a:rPr lang="hu-HU" dirty="0" smtClean="0"/>
              <a:t>,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principle</a:t>
            </a:r>
            <a:r>
              <a:rPr lang="hu-HU" dirty="0" smtClean="0"/>
              <a:t> </a:t>
            </a:r>
            <a:r>
              <a:rPr lang="hu-HU" dirty="0" err="1" smtClean="0"/>
              <a:t>create</a:t>
            </a:r>
            <a:r>
              <a:rPr lang="hu-HU" dirty="0" smtClean="0"/>
              <a:t> </a:t>
            </a:r>
            <a:r>
              <a:rPr lang="hu-HU" dirty="0" err="1" smtClean="0"/>
              <a:t>multimodal</a:t>
            </a:r>
            <a:r>
              <a:rPr lang="hu-HU" dirty="0" smtClean="0"/>
              <a:t> </a:t>
            </a:r>
            <a:r>
              <a:rPr lang="hu-HU" dirty="0" err="1" smtClean="0"/>
              <a:t>semantic</a:t>
            </a:r>
            <a:r>
              <a:rPr lang="hu-HU" dirty="0" smtClean="0"/>
              <a:t> </a:t>
            </a:r>
            <a:r>
              <a:rPr lang="hu-HU" dirty="0" err="1" smtClean="0"/>
              <a:t>representations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encode</a:t>
            </a:r>
            <a:r>
              <a:rPr lang="hu-HU" dirty="0" smtClean="0"/>
              <a:t> </a:t>
            </a:r>
            <a:r>
              <a:rPr lang="hu-HU" dirty="0" err="1" smtClean="0"/>
              <a:t>information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senses</a:t>
            </a:r>
            <a:r>
              <a:rPr lang="hu-HU" dirty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vision</a:t>
            </a:r>
            <a:r>
              <a:rPr lang="hu-HU" dirty="0" smtClean="0"/>
              <a:t> and </a:t>
            </a:r>
            <a:r>
              <a:rPr lang="hu-HU" dirty="0" err="1" smtClean="0"/>
              <a:t>hearing</a:t>
            </a:r>
            <a:r>
              <a:rPr lang="hu-H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8072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What</a:t>
            </a:r>
            <a:r>
              <a:rPr lang="hu-HU" dirty="0" smtClean="0"/>
              <a:t> Is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?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answer</a:t>
            </a:r>
            <a:r>
              <a:rPr lang="hu-HU" dirty="0" smtClean="0"/>
              <a:t> </a:t>
            </a:r>
            <a:r>
              <a:rPr lang="hu-HU" dirty="0" err="1" smtClean="0"/>
              <a:t>questions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b="1" dirty="0" err="1" smtClean="0"/>
              <a:t>phrased</a:t>
            </a:r>
            <a:r>
              <a:rPr lang="hu-HU" b="1" dirty="0" smtClean="0"/>
              <a:t> </a:t>
            </a:r>
            <a:r>
              <a:rPr lang="hu-HU" b="1" dirty="0" err="1" smtClean="0"/>
              <a:t>as</a:t>
            </a:r>
            <a:r>
              <a:rPr lang="hu-HU" b="1" dirty="0" smtClean="0"/>
              <a:t> </a:t>
            </a:r>
            <a:r>
              <a:rPr lang="hu-HU" b="1" dirty="0" err="1" smtClean="0"/>
              <a:t>questions</a:t>
            </a:r>
            <a:r>
              <a:rPr lang="hu-HU" b="1" dirty="0" smtClean="0"/>
              <a:t> </a:t>
            </a:r>
            <a:r>
              <a:rPr lang="hu-HU" b="1" dirty="0" err="1" smtClean="0"/>
              <a:t>regarding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distributions</a:t>
            </a:r>
            <a:r>
              <a:rPr lang="hu-HU" b="1" dirty="0" smtClean="0"/>
              <a:t> of </a:t>
            </a:r>
            <a:r>
              <a:rPr lang="hu-HU" b="1" dirty="0" err="1" smtClean="0"/>
              <a:t>words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self-evident</a:t>
            </a:r>
            <a:r>
              <a:rPr lang="hu-HU" dirty="0" smtClean="0"/>
              <a:t>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questions</a:t>
            </a:r>
            <a:r>
              <a:rPr lang="hu-HU" dirty="0" smtClean="0"/>
              <a:t>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, </a:t>
            </a:r>
            <a:r>
              <a:rPr lang="hu-HU" dirty="0" err="1" smtClean="0"/>
              <a:t>see</a:t>
            </a:r>
            <a:r>
              <a:rPr lang="hu-HU" dirty="0" smtClean="0"/>
              <a:t> </a:t>
            </a:r>
            <a:r>
              <a:rPr lang="hu-HU" dirty="0" err="1" smtClean="0"/>
              <a:t>Mikolov</a:t>
            </a:r>
            <a:r>
              <a:rPr lang="hu-HU" dirty="0" smtClean="0"/>
              <a:t>’s </a:t>
            </a:r>
            <a:r>
              <a:rPr lang="hu-HU" dirty="0" err="1" smtClean="0"/>
              <a:t>analogy</a:t>
            </a:r>
            <a:r>
              <a:rPr lang="hu-HU" dirty="0" smtClean="0"/>
              <a:t> </a:t>
            </a:r>
            <a:r>
              <a:rPr lang="hu-HU" dirty="0" err="1" smtClean="0"/>
              <a:t>pairs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Knowledge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individuals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world</a:t>
            </a:r>
            <a:r>
              <a:rPr lang="hu-HU" dirty="0" smtClean="0"/>
              <a:t> is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represented</a:t>
            </a:r>
            <a:r>
              <a:rPr lang="hu-HU" dirty="0" smtClean="0"/>
              <a:t>,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best</a:t>
            </a:r>
            <a:r>
              <a:rPr lang="hu-HU" dirty="0" smtClean="0"/>
              <a:t> </a:t>
            </a:r>
            <a:r>
              <a:rPr lang="hu-HU" dirty="0" err="1" smtClean="0"/>
              <a:t>through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names</a:t>
            </a:r>
            <a:r>
              <a:rPr lang="hu-HU" dirty="0" smtClean="0"/>
              <a:t> of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individuals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Meanings</a:t>
            </a:r>
            <a:r>
              <a:rPr lang="hu-HU" dirty="0" smtClean="0"/>
              <a:t> of </a:t>
            </a:r>
            <a:r>
              <a:rPr lang="hu-HU" dirty="0" err="1" smtClean="0"/>
              <a:t>ambiguous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separated</a:t>
            </a:r>
            <a:r>
              <a:rPr lang="hu-HU" dirty="0" smtClean="0"/>
              <a:t>, 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i="1" dirty="0" err="1" smtClean="0"/>
              <a:t>board</a:t>
            </a:r>
            <a:r>
              <a:rPr lang="hu-HU" i="1" dirty="0" smtClean="0"/>
              <a:t> </a:t>
            </a:r>
            <a:r>
              <a:rPr lang="hu-HU" dirty="0" smtClean="0"/>
              <a:t>is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i="1" dirty="0" err="1" smtClean="0"/>
              <a:t>member</a:t>
            </a:r>
            <a:r>
              <a:rPr lang="hu-HU" i="1" dirty="0" smtClean="0"/>
              <a:t> </a:t>
            </a:r>
            <a:r>
              <a:rPr lang="hu-HU" dirty="0" smtClean="0"/>
              <a:t>and </a:t>
            </a:r>
            <a:r>
              <a:rPr lang="hu-HU" i="1" dirty="0" err="1" smtClean="0"/>
              <a:t>plank</a:t>
            </a:r>
            <a:r>
              <a:rPr lang="hu-HU" dirty="0" smtClean="0"/>
              <a:t>.</a:t>
            </a:r>
            <a:endParaRPr lang="hu-HU" dirty="0"/>
          </a:p>
          <a:p>
            <a:pPr lvl="2"/>
            <a:r>
              <a:rPr lang="hu-HU" dirty="0" err="1" smtClean="0"/>
              <a:t>NLP</a:t>
            </a:r>
            <a:r>
              <a:rPr lang="hu-HU" dirty="0" smtClean="0"/>
              <a:t> </a:t>
            </a:r>
            <a:r>
              <a:rPr lang="hu-HU" dirty="0" err="1" smtClean="0"/>
              <a:t>practicioners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claim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is a </a:t>
            </a:r>
            <a:r>
              <a:rPr lang="hu-HU" dirty="0" err="1" smtClean="0"/>
              <a:t>fundamental</a:t>
            </a:r>
            <a:r>
              <a:rPr lang="hu-HU" dirty="0" smtClean="0"/>
              <a:t> </a:t>
            </a:r>
            <a:r>
              <a:rPr lang="hu-HU" dirty="0" err="1" smtClean="0"/>
              <a:t>shortcoming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criticism</a:t>
            </a:r>
            <a:r>
              <a:rPr lang="hu-HU" dirty="0" smtClean="0"/>
              <a:t> is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necessarily</a:t>
            </a:r>
            <a:r>
              <a:rPr lang="hu-HU" dirty="0" smtClean="0"/>
              <a:t> </a:t>
            </a:r>
            <a:r>
              <a:rPr lang="hu-HU" dirty="0" err="1" smtClean="0"/>
              <a:t>valid</a:t>
            </a:r>
            <a:r>
              <a:rPr lang="hu-HU" dirty="0" smtClean="0"/>
              <a:t>.</a:t>
            </a:r>
          </a:p>
          <a:p>
            <a:pPr lvl="3"/>
            <a:r>
              <a:rPr lang="hu-HU" dirty="0" smtClean="0"/>
              <a:t>A </a:t>
            </a:r>
            <a:r>
              <a:rPr lang="hu-HU" dirty="0" err="1" smtClean="0"/>
              <a:t>popular</a:t>
            </a:r>
            <a:r>
              <a:rPr lang="hu-HU" dirty="0" smtClean="0"/>
              <a:t> </a:t>
            </a:r>
            <a:r>
              <a:rPr lang="hu-HU" dirty="0" err="1" smtClean="0"/>
              <a:t>approach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linguistic</a:t>
            </a:r>
            <a:r>
              <a:rPr lang="hu-HU" dirty="0" smtClean="0"/>
              <a:t> </a:t>
            </a:r>
            <a:r>
              <a:rPr lang="hu-HU" dirty="0" err="1" smtClean="0"/>
              <a:t>semantics</a:t>
            </a:r>
            <a:r>
              <a:rPr lang="hu-HU" dirty="0" smtClean="0"/>
              <a:t> </a:t>
            </a:r>
            <a:r>
              <a:rPr lang="hu-HU" dirty="0" err="1" smtClean="0"/>
              <a:t>called</a:t>
            </a:r>
            <a:r>
              <a:rPr lang="hu-HU" dirty="0" smtClean="0"/>
              <a:t> </a:t>
            </a:r>
            <a:r>
              <a:rPr lang="hu-HU" dirty="0" err="1" smtClean="0"/>
              <a:t>cognitive</a:t>
            </a:r>
            <a:r>
              <a:rPr lang="hu-HU" dirty="0" smtClean="0"/>
              <a:t> </a:t>
            </a:r>
            <a:r>
              <a:rPr lang="hu-HU" dirty="0" err="1" smtClean="0"/>
              <a:t>semantics</a:t>
            </a:r>
            <a:r>
              <a:rPr lang="hu-HU" dirty="0"/>
              <a:t> </a:t>
            </a:r>
            <a:r>
              <a:rPr lang="hu-HU" dirty="0" err="1" smtClean="0"/>
              <a:t>specifically</a:t>
            </a:r>
            <a:r>
              <a:rPr lang="hu-HU" dirty="0" smtClean="0"/>
              <a:t> </a:t>
            </a:r>
            <a:r>
              <a:rPr lang="hu-HU" dirty="0" err="1" smtClean="0"/>
              <a:t>claims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there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no </a:t>
            </a:r>
            <a:r>
              <a:rPr lang="hu-HU" dirty="0" err="1" smtClean="0"/>
              <a:t>clear</a:t>
            </a:r>
            <a:r>
              <a:rPr lang="hu-HU" dirty="0" smtClean="0"/>
              <a:t> </a:t>
            </a:r>
            <a:r>
              <a:rPr lang="hu-HU" dirty="0" err="1" smtClean="0"/>
              <a:t>boundaries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multiple</a:t>
            </a:r>
            <a:r>
              <a:rPr lang="hu-HU" dirty="0" smtClean="0"/>
              <a:t> </a:t>
            </a:r>
            <a:r>
              <a:rPr lang="hu-HU" dirty="0" err="1" smtClean="0"/>
              <a:t>meanings</a:t>
            </a:r>
            <a:r>
              <a:rPr lang="hu-HU" dirty="0" smtClean="0"/>
              <a:t> of </a:t>
            </a:r>
            <a:r>
              <a:rPr lang="hu-HU" dirty="0" err="1" smtClean="0"/>
              <a:t>ambiguous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(</a:t>
            </a:r>
            <a:r>
              <a:rPr lang="hu-HU" dirty="0" err="1" smtClean="0"/>
              <a:t>polysemy</a:t>
            </a:r>
            <a:r>
              <a:rPr lang="hu-HU" dirty="0" smtClean="0"/>
              <a:t>, </a:t>
            </a:r>
            <a:r>
              <a:rPr lang="hu-HU" dirty="0" err="1" smtClean="0"/>
              <a:t>homonymy</a:t>
            </a:r>
            <a:r>
              <a:rPr lang="hu-HU" dirty="0" smtClean="0"/>
              <a:t>), </a:t>
            </a:r>
            <a:r>
              <a:rPr lang="hu-HU" dirty="0" err="1" smtClean="0"/>
              <a:t>so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should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try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separate</a:t>
            </a:r>
            <a:r>
              <a:rPr lang="hu-HU" dirty="0" smtClean="0"/>
              <a:t> </a:t>
            </a:r>
            <a:r>
              <a:rPr lang="hu-HU" dirty="0" err="1" smtClean="0"/>
              <a:t>them</a:t>
            </a:r>
            <a:r>
              <a:rPr lang="hu-HU" dirty="0" smtClean="0"/>
              <a:t> </a:t>
            </a:r>
            <a:r>
              <a:rPr lang="hu-HU" dirty="0" err="1" smtClean="0"/>
              <a:t>artificially</a:t>
            </a:r>
            <a:r>
              <a:rPr lang="hu-HU" dirty="0" smtClean="0"/>
              <a:t> and </a:t>
            </a:r>
            <a:r>
              <a:rPr lang="hu-HU" dirty="0" err="1" smtClean="0"/>
              <a:t>arbitrarily</a:t>
            </a:r>
            <a:r>
              <a:rPr lang="hu-H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833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What</a:t>
            </a:r>
            <a:r>
              <a:rPr lang="hu-HU" dirty="0" smtClean="0"/>
              <a:t> Is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?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hu-HU" sz="3800" dirty="0" err="1" smtClean="0"/>
              <a:t>Semantic</a:t>
            </a:r>
            <a:r>
              <a:rPr lang="hu-HU" sz="3800" dirty="0" smtClean="0"/>
              <a:t> </a:t>
            </a:r>
            <a:r>
              <a:rPr lang="hu-HU" sz="3800" dirty="0" err="1" smtClean="0"/>
              <a:t>composition</a:t>
            </a:r>
            <a:r>
              <a:rPr lang="hu-HU" sz="3800" dirty="0" smtClean="0"/>
              <a:t> of </a:t>
            </a:r>
            <a:r>
              <a:rPr lang="hu-HU" sz="3800" dirty="0" err="1" smtClean="0"/>
              <a:t>meanings</a:t>
            </a:r>
            <a:r>
              <a:rPr lang="hu-HU" sz="3800" dirty="0" smtClean="0"/>
              <a:t> </a:t>
            </a:r>
            <a:r>
              <a:rPr lang="hu-HU" sz="3800" dirty="0" err="1" smtClean="0"/>
              <a:t>of</a:t>
            </a:r>
            <a:r>
              <a:rPr lang="hu-HU" sz="3800" dirty="0" smtClean="0"/>
              <a:t> </a:t>
            </a:r>
            <a:r>
              <a:rPr lang="hu-HU" sz="3800" dirty="0" err="1" smtClean="0"/>
              <a:t>complex</a:t>
            </a:r>
            <a:r>
              <a:rPr lang="hu-HU" sz="3800" dirty="0" smtClean="0"/>
              <a:t> (</a:t>
            </a:r>
            <a:r>
              <a:rPr lang="hu-HU" sz="3800" dirty="0" err="1" smtClean="0"/>
              <a:t>multiword</a:t>
            </a:r>
            <a:r>
              <a:rPr lang="hu-HU" sz="3800" dirty="0" smtClean="0"/>
              <a:t>) </a:t>
            </a:r>
            <a:r>
              <a:rPr lang="hu-HU" sz="3800" dirty="0" err="1" smtClean="0"/>
              <a:t>expressions</a:t>
            </a:r>
            <a:r>
              <a:rPr lang="hu-HU" sz="3800" dirty="0" smtClean="0"/>
              <a:t> and </a:t>
            </a:r>
            <a:r>
              <a:rPr lang="hu-HU" sz="3800" dirty="0" err="1" smtClean="0"/>
              <a:t>sentences</a:t>
            </a:r>
            <a:r>
              <a:rPr lang="hu-HU" sz="3800" dirty="0" smtClean="0"/>
              <a:t> out of </a:t>
            </a:r>
            <a:r>
              <a:rPr lang="hu-HU" sz="3800" dirty="0" err="1" smtClean="0"/>
              <a:t>word</a:t>
            </a:r>
            <a:r>
              <a:rPr lang="hu-HU" sz="3800" dirty="0" smtClean="0"/>
              <a:t> </a:t>
            </a:r>
            <a:r>
              <a:rPr lang="hu-HU" sz="3800" dirty="0" err="1" smtClean="0"/>
              <a:t>vectors</a:t>
            </a:r>
            <a:r>
              <a:rPr lang="hu-HU" sz="3800" dirty="0" smtClean="0"/>
              <a:t> is an </a:t>
            </a:r>
            <a:r>
              <a:rPr lang="hu-HU" sz="3800" dirty="0" err="1" smtClean="0"/>
              <a:t>open</a:t>
            </a:r>
            <a:r>
              <a:rPr lang="hu-HU" sz="3800" dirty="0" smtClean="0"/>
              <a:t> </a:t>
            </a:r>
            <a:r>
              <a:rPr lang="hu-HU" sz="3800" dirty="0" err="1" smtClean="0"/>
              <a:t>question</a:t>
            </a:r>
            <a:r>
              <a:rPr lang="hu-HU" sz="3800" dirty="0" smtClean="0"/>
              <a:t>, </a:t>
            </a:r>
            <a:r>
              <a:rPr lang="hu-HU" sz="3800" dirty="0" err="1" smtClean="0"/>
              <a:t>but</a:t>
            </a:r>
            <a:r>
              <a:rPr lang="hu-HU" sz="3800" dirty="0" smtClean="0"/>
              <a:t> </a:t>
            </a:r>
            <a:r>
              <a:rPr lang="hu-HU" sz="3800" dirty="0" err="1" smtClean="0"/>
              <a:t>there</a:t>
            </a:r>
            <a:r>
              <a:rPr lang="hu-HU" sz="3800" dirty="0" smtClean="0"/>
              <a:t> </a:t>
            </a:r>
            <a:r>
              <a:rPr lang="hu-HU" sz="3800" dirty="0" err="1" smtClean="0"/>
              <a:t>does</a:t>
            </a:r>
            <a:r>
              <a:rPr lang="hu-HU" sz="3800" dirty="0" smtClean="0"/>
              <a:t> </a:t>
            </a:r>
            <a:r>
              <a:rPr lang="hu-HU" sz="3800" dirty="0" err="1" smtClean="0"/>
              <a:t>not</a:t>
            </a:r>
            <a:r>
              <a:rPr lang="hu-HU" sz="3800" dirty="0" smtClean="0"/>
              <a:t> </a:t>
            </a:r>
            <a:r>
              <a:rPr lang="hu-HU" sz="3800" dirty="0" err="1" smtClean="0"/>
              <a:t>seem</a:t>
            </a:r>
            <a:r>
              <a:rPr lang="hu-HU" sz="3800" dirty="0" smtClean="0"/>
              <a:t> </a:t>
            </a:r>
            <a:r>
              <a:rPr lang="hu-HU" sz="3800" dirty="0" err="1" smtClean="0"/>
              <a:t>to</a:t>
            </a:r>
            <a:r>
              <a:rPr lang="hu-HU" sz="3800" dirty="0" smtClean="0"/>
              <a:t> be a </a:t>
            </a:r>
            <a:r>
              <a:rPr lang="hu-HU" sz="3800" dirty="0" err="1" smtClean="0"/>
              <a:t>good</a:t>
            </a:r>
            <a:r>
              <a:rPr lang="hu-HU" sz="3800" dirty="0" smtClean="0"/>
              <a:t> </a:t>
            </a:r>
            <a:r>
              <a:rPr lang="hu-HU" sz="3800" dirty="0" err="1" smtClean="0"/>
              <a:t>solution</a:t>
            </a:r>
            <a:r>
              <a:rPr lang="hu-HU" sz="3800" dirty="0" smtClean="0"/>
              <a:t> </a:t>
            </a:r>
            <a:r>
              <a:rPr lang="hu-HU" sz="3800" dirty="0" err="1" smtClean="0"/>
              <a:t>for</a:t>
            </a:r>
            <a:r>
              <a:rPr lang="hu-HU" sz="3800" dirty="0" smtClean="0"/>
              <a:t> </a:t>
            </a:r>
            <a:r>
              <a:rPr lang="hu-HU" sz="3800" dirty="0" err="1" smtClean="0"/>
              <a:t>it</a:t>
            </a:r>
            <a:r>
              <a:rPr lang="hu-HU" sz="3800" dirty="0" smtClean="0"/>
              <a:t>.</a:t>
            </a:r>
          </a:p>
          <a:p>
            <a:pPr lvl="1"/>
            <a:r>
              <a:rPr lang="hu-HU" sz="2900" dirty="0" err="1" smtClean="0"/>
              <a:t>We</a:t>
            </a:r>
            <a:r>
              <a:rPr lang="hu-HU" sz="2900" dirty="0" smtClean="0"/>
              <a:t> </a:t>
            </a:r>
            <a:r>
              <a:rPr lang="hu-HU" sz="2900" dirty="0" err="1" smtClean="0"/>
              <a:t>can</a:t>
            </a:r>
            <a:r>
              <a:rPr lang="hu-HU" sz="2900" dirty="0" smtClean="0"/>
              <a:t> add </a:t>
            </a:r>
            <a:r>
              <a:rPr lang="hu-HU" sz="2900" dirty="0" err="1" smtClean="0"/>
              <a:t>up</a:t>
            </a:r>
            <a:r>
              <a:rPr lang="hu-HU" sz="2900" dirty="0" smtClean="0"/>
              <a:t> </a:t>
            </a:r>
            <a:r>
              <a:rPr lang="hu-HU" sz="2900" dirty="0" err="1" smtClean="0"/>
              <a:t>vectors</a:t>
            </a:r>
            <a:r>
              <a:rPr lang="hu-HU" sz="2900" dirty="0" smtClean="0"/>
              <a:t> of </a:t>
            </a:r>
            <a:r>
              <a:rPr lang="hu-HU" sz="2900" dirty="0" err="1" smtClean="0"/>
              <a:t>words</a:t>
            </a:r>
            <a:r>
              <a:rPr lang="hu-HU" sz="2900" dirty="0" smtClean="0"/>
              <a:t> </a:t>
            </a:r>
            <a:r>
              <a:rPr lang="hu-HU" sz="2900" dirty="0" err="1" smtClean="0"/>
              <a:t>in</a:t>
            </a:r>
            <a:r>
              <a:rPr lang="hu-HU" sz="2900" dirty="0" smtClean="0"/>
              <a:t> a </a:t>
            </a:r>
            <a:r>
              <a:rPr lang="hu-HU" sz="2900" dirty="0" err="1" smtClean="0"/>
              <a:t>sentence</a:t>
            </a:r>
            <a:r>
              <a:rPr lang="hu-HU" sz="2900" dirty="0" smtClean="0"/>
              <a:t>, </a:t>
            </a:r>
            <a:r>
              <a:rPr lang="hu-HU" sz="2900" dirty="0" err="1" smtClean="0"/>
              <a:t>which</a:t>
            </a:r>
            <a:r>
              <a:rPr lang="hu-HU" sz="2900" dirty="0" smtClean="0"/>
              <a:t> </a:t>
            </a:r>
            <a:r>
              <a:rPr lang="hu-HU" sz="2900" dirty="0" err="1" smtClean="0"/>
              <a:t>can</a:t>
            </a:r>
            <a:r>
              <a:rPr lang="hu-HU" sz="2900" dirty="0" smtClean="0"/>
              <a:t> be </a:t>
            </a:r>
            <a:r>
              <a:rPr lang="hu-HU" sz="2900" dirty="0" err="1" smtClean="0"/>
              <a:t>useful</a:t>
            </a:r>
            <a:r>
              <a:rPr lang="hu-HU" sz="2900" dirty="0" smtClean="0"/>
              <a:t> </a:t>
            </a:r>
            <a:r>
              <a:rPr lang="hu-HU" sz="2900" dirty="0" err="1" smtClean="0"/>
              <a:t>for</a:t>
            </a:r>
            <a:r>
              <a:rPr lang="hu-HU" sz="2900" dirty="0" smtClean="0"/>
              <a:t> </a:t>
            </a:r>
            <a:r>
              <a:rPr lang="hu-HU" sz="2900" dirty="0" err="1" smtClean="0"/>
              <a:t>certain</a:t>
            </a:r>
            <a:r>
              <a:rPr lang="hu-HU" sz="2900" dirty="0" smtClean="0"/>
              <a:t> </a:t>
            </a:r>
            <a:r>
              <a:rPr lang="hu-HU" sz="2900" dirty="0" err="1" smtClean="0"/>
              <a:t>purposes</a:t>
            </a:r>
            <a:r>
              <a:rPr lang="hu-HU" sz="2900" dirty="0" smtClean="0"/>
              <a:t>. </a:t>
            </a:r>
            <a:r>
              <a:rPr lang="hu-HU" sz="2900" dirty="0" err="1" smtClean="0"/>
              <a:t>For</a:t>
            </a:r>
            <a:r>
              <a:rPr lang="hu-HU" sz="2900" dirty="0" smtClean="0"/>
              <a:t> </a:t>
            </a:r>
            <a:r>
              <a:rPr lang="hu-HU" sz="2900" dirty="0" err="1" smtClean="0"/>
              <a:t>example</a:t>
            </a:r>
            <a:r>
              <a:rPr lang="hu-HU" sz="2900" dirty="0" smtClean="0"/>
              <a:t>, </a:t>
            </a:r>
            <a:r>
              <a:rPr lang="hu-HU" sz="2900" dirty="0" err="1" smtClean="0"/>
              <a:t>the</a:t>
            </a:r>
            <a:r>
              <a:rPr lang="hu-HU" sz="2900" dirty="0" smtClean="0"/>
              <a:t> sum </a:t>
            </a:r>
            <a:r>
              <a:rPr lang="hu-HU" sz="2900" dirty="0" err="1" smtClean="0"/>
              <a:t>vector</a:t>
            </a:r>
            <a:r>
              <a:rPr lang="hu-HU" sz="2900" dirty="0" smtClean="0"/>
              <a:t> </a:t>
            </a:r>
            <a:r>
              <a:rPr lang="hu-HU" sz="2900" dirty="0" err="1" smtClean="0"/>
              <a:t>can</a:t>
            </a:r>
            <a:r>
              <a:rPr lang="hu-HU" sz="2900" dirty="0" smtClean="0"/>
              <a:t> </a:t>
            </a:r>
            <a:r>
              <a:rPr lang="hu-HU" sz="2900" dirty="0" err="1" smtClean="0"/>
              <a:t>capture</a:t>
            </a:r>
            <a:r>
              <a:rPr lang="hu-HU" sz="2900" dirty="0" smtClean="0"/>
              <a:t> </a:t>
            </a:r>
            <a:r>
              <a:rPr lang="hu-HU" sz="2900" dirty="0" err="1" smtClean="0"/>
              <a:t>the</a:t>
            </a:r>
            <a:r>
              <a:rPr lang="hu-HU" sz="2900" dirty="0" smtClean="0"/>
              <a:t> </a:t>
            </a:r>
            <a:r>
              <a:rPr lang="hu-HU" sz="2900" dirty="0" err="1" smtClean="0"/>
              <a:t>general</a:t>
            </a:r>
            <a:r>
              <a:rPr lang="hu-HU" sz="2900" dirty="0" smtClean="0"/>
              <a:t> </a:t>
            </a:r>
            <a:r>
              <a:rPr lang="hu-HU" sz="2900" dirty="0" err="1" smtClean="0"/>
              <a:t>topic</a:t>
            </a:r>
            <a:r>
              <a:rPr lang="hu-HU" sz="2900" dirty="0" smtClean="0"/>
              <a:t> of </a:t>
            </a:r>
            <a:r>
              <a:rPr lang="hu-HU" sz="2900" dirty="0" err="1" smtClean="0"/>
              <a:t>the</a:t>
            </a:r>
            <a:r>
              <a:rPr lang="hu-HU" sz="2900" dirty="0" smtClean="0"/>
              <a:t> </a:t>
            </a:r>
            <a:r>
              <a:rPr lang="hu-HU" sz="2900" dirty="0" err="1" smtClean="0"/>
              <a:t>sentence</a:t>
            </a:r>
            <a:r>
              <a:rPr lang="hu-HU" sz="2900" dirty="0" smtClean="0"/>
              <a:t> (text, etc.) </a:t>
            </a:r>
            <a:r>
              <a:rPr lang="hu-HU" sz="2900" dirty="0" err="1" smtClean="0"/>
              <a:t>well</a:t>
            </a:r>
            <a:r>
              <a:rPr lang="hu-HU" sz="2900" dirty="0" smtClean="0"/>
              <a:t>.</a:t>
            </a:r>
          </a:p>
          <a:p>
            <a:pPr lvl="1"/>
            <a:r>
              <a:rPr lang="hu-HU" sz="2900" dirty="0" err="1" smtClean="0"/>
              <a:t>However</a:t>
            </a:r>
            <a:r>
              <a:rPr lang="hu-HU" sz="2900" dirty="0" smtClean="0"/>
              <a:t>, </a:t>
            </a:r>
            <a:r>
              <a:rPr lang="hu-HU" sz="2900" dirty="0" err="1" smtClean="0"/>
              <a:t>it</a:t>
            </a:r>
            <a:r>
              <a:rPr lang="hu-HU" sz="2900" dirty="0" smtClean="0"/>
              <a:t> </a:t>
            </a:r>
            <a:r>
              <a:rPr lang="hu-HU" sz="2900" dirty="0" err="1" smtClean="0"/>
              <a:t>also</a:t>
            </a:r>
            <a:r>
              <a:rPr lang="hu-HU" sz="2900" dirty="0" smtClean="0"/>
              <a:t> </a:t>
            </a:r>
            <a:r>
              <a:rPr lang="hu-HU" sz="2900" dirty="0" err="1" smtClean="0"/>
              <a:t>ignores</a:t>
            </a:r>
            <a:r>
              <a:rPr lang="hu-HU" sz="2900" dirty="0" smtClean="0"/>
              <a:t> </a:t>
            </a:r>
            <a:r>
              <a:rPr lang="hu-HU" sz="2900" dirty="0" err="1" smtClean="0"/>
              <a:t>the</a:t>
            </a:r>
            <a:r>
              <a:rPr lang="hu-HU" sz="2900" dirty="0" smtClean="0"/>
              <a:t> </a:t>
            </a:r>
            <a:r>
              <a:rPr lang="hu-HU" sz="2900" dirty="0" err="1" smtClean="0"/>
              <a:t>syntactic</a:t>
            </a:r>
            <a:r>
              <a:rPr lang="hu-HU" sz="2900" dirty="0" smtClean="0"/>
              <a:t> </a:t>
            </a:r>
            <a:r>
              <a:rPr lang="hu-HU" sz="2900" dirty="0" err="1" smtClean="0"/>
              <a:t>structure</a:t>
            </a:r>
            <a:r>
              <a:rPr lang="hu-HU" sz="2900" dirty="0" smtClean="0"/>
              <a:t> </a:t>
            </a:r>
            <a:r>
              <a:rPr lang="hu-HU" sz="2900" dirty="0" err="1" smtClean="0"/>
              <a:t>completely</a:t>
            </a:r>
            <a:r>
              <a:rPr lang="hu-HU" sz="2900" dirty="0" smtClean="0"/>
              <a:t>.</a:t>
            </a:r>
          </a:p>
          <a:p>
            <a:pPr lvl="2"/>
            <a:r>
              <a:rPr lang="hu-HU" sz="2700" dirty="0" err="1" smtClean="0"/>
              <a:t>As</a:t>
            </a:r>
            <a:r>
              <a:rPr lang="hu-HU" sz="2700" dirty="0" smtClean="0"/>
              <a:t> </a:t>
            </a:r>
            <a:r>
              <a:rPr lang="hu-HU" sz="2700" dirty="0" err="1" smtClean="0"/>
              <a:t>vector</a:t>
            </a:r>
            <a:r>
              <a:rPr lang="hu-HU" sz="2700" dirty="0" smtClean="0"/>
              <a:t> </a:t>
            </a:r>
            <a:r>
              <a:rPr lang="hu-HU" sz="2700" dirty="0" err="1" smtClean="0"/>
              <a:t>addition</a:t>
            </a:r>
            <a:r>
              <a:rPr lang="hu-HU" sz="2700" dirty="0" smtClean="0"/>
              <a:t> is a </a:t>
            </a:r>
            <a:r>
              <a:rPr lang="hu-HU" sz="2700" dirty="0" err="1" smtClean="0"/>
              <a:t>commutative</a:t>
            </a:r>
            <a:r>
              <a:rPr lang="hu-HU" sz="2700" dirty="0" smtClean="0"/>
              <a:t> and </a:t>
            </a:r>
            <a:r>
              <a:rPr lang="hu-HU" sz="2700" dirty="0" err="1" smtClean="0"/>
              <a:t>associative</a:t>
            </a:r>
            <a:r>
              <a:rPr lang="hu-HU" sz="2700" dirty="0" smtClean="0"/>
              <a:t> </a:t>
            </a:r>
            <a:r>
              <a:rPr lang="hu-HU" sz="2700" dirty="0" err="1" smtClean="0"/>
              <a:t>operation</a:t>
            </a:r>
            <a:r>
              <a:rPr lang="hu-HU" sz="2700" dirty="0" smtClean="0"/>
              <a:t>.</a:t>
            </a:r>
          </a:p>
          <a:p>
            <a:r>
              <a:rPr lang="hu-HU" sz="3800" dirty="0" err="1" smtClean="0"/>
              <a:t>Truth-conditional</a:t>
            </a:r>
            <a:r>
              <a:rPr lang="hu-HU" sz="3800" dirty="0" smtClean="0"/>
              <a:t> </a:t>
            </a:r>
            <a:r>
              <a:rPr lang="hu-HU" sz="3800" dirty="0" err="1" smtClean="0"/>
              <a:t>semantics</a:t>
            </a:r>
            <a:r>
              <a:rPr lang="hu-HU" sz="3800" dirty="0" smtClean="0"/>
              <a:t>, </a:t>
            </a:r>
            <a:r>
              <a:rPr lang="hu-HU" sz="3800" dirty="0" err="1" smtClean="0"/>
              <a:t>which</a:t>
            </a:r>
            <a:r>
              <a:rPr lang="hu-HU" sz="3800" dirty="0" smtClean="0"/>
              <a:t> has </a:t>
            </a:r>
            <a:r>
              <a:rPr lang="hu-HU" sz="3800" dirty="0" err="1" smtClean="0"/>
              <a:t>been</a:t>
            </a:r>
            <a:r>
              <a:rPr lang="hu-HU" sz="3800" dirty="0" smtClean="0"/>
              <a:t> </a:t>
            </a:r>
            <a:r>
              <a:rPr lang="hu-HU" sz="3800" dirty="0" err="1" smtClean="0"/>
              <a:t>the</a:t>
            </a:r>
            <a:r>
              <a:rPr lang="hu-HU" sz="3800" dirty="0" smtClean="0"/>
              <a:t> standard </a:t>
            </a:r>
            <a:r>
              <a:rPr lang="hu-HU" sz="3800" dirty="0" err="1" smtClean="0"/>
              <a:t>approach</a:t>
            </a:r>
            <a:r>
              <a:rPr lang="hu-HU" sz="3800" dirty="0" smtClean="0"/>
              <a:t> </a:t>
            </a:r>
            <a:r>
              <a:rPr lang="hu-HU" sz="3800" dirty="0" err="1" smtClean="0"/>
              <a:t>to</a:t>
            </a:r>
            <a:r>
              <a:rPr lang="hu-HU" sz="3800" dirty="0" smtClean="0"/>
              <a:t> </a:t>
            </a:r>
            <a:r>
              <a:rPr lang="hu-HU" sz="3800" dirty="0" err="1" smtClean="0"/>
              <a:t>linguistic</a:t>
            </a:r>
            <a:r>
              <a:rPr lang="hu-HU" sz="3800" dirty="0" smtClean="0"/>
              <a:t> </a:t>
            </a:r>
            <a:r>
              <a:rPr lang="hu-HU" sz="3800" dirty="0" err="1" smtClean="0"/>
              <a:t>semantics</a:t>
            </a:r>
            <a:r>
              <a:rPr lang="hu-HU" sz="3800" dirty="0" smtClean="0"/>
              <a:t> </a:t>
            </a:r>
            <a:r>
              <a:rPr lang="hu-HU" sz="3800" dirty="0" err="1" smtClean="0"/>
              <a:t>for</a:t>
            </a:r>
            <a:r>
              <a:rPr lang="hu-HU" sz="3800" dirty="0" smtClean="0"/>
              <a:t> </a:t>
            </a:r>
            <a:r>
              <a:rPr lang="hu-HU" sz="3800" dirty="0" err="1" smtClean="0"/>
              <a:t>the</a:t>
            </a:r>
            <a:r>
              <a:rPr lang="hu-HU" sz="3800" dirty="0" smtClean="0"/>
              <a:t> </a:t>
            </a:r>
            <a:r>
              <a:rPr lang="hu-HU" sz="3800" dirty="0" err="1" smtClean="0"/>
              <a:t>past</a:t>
            </a:r>
            <a:r>
              <a:rPr lang="hu-HU" sz="3800" dirty="0" smtClean="0"/>
              <a:t> 50 </a:t>
            </a:r>
            <a:r>
              <a:rPr lang="hu-HU" sz="3800" dirty="0" err="1" smtClean="0"/>
              <a:t>years</a:t>
            </a:r>
            <a:r>
              <a:rPr lang="hu-HU" sz="3800" dirty="0" smtClean="0"/>
              <a:t>, is </a:t>
            </a:r>
            <a:r>
              <a:rPr lang="hu-HU" sz="3800" dirty="0" err="1" smtClean="0"/>
              <a:t>much</a:t>
            </a:r>
            <a:r>
              <a:rPr lang="hu-HU" sz="3800" dirty="0" smtClean="0"/>
              <a:t> </a:t>
            </a:r>
            <a:r>
              <a:rPr lang="hu-HU" sz="3800" dirty="0" err="1" smtClean="0"/>
              <a:t>better</a:t>
            </a:r>
            <a:r>
              <a:rPr lang="hu-HU" sz="3800" dirty="0" smtClean="0"/>
              <a:t> </a:t>
            </a:r>
            <a:r>
              <a:rPr lang="hu-HU" sz="3800" dirty="0" err="1" smtClean="0"/>
              <a:t>at</a:t>
            </a:r>
            <a:r>
              <a:rPr lang="hu-HU" sz="3800" dirty="0" smtClean="0"/>
              <a:t> </a:t>
            </a:r>
            <a:r>
              <a:rPr lang="hu-HU" sz="3800" dirty="0" err="1" smtClean="0"/>
              <a:t>this</a:t>
            </a:r>
            <a:r>
              <a:rPr lang="hu-HU" sz="3800" dirty="0" smtClean="0"/>
              <a:t>, </a:t>
            </a:r>
            <a:r>
              <a:rPr lang="hu-HU" sz="3800" dirty="0" err="1" smtClean="0"/>
              <a:t>however</a:t>
            </a:r>
            <a:r>
              <a:rPr lang="hu-HU" sz="3800" dirty="0"/>
              <a:t>:</a:t>
            </a:r>
            <a:endParaRPr lang="hu-HU" sz="3800" dirty="0" smtClean="0"/>
          </a:p>
          <a:p>
            <a:pPr lvl="1"/>
            <a:r>
              <a:rPr lang="hu-HU" sz="2900" dirty="0" err="1" smtClean="0"/>
              <a:t>it</a:t>
            </a:r>
            <a:r>
              <a:rPr lang="hu-HU" sz="2900" dirty="0" smtClean="0"/>
              <a:t> is </a:t>
            </a:r>
            <a:r>
              <a:rPr lang="hu-HU" sz="2900" dirty="0" err="1" smtClean="0"/>
              <a:t>very</a:t>
            </a:r>
            <a:r>
              <a:rPr lang="hu-HU" sz="2900" dirty="0" smtClean="0"/>
              <a:t> </a:t>
            </a:r>
            <a:r>
              <a:rPr lang="hu-HU" sz="2900" dirty="0" err="1" smtClean="0"/>
              <a:t>costly</a:t>
            </a:r>
            <a:r>
              <a:rPr lang="hu-HU" sz="2900" dirty="0" smtClean="0"/>
              <a:t> </a:t>
            </a:r>
            <a:r>
              <a:rPr lang="hu-HU" sz="2900" dirty="0" err="1" smtClean="0"/>
              <a:t>in</a:t>
            </a:r>
            <a:r>
              <a:rPr lang="hu-HU" sz="2900" dirty="0" smtClean="0"/>
              <a:t> </a:t>
            </a:r>
            <a:r>
              <a:rPr lang="hu-HU" sz="2900" dirty="0" err="1" smtClean="0"/>
              <a:t>terms</a:t>
            </a:r>
            <a:r>
              <a:rPr lang="hu-HU" sz="2900" dirty="0" smtClean="0"/>
              <a:t> of </a:t>
            </a:r>
            <a:r>
              <a:rPr lang="hu-HU" sz="2900" dirty="0" err="1" smtClean="0"/>
              <a:t>computational</a:t>
            </a:r>
            <a:r>
              <a:rPr lang="hu-HU" sz="2900" dirty="0" smtClean="0"/>
              <a:t> </a:t>
            </a:r>
            <a:r>
              <a:rPr lang="hu-HU" sz="2900" dirty="0" err="1" smtClean="0"/>
              <a:t>complexity</a:t>
            </a:r>
            <a:r>
              <a:rPr lang="hu-HU" sz="2900" dirty="0"/>
              <a:t>,</a:t>
            </a:r>
            <a:endParaRPr lang="hu-HU" sz="2900" dirty="0" smtClean="0"/>
          </a:p>
          <a:p>
            <a:pPr lvl="1"/>
            <a:r>
              <a:rPr lang="hu-HU" sz="2900" dirty="0" err="1" smtClean="0"/>
              <a:t>it</a:t>
            </a:r>
            <a:r>
              <a:rPr lang="hu-HU" sz="2900" dirty="0" smtClean="0"/>
              <a:t> has </a:t>
            </a:r>
            <a:r>
              <a:rPr lang="hu-HU" sz="2900" dirty="0" err="1" smtClean="0"/>
              <a:t>little</a:t>
            </a:r>
            <a:r>
              <a:rPr lang="hu-HU" sz="2900" dirty="0" smtClean="0"/>
              <a:t> </a:t>
            </a:r>
            <a:r>
              <a:rPr lang="hu-HU" sz="2900" dirty="0" err="1" smtClean="0"/>
              <a:t>to</a:t>
            </a:r>
            <a:r>
              <a:rPr lang="hu-HU" sz="2900" dirty="0" smtClean="0"/>
              <a:t> </a:t>
            </a:r>
            <a:r>
              <a:rPr lang="hu-HU" sz="2900" dirty="0" err="1" smtClean="0"/>
              <a:t>say</a:t>
            </a:r>
            <a:r>
              <a:rPr lang="hu-HU" sz="2900" dirty="0" smtClean="0"/>
              <a:t> </a:t>
            </a:r>
            <a:r>
              <a:rPr lang="hu-HU" sz="2900" dirty="0" err="1" smtClean="0"/>
              <a:t>about</a:t>
            </a:r>
            <a:endParaRPr lang="hu-HU" sz="2900" dirty="0" smtClean="0"/>
          </a:p>
          <a:p>
            <a:pPr lvl="2"/>
            <a:r>
              <a:rPr lang="hu-HU" sz="2700" dirty="0" err="1" smtClean="0"/>
              <a:t>the</a:t>
            </a:r>
            <a:r>
              <a:rPr lang="hu-HU" sz="2700" dirty="0" smtClean="0"/>
              <a:t> </a:t>
            </a:r>
            <a:r>
              <a:rPr lang="hu-HU" sz="2700" dirty="0" err="1" smtClean="0"/>
              <a:t>exact</a:t>
            </a:r>
            <a:r>
              <a:rPr lang="hu-HU" sz="2700" dirty="0" smtClean="0"/>
              <a:t> </a:t>
            </a:r>
            <a:r>
              <a:rPr lang="hu-HU" sz="2700" dirty="0" err="1" smtClean="0"/>
              <a:t>relationship</a:t>
            </a:r>
            <a:r>
              <a:rPr lang="hu-HU" sz="2700" dirty="0" smtClean="0"/>
              <a:t> </a:t>
            </a:r>
            <a:r>
              <a:rPr lang="hu-HU" sz="2700" dirty="0" err="1" smtClean="0"/>
              <a:t>between</a:t>
            </a:r>
            <a:r>
              <a:rPr lang="hu-HU" sz="2700" dirty="0" smtClean="0"/>
              <a:t> </a:t>
            </a:r>
            <a:r>
              <a:rPr lang="hu-HU" sz="2700" dirty="0" err="1" smtClean="0"/>
              <a:t>syntax</a:t>
            </a:r>
            <a:r>
              <a:rPr lang="hu-HU" sz="2700" dirty="0" smtClean="0"/>
              <a:t> and </a:t>
            </a:r>
            <a:r>
              <a:rPr lang="hu-HU" sz="2700" dirty="0" err="1" smtClean="0"/>
              <a:t>semantics</a:t>
            </a:r>
            <a:r>
              <a:rPr lang="hu-HU" sz="2700" dirty="0" smtClean="0"/>
              <a:t>,</a:t>
            </a:r>
          </a:p>
          <a:p>
            <a:pPr lvl="2"/>
            <a:r>
              <a:rPr lang="hu-HU" sz="2700" dirty="0" err="1" smtClean="0"/>
              <a:t>the</a:t>
            </a:r>
            <a:r>
              <a:rPr lang="hu-HU" sz="2700" dirty="0" smtClean="0"/>
              <a:t> </a:t>
            </a:r>
            <a:r>
              <a:rPr lang="hu-HU" sz="2700" dirty="0" err="1" smtClean="0"/>
              <a:t>relationship</a:t>
            </a:r>
            <a:r>
              <a:rPr lang="hu-HU" sz="2700" dirty="0" smtClean="0"/>
              <a:t> </a:t>
            </a:r>
            <a:r>
              <a:rPr lang="hu-HU" sz="2700" dirty="0" err="1" smtClean="0"/>
              <a:t>between</a:t>
            </a:r>
            <a:r>
              <a:rPr lang="hu-HU" sz="2700" dirty="0" smtClean="0"/>
              <a:t> </a:t>
            </a:r>
            <a:r>
              <a:rPr lang="hu-HU" sz="2700" dirty="0" err="1" smtClean="0"/>
              <a:t>semantics</a:t>
            </a:r>
            <a:r>
              <a:rPr lang="hu-HU" sz="2700" dirty="0" smtClean="0"/>
              <a:t> and </a:t>
            </a:r>
            <a:r>
              <a:rPr lang="hu-HU" sz="2700" dirty="0" err="1" smtClean="0"/>
              <a:t>the</a:t>
            </a:r>
            <a:r>
              <a:rPr lang="hu-HU" sz="2700" dirty="0" smtClean="0"/>
              <a:t> </a:t>
            </a:r>
            <a:r>
              <a:rPr lang="hu-HU" sz="2700" dirty="0" err="1" smtClean="0"/>
              <a:t>real</a:t>
            </a:r>
            <a:r>
              <a:rPr lang="hu-HU" sz="2700" dirty="0" smtClean="0"/>
              <a:t> </a:t>
            </a:r>
            <a:r>
              <a:rPr lang="hu-HU" sz="2700" dirty="0" err="1" smtClean="0"/>
              <a:t>world</a:t>
            </a:r>
            <a:r>
              <a:rPr lang="hu-HU" sz="2700" dirty="0" smtClean="0"/>
              <a:t> (</a:t>
            </a:r>
            <a:r>
              <a:rPr lang="hu-HU" sz="2700" dirty="0" err="1" smtClean="0"/>
              <a:t>grounding</a:t>
            </a:r>
            <a:r>
              <a:rPr lang="hu-HU" sz="2700" dirty="0" smtClean="0"/>
              <a:t>),</a:t>
            </a:r>
          </a:p>
          <a:p>
            <a:pPr lvl="2"/>
            <a:r>
              <a:rPr lang="hu-HU" sz="2700" dirty="0" err="1" smtClean="0"/>
              <a:t>meanings</a:t>
            </a:r>
            <a:r>
              <a:rPr lang="hu-HU" sz="2700" dirty="0" smtClean="0"/>
              <a:t> of </a:t>
            </a:r>
            <a:r>
              <a:rPr lang="hu-HU" sz="2700" dirty="0" err="1" smtClean="0"/>
              <a:t>individual</a:t>
            </a:r>
            <a:r>
              <a:rPr lang="hu-HU" sz="2700" dirty="0" smtClean="0"/>
              <a:t> </a:t>
            </a:r>
            <a:r>
              <a:rPr lang="hu-HU" sz="2700" dirty="0" err="1" smtClean="0"/>
              <a:t>lexemes</a:t>
            </a:r>
            <a:r>
              <a:rPr lang="hu-HU" sz="2700" dirty="0"/>
              <a:t>,</a:t>
            </a:r>
            <a:endParaRPr lang="hu-HU" sz="2700" dirty="0" smtClean="0"/>
          </a:p>
          <a:p>
            <a:pPr lvl="1"/>
            <a:r>
              <a:rPr lang="hu-HU" sz="2900" dirty="0" err="1" smtClean="0"/>
              <a:t>thus</a:t>
            </a:r>
            <a:r>
              <a:rPr lang="hu-HU" sz="2900" dirty="0" smtClean="0"/>
              <a:t> </a:t>
            </a:r>
            <a:r>
              <a:rPr lang="hu-HU" sz="2900" dirty="0" err="1" smtClean="0"/>
              <a:t>it</a:t>
            </a:r>
            <a:r>
              <a:rPr lang="hu-HU" sz="2900" dirty="0" smtClean="0"/>
              <a:t> is </a:t>
            </a:r>
            <a:r>
              <a:rPr lang="hu-HU" sz="2900" dirty="0" err="1" smtClean="0"/>
              <a:t>not</a:t>
            </a:r>
            <a:r>
              <a:rPr lang="hu-HU" sz="2900" dirty="0" smtClean="0"/>
              <a:t> </a:t>
            </a:r>
            <a:r>
              <a:rPr lang="hu-HU" sz="2900" dirty="0" err="1" smtClean="0"/>
              <a:t>obvious</a:t>
            </a:r>
            <a:r>
              <a:rPr lang="hu-HU" sz="2900" dirty="0" smtClean="0"/>
              <a:t> </a:t>
            </a:r>
            <a:r>
              <a:rPr lang="hu-HU" sz="2900" dirty="0" err="1" smtClean="0"/>
              <a:t>that</a:t>
            </a:r>
            <a:r>
              <a:rPr lang="hu-HU" sz="2900" dirty="0" smtClean="0"/>
              <a:t> </a:t>
            </a:r>
            <a:r>
              <a:rPr lang="hu-HU" sz="2900" dirty="0" err="1" smtClean="0"/>
              <a:t>we</a:t>
            </a:r>
            <a:r>
              <a:rPr lang="hu-HU" sz="2900" dirty="0" smtClean="0"/>
              <a:t> </a:t>
            </a:r>
            <a:r>
              <a:rPr lang="hu-HU" sz="2900" dirty="0" err="1" smtClean="0"/>
              <a:t>are</a:t>
            </a:r>
            <a:r>
              <a:rPr lang="hu-HU" sz="2900" dirty="0" smtClean="0"/>
              <a:t> </a:t>
            </a:r>
            <a:r>
              <a:rPr lang="hu-HU" sz="2900" dirty="0" err="1" smtClean="0"/>
              <a:t>better</a:t>
            </a:r>
            <a:r>
              <a:rPr lang="hu-HU" sz="2900" dirty="0" smtClean="0"/>
              <a:t> </a:t>
            </a:r>
            <a:r>
              <a:rPr lang="hu-HU" sz="2900" dirty="0" err="1" smtClean="0"/>
              <a:t>off</a:t>
            </a:r>
            <a:r>
              <a:rPr lang="hu-HU" sz="2900" dirty="0" smtClean="0"/>
              <a:t> </a:t>
            </a:r>
            <a:r>
              <a:rPr lang="hu-HU" sz="2900" dirty="0" err="1" smtClean="0"/>
              <a:t>with</a:t>
            </a:r>
            <a:r>
              <a:rPr lang="hu-HU" sz="2900" dirty="0" smtClean="0"/>
              <a:t> </a:t>
            </a:r>
            <a:r>
              <a:rPr lang="hu-HU" sz="2900" dirty="0" err="1" smtClean="0"/>
              <a:t>it</a:t>
            </a:r>
            <a:r>
              <a:rPr lang="hu-HU" sz="2900" dirty="0" smtClean="0"/>
              <a:t> </a:t>
            </a:r>
            <a:r>
              <a:rPr lang="hu-HU" sz="2900" dirty="0" err="1" smtClean="0"/>
              <a:t>even</a:t>
            </a:r>
            <a:r>
              <a:rPr lang="hu-HU" sz="2900" dirty="0" smtClean="0"/>
              <a:t> </a:t>
            </a:r>
            <a:r>
              <a:rPr lang="hu-HU" sz="2900" dirty="0" err="1" smtClean="0"/>
              <a:t>regarding</a:t>
            </a:r>
            <a:r>
              <a:rPr lang="hu-HU" sz="2900" dirty="0" smtClean="0"/>
              <a:t> </a:t>
            </a:r>
            <a:r>
              <a:rPr lang="hu-HU" sz="2900" dirty="0" err="1" smtClean="0"/>
              <a:t>compositionality</a:t>
            </a:r>
            <a:r>
              <a:rPr lang="hu-HU" sz="2900" dirty="0" smtClean="0"/>
              <a:t>.</a:t>
            </a:r>
          </a:p>
          <a:p>
            <a:r>
              <a:rPr lang="hu-HU" sz="3800" dirty="0" err="1" smtClean="0"/>
              <a:t>Some</a:t>
            </a:r>
            <a:r>
              <a:rPr lang="hu-HU" sz="3800" dirty="0" smtClean="0"/>
              <a:t> sort of </a:t>
            </a:r>
            <a:r>
              <a:rPr lang="hu-HU" sz="3800" dirty="0" err="1" smtClean="0"/>
              <a:t>combination</a:t>
            </a:r>
            <a:r>
              <a:rPr lang="hu-HU" sz="3800" dirty="0" smtClean="0"/>
              <a:t> </a:t>
            </a:r>
            <a:r>
              <a:rPr lang="hu-HU" sz="3800" dirty="0" err="1" smtClean="0"/>
              <a:t>between</a:t>
            </a:r>
            <a:r>
              <a:rPr lang="hu-HU" sz="3800" dirty="0" smtClean="0"/>
              <a:t> </a:t>
            </a:r>
            <a:r>
              <a:rPr lang="hu-HU" sz="3800" dirty="0" err="1" smtClean="0"/>
              <a:t>the</a:t>
            </a:r>
            <a:r>
              <a:rPr lang="hu-HU" sz="3800" dirty="0" smtClean="0"/>
              <a:t> </a:t>
            </a:r>
            <a:r>
              <a:rPr lang="hu-HU" sz="3800" dirty="0" err="1" smtClean="0"/>
              <a:t>two</a:t>
            </a:r>
            <a:r>
              <a:rPr lang="hu-HU" sz="3800" dirty="0" smtClean="0"/>
              <a:t> </a:t>
            </a:r>
            <a:r>
              <a:rPr lang="hu-HU" sz="3800" dirty="0" err="1" smtClean="0"/>
              <a:t>would</a:t>
            </a:r>
            <a:r>
              <a:rPr lang="hu-HU" sz="3800" dirty="0" smtClean="0"/>
              <a:t> be </a:t>
            </a:r>
            <a:r>
              <a:rPr lang="hu-HU" sz="3800" dirty="0" err="1" smtClean="0"/>
              <a:t>advantageous</a:t>
            </a:r>
            <a:r>
              <a:rPr lang="hu-HU" sz="3800" dirty="0" smtClean="0"/>
              <a:t>, </a:t>
            </a:r>
            <a:r>
              <a:rPr lang="hu-HU" sz="3800" dirty="0" err="1" smtClean="0"/>
              <a:t>but</a:t>
            </a:r>
            <a:r>
              <a:rPr lang="hu-HU" sz="3800" dirty="0" smtClean="0"/>
              <a:t> </a:t>
            </a:r>
            <a:r>
              <a:rPr lang="hu-HU" sz="3800" dirty="0" err="1" smtClean="0"/>
              <a:t>it</a:t>
            </a:r>
            <a:r>
              <a:rPr lang="hu-HU" sz="3800" dirty="0" smtClean="0"/>
              <a:t> is </a:t>
            </a:r>
            <a:r>
              <a:rPr lang="hu-HU" sz="3800" dirty="0" err="1" smtClean="0"/>
              <a:t>doubtful</a:t>
            </a:r>
            <a:r>
              <a:rPr lang="hu-HU" sz="3800" dirty="0" smtClean="0"/>
              <a:t> </a:t>
            </a:r>
            <a:r>
              <a:rPr lang="hu-HU" sz="3800" dirty="0" err="1" smtClean="0"/>
              <a:t>that</a:t>
            </a:r>
            <a:r>
              <a:rPr lang="hu-HU" sz="3800" dirty="0" smtClean="0"/>
              <a:t> </a:t>
            </a:r>
            <a:r>
              <a:rPr lang="hu-HU" sz="3800" dirty="0" err="1" smtClean="0"/>
              <a:t>this</a:t>
            </a:r>
            <a:r>
              <a:rPr lang="hu-HU" sz="3800" dirty="0" smtClean="0"/>
              <a:t> </a:t>
            </a:r>
            <a:r>
              <a:rPr lang="hu-HU" sz="3800" dirty="0" err="1" smtClean="0"/>
              <a:t>could</a:t>
            </a:r>
            <a:r>
              <a:rPr lang="hu-HU" sz="3800" dirty="0" smtClean="0"/>
              <a:t> be </a:t>
            </a:r>
            <a:r>
              <a:rPr lang="hu-HU" sz="3800" dirty="0" err="1" smtClean="0"/>
              <a:t>possible</a:t>
            </a:r>
            <a:r>
              <a:rPr lang="hu-HU" sz="3800" dirty="0" smtClean="0"/>
              <a:t> </a:t>
            </a:r>
            <a:r>
              <a:rPr lang="hu-HU" sz="3800" dirty="0" err="1" smtClean="0"/>
              <a:t>because</a:t>
            </a:r>
            <a:r>
              <a:rPr lang="hu-HU" sz="3800" dirty="0" smtClean="0"/>
              <a:t> of </a:t>
            </a:r>
            <a:r>
              <a:rPr lang="hu-HU" sz="3800" dirty="0" err="1" smtClean="0"/>
              <a:t>fundamental</a:t>
            </a:r>
            <a:r>
              <a:rPr lang="hu-HU" sz="3800" dirty="0" smtClean="0"/>
              <a:t> </a:t>
            </a:r>
            <a:r>
              <a:rPr lang="hu-HU" sz="3800" dirty="0" err="1" smtClean="0"/>
              <a:t>differences</a:t>
            </a:r>
            <a:r>
              <a:rPr lang="hu-HU" sz="3800" dirty="0" smtClean="0"/>
              <a:t> </a:t>
            </a:r>
            <a:r>
              <a:rPr lang="hu-HU" sz="3800" dirty="0" err="1" smtClean="0"/>
              <a:t>between</a:t>
            </a:r>
            <a:r>
              <a:rPr lang="hu-HU" sz="3800" dirty="0" smtClean="0"/>
              <a:t> </a:t>
            </a:r>
            <a:r>
              <a:rPr lang="hu-HU" sz="3800" dirty="0" err="1" smtClean="0"/>
              <a:t>these</a:t>
            </a:r>
            <a:r>
              <a:rPr lang="hu-HU" sz="3800" dirty="0" smtClean="0"/>
              <a:t> </a:t>
            </a:r>
            <a:r>
              <a:rPr lang="hu-HU" sz="3800" dirty="0" err="1" smtClean="0"/>
              <a:t>approaches</a:t>
            </a:r>
            <a:r>
              <a:rPr lang="hu-HU" sz="3800" dirty="0" smtClean="0"/>
              <a:t>.</a:t>
            </a:r>
          </a:p>
          <a:p>
            <a:r>
              <a:rPr lang="hu-HU" sz="3800" dirty="0" err="1" smtClean="0"/>
              <a:t>Contextualised</a:t>
            </a:r>
            <a:r>
              <a:rPr lang="hu-HU" sz="3800" dirty="0" smtClean="0"/>
              <a:t> </a:t>
            </a:r>
            <a:r>
              <a:rPr lang="hu-HU" sz="3800" dirty="0" err="1" smtClean="0"/>
              <a:t>word</a:t>
            </a:r>
            <a:r>
              <a:rPr lang="hu-HU" sz="3800" dirty="0" smtClean="0"/>
              <a:t> </a:t>
            </a:r>
            <a:r>
              <a:rPr lang="hu-HU" sz="3800" dirty="0" err="1" smtClean="0"/>
              <a:t>embeddings</a:t>
            </a:r>
            <a:r>
              <a:rPr lang="hu-HU" sz="3800" dirty="0" smtClean="0"/>
              <a:t> </a:t>
            </a:r>
            <a:r>
              <a:rPr lang="hu-HU" sz="3800" dirty="0" err="1" smtClean="0"/>
              <a:t>in</a:t>
            </a:r>
            <a:r>
              <a:rPr lang="hu-HU" sz="3800" dirty="0" smtClean="0"/>
              <a:t> </a:t>
            </a:r>
            <a:r>
              <a:rPr lang="hu-HU" sz="3800" dirty="0" err="1" smtClean="0"/>
              <a:t>models</a:t>
            </a:r>
            <a:r>
              <a:rPr lang="hu-HU" sz="3800" dirty="0" smtClean="0"/>
              <a:t> </a:t>
            </a:r>
            <a:r>
              <a:rPr lang="hu-HU" sz="3800" dirty="0" err="1" smtClean="0"/>
              <a:t>like</a:t>
            </a:r>
            <a:r>
              <a:rPr lang="hu-HU" sz="3800" dirty="0" smtClean="0"/>
              <a:t> </a:t>
            </a:r>
            <a:r>
              <a:rPr lang="hu-HU" sz="3800" dirty="0" err="1" smtClean="0"/>
              <a:t>BERT</a:t>
            </a:r>
            <a:r>
              <a:rPr lang="hu-HU" sz="3800" dirty="0" smtClean="0"/>
              <a:t> and </a:t>
            </a:r>
            <a:r>
              <a:rPr lang="hu-HU" sz="3800" dirty="0" err="1" smtClean="0"/>
              <a:t>GPT</a:t>
            </a:r>
            <a:r>
              <a:rPr lang="hu-HU" sz="3800" dirty="0" smtClean="0"/>
              <a:t> </a:t>
            </a:r>
            <a:r>
              <a:rPr lang="hu-HU" sz="3800" dirty="0" err="1" smtClean="0"/>
              <a:t>represent</a:t>
            </a:r>
            <a:r>
              <a:rPr lang="hu-HU" sz="3800" dirty="0" smtClean="0"/>
              <a:t> a </a:t>
            </a:r>
            <a:r>
              <a:rPr lang="hu-HU" sz="3800" dirty="0" err="1" smtClean="0"/>
              <a:t>partial</a:t>
            </a:r>
            <a:r>
              <a:rPr lang="hu-HU" sz="3800" dirty="0" smtClean="0"/>
              <a:t> </a:t>
            </a:r>
            <a:r>
              <a:rPr lang="hu-HU" sz="3800" dirty="0" err="1" smtClean="0"/>
              <a:t>solution</a:t>
            </a:r>
            <a:r>
              <a:rPr lang="hu-HU" sz="3800" dirty="0" smtClean="0"/>
              <a:t> </a:t>
            </a:r>
            <a:r>
              <a:rPr lang="hu-HU" sz="3800" dirty="0" err="1" smtClean="0"/>
              <a:t>since</a:t>
            </a:r>
            <a:r>
              <a:rPr lang="hu-HU" sz="3800" dirty="0" smtClean="0"/>
              <a:t> </a:t>
            </a:r>
            <a:r>
              <a:rPr lang="hu-HU" sz="3800" dirty="0" err="1" smtClean="0"/>
              <a:t>they</a:t>
            </a:r>
            <a:r>
              <a:rPr lang="hu-HU" sz="3800" dirty="0" smtClean="0"/>
              <a:t> </a:t>
            </a:r>
            <a:r>
              <a:rPr lang="hu-HU" sz="3800" dirty="0" err="1" smtClean="0"/>
              <a:t>at</a:t>
            </a:r>
            <a:r>
              <a:rPr lang="hu-HU" sz="3800" dirty="0" smtClean="0"/>
              <a:t> </a:t>
            </a:r>
            <a:r>
              <a:rPr lang="hu-HU" sz="3800" dirty="0" err="1" smtClean="0"/>
              <a:t>least</a:t>
            </a:r>
            <a:r>
              <a:rPr lang="hu-HU" sz="3800" dirty="0" smtClean="0"/>
              <a:t> </a:t>
            </a:r>
            <a:r>
              <a:rPr lang="hu-HU" sz="3800" dirty="0" err="1" smtClean="0"/>
              <a:t>encode</a:t>
            </a:r>
            <a:r>
              <a:rPr lang="hu-HU" sz="3800" dirty="0" smtClean="0"/>
              <a:t> </a:t>
            </a:r>
            <a:r>
              <a:rPr lang="hu-HU" sz="3800" dirty="0" err="1" smtClean="0"/>
              <a:t>linear</a:t>
            </a:r>
            <a:r>
              <a:rPr lang="hu-HU" sz="3800" dirty="0" smtClean="0"/>
              <a:t> </a:t>
            </a:r>
            <a:r>
              <a:rPr lang="hu-HU" sz="3800" dirty="0" err="1" smtClean="0"/>
              <a:t>word</a:t>
            </a:r>
            <a:r>
              <a:rPr lang="hu-HU" sz="3800" dirty="0" smtClean="0"/>
              <a:t> </a:t>
            </a:r>
            <a:r>
              <a:rPr lang="hu-HU" sz="3800" dirty="0" err="1" smtClean="0"/>
              <a:t>order</a:t>
            </a:r>
            <a:r>
              <a:rPr lang="hu-HU" sz="3800" dirty="0"/>
              <a:t> </a:t>
            </a:r>
            <a:r>
              <a:rPr lang="hu-HU" sz="3800" dirty="0" smtClean="0"/>
              <a:t>(</a:t>
            </a:r>
            <a:r>
              <a:rPr lang="hu-HU" sz="3800" dirty="0" err="1" smtClean="0"/>
              <a:t>though</a:t>
            </a:r>
            <a:r>
              <a:rPr lang="hu-HU" sz="3800" dirty="0" smtClean="0"/>
              <a:t> </a:t>
            </a:r>
            <a:r>
              <a:rPr lang="hu-HU" sz="3800" dirty="0" err="1" smtClean="0"/>
              <a:t>not</a:t>
            </a:r>
            <a:r>
              <a:rPr lang="hu-HU" sz="3800" dirty="0" smtClean="0"/>
              <a:t> </a:t>
            </a:r>
            <a:r>
              <a:rPr lang="hu-HU" sz="3800" dirty="0" err="1" smtClean="0"/>
              <a:t>structure</a:t>
            </a:r>
            <a:r>
              <a:rPr lang="hu-HU" sz="3800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9117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Technical</a:t>
            </a:r>
            <a:r>
              <a:rPr lang="hu-HU" dirty="0" smtClean="0"/>
              <a:t> </a:t>
            </a:r>
            <a:r>
              <a:rPr lang="hu-HU" dirty="0" err="1" smtClean="0"/>
              <a:t>Implementation</a:t>
            </a:r>
            <a:r>
              <a:rPr lang="hu-HU" dirty="0" smtClean="0"/>
              <a:t>:</a:t>
            </a:r>
            <a:br>
              <a:rPr lang="hu-HU" dirty="0" smtClean="0"/>
            </a:br>
            <a:r>
              <a:rPr lang="hu-HU" dirty="0" smtClean="0"/>
              <a:t>Term </a:t>
            </a:r>
            <a:r>
              <a:rPr lang="hu-HU" dirty="0" err="1" smtClean="0"/>
              <a:t>Matrix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err="1" smtClean="0"/>
              <a:t>How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create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space</a:t>
            </a:r>
            <a:r>
              <a:rPr lang="hu-HU" dirty="0" smtClean="0"/>
              <a:t> </a:t>
            </a:r>
            <a:r>
              <a:rPr lang="hu-HU" dirty="0" err="1" smtClean="0"/>
              <a:t>representations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vocabulary</a:t>
            </a:r>
            <a:endParaRPr lang="hu-HU" dirty="0" smtClean="0"/>
          </a:p>
          <a:p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 is </a:t>
            </a:r>
            <a:r>
              <a:rPr lang="hu-HU" dirty="0" err="1" smtClean="0"/>
              <a:t>to</a:t>
            </a:r>
            <a:r>
              <a:rPr lang="hu-HU" dirty="0" smtClean="0"/>
              <a:t> start out </a:t>
            </a:r>
            <a:r>
              <a:rPr lang="hu-HU" dirty="0" err="1" smtClean="0"/>
              <a:t>with</a:t>
            </a:r>
            <a:r>
              <a:rPr lang="hu-HU" dirty="0" smtClean="0"/>
              <a:t> a </a:t>
            </a:r>
            <a:r>
              <a:rPr lang="hu-HU" dirty="0" err="1" smtClean="0"/>
              <a:t>matrix</a:t>
            </a:r>
            <a:r>
              <a:rPr lang="hu-HU" dirty="0" smtClean="0"/>
              <a:t> M of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counts</a:t>
            </a:r>
            <a:endParaRPr lang="hu-HU" dirty="0" smtClean="0"/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be a </a:t>
            </a:r>
            <a:r>
              <a:rPr lang="hu-HU" dirty="0" err="1" smtClean="0"/>
              <a:t>term-document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LSI</a:t>
            </a:r>
            <a:r>
              <a:rPr lang="hu-HU" dirty="0" smtClean="0"/>
              <a:t>)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co-occurrence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endParaRPr lang="hu-HU" dirty="0" smtClean="0"/>
          </a:p>
          <a:p>
            <a:pPr lvl="2"/>
            <a:r>
              <a:rPr lang="hu-HU" dirty="0" smtClean="0"/>
              <a:t>M </a:t>
            </a:r>
            <a:r>
              <a:rPr lang="hu-HU" dirty="0" err="1" smtClean="0"/>
              <a:t>rows</a:t>
            </a:r>
            <a:r>
              <a:rPr lang="hu-HU" dirty="0" smtClean="0"/>
              <a:t> (</a:t>
            </a:r>
            <a:r>
              <a:rPr lang="hu-HU" dirty="0" err="1" smtClean="0"/>
              <a:t>size</a:t>
            </a:r>
            <a:r>
              <a:rPr lang="hu-HU" dirty="0" smtClean="0"/>
              <a:t> of </a:t>
            </a:r>
            <a:r>
              <a:rPr lang="hu-HU" dirty="0" err="1" smtClean="0"/>
              <a:t>vocabulary</a:t>
            </a:r>
            <a:r>
              <a:rPr lang="hu-HU" dirty="0" smtClean="0"/>
              <a:t>, </a:t>
            </a:r>
            <a:r>
              <a:rPr lang="hu-HU" dirty="0" err="1" smtClean="0"/>
              <a:t>number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forms</a:t>
            </a:r>
            <a:r>
              <a:rPr lang="hu-HU" dirty="0" smtClean="0"/>
              <a:t> / </a:t>
            </a:r>
            <a:r>
              <a:rPr lang="hu-HU" dirty="0" err="1" smtClean="0"/>
              <a:t>lemmata</a:t>
            </a:r>
            <a:r>
              <a:rPr lang="hu-HU" dirty="0" smtClean="0"/>
              <a:t>)</a:t>
            </a:r>
          </a:p>
          <a:p>
            <a:pPr lvl="3"/>
            <a:r>
              <a:rPr lang="hu-HU" dirty="0" err="1"/>
              <a:t>typically</a:t>
            </a:r>
            <a:r>
              <a:rPr lang="hu-HU" dirty="0"/>
              <a:t>, </a:t>
            </a:r>
            <a:r>
              <a:rPr lang="hu-HU" dirty="0" err="1"/>
              <a:t>but</a:t>
            </a:r>
            <a:r>
              <a:rPr lang="hu-HU" dirty="0"/>
              <a:t> </a:t>
            </a:r>
            <a:r>
              <a:rPr lang="hu-HU" dirty="0" err="1"/>
              <a:t>not</a:t>
            </a:r>
            <a:r>
              <a:rPr lang="hu-HU" dirty="0"/>
              <a:t> </a:t>
            </a:r>
            <a:r>
              <a:rPr lang="hu-HU" dirty="0" err="1"/>
              <a:t>necessarily</a:t>
            </a:r>
            <a:r>
              <a:rPr lang="hu-HU" dirty="0"/>
              <a:t>, </a:t>
            </a:r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would</a:t>
            </a:r>
            <a:r>
              <a:rPr lang="hu-HU" dirty="0"/>
              <a:t> </a:t>
            </a:r>
            <a:r>
              <a:rPr lang="hu-HU" dirty="0" err="1"/>
              <a:t>lemmatize</a:t>
            </a:r>
            <a:r>
              <a:rPr lang="hu-HU" dirty="0"/>
              <a:t> </a:t>
            </a:r>
            <a:r>
              <a:rPr lang="hu-HU" dirty="0" err="1"/>
              <a:t>words</a:t>
            </a:r>
            <a:r>
              <a:rPr lang="hu-HU" dirty="0"/>
              <a:t> </a:t>
            </a:r>
            <a:r>
              <a:rPr lang="hu-HU" dirty="0" err="1"/>
              <a:t>before</a:t>
            </a:r>
            <a:r>
              <a:rPr lang="hu-HU" dirty="0"/>
              <a:t> </a:t>
            </a:r>
            <a:r>
              <a:rPr lang="hu-HU" dirty="0" err="1"/>
              <a:t>counting</a:t>
            </a:r>
            <a:r>
              <a:rPr lang="hu-HU" dirty="0"/>
              <a:t> </a:t>
            </a:r>
            <a:r>
              <a:rPr lang="hu-HU" dirty="0" err="1"/>
              <a:t>them</a:t>
            </a:r>
            <a:endParaRPr lang="hu-HU" dirty="0"/>
          </a:p>
          <a:p>
            <a:pPr lvl="2"/>
            <a:r>
              <a:rPr lang="hu-HU" dirty="0" err="1" smtClean="0"/>
              <a:t>columns</a:t>
            </a:r>
            <a:r>
              <a:rPr lang="hu-HU" dirty="0" smtClean="0"/>
              <a:t> (N)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either</a:t>
            </a:r>
            <a:r>
              <a:rPr lang="hu-HU" dirty="0" smtClean="0"/>
              <a:t> </a:t>
            </a:r>
            <a:r>
              <a:rPr lang="hu-HU" dirty="0" err="1" smtClean="0"/>
              <a:t>documents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endParaRPr lang="hu-HU" dirty="0" smtClean="0"/>
          </a:p>
          <a:p>
            <a:pPr lvl="3"/>
            <a:r>
              <a:rPr lang="hu-HU" dirty="0" err="1" smtClean="0"/>
              <a:t>co-occurrence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dirty="0" err="1" smtClean="0"/>
              <a:t>cases</a:t>
            </a:r>
            <a:r>
              <a:rPr lang="hu-HU" dirty="0" smtClean="0"/>
              <a:t>; </a:t>
            </a:r>
            <a:r>
              <a:rPr lang="hu-HU" dirty="0" err="1" smtClean="0"/>
              <a:t>either</a:t>
            </a:r>
            <a:r>
              <a:rPr lang="hu-HU" dirty="0" smtClean="0"/>
              <a:t> </a:t>
            </a:r>
            <a:r>
              <a:rPr lang="hu-HU" dirty="0" err="1" smtClean="0"/>
              <a:t>co-ocurrence</a:t>
            </a:r>
            <a:r>
              <a:rPr lang="hu-HU" dirty="0" smtClean="0"/>
              <a:t> </a:t>
            </a:r>
            <a:r>
              <a:rPr lang="hu-HU" dirty="0" err="1" smtClean="0"/>
              <a:t>within</a:t>
            </a:r>
            <a:r>
              <a:rPr lang="hu-HU" dirty="0" smtClean="0"/>
              <a:t> a </a:t>
            </a:r>
            <a:r>
              <a:rPr lang="hu-HU" dirty="0" err="1" smtClean="0"/>
              <a:t>document</a:t>
            </a:r>
            <a:r>
              <a:rPr lang="hu-HU" dirty="0" smtClean="0"/>
              <a:t> (</a:t>
            </a:r>
            <a:r>
              <a:rPr lang="hu-HU" dirty="0" err="1" smtClean="0"/>
              <a:t>coarser</a:t>
            </a:r>
            <a:r>
              <a:rPr lang="hu-HU" dirty="0" smtClean="0"/>
              <a:t>)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within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smaller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(</a:t>
            </a:r>
            <a:r>
              <a:rPr lang="hu-HU" dirty="0" err="1" smtClean="0"/>
              <a:t>typically</a:t>
            </a:r>
            <a:r>
              <a:rPr lang="hu-HU" dirty="0" smtClean="0"/>
              <a:t> </a:t>
            </a:r>
            <a:r>
              <a:rPr lang="hu-HU" dirty="0" err="1" smtClean="0"/>
              <a:t>within</a:t>
            </a:r>
            <a:r>
              <a:rPr lang="hu-HU" dirty="0" smtClean="0"/>
              <a:t> 5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left</a:t>
            </a:r>
            <a:r>
              <a:rPr lang="hu-HU" dirty="0" smtClean="0"/>
              <a:t> and right </a:t>
            </a:r>
            <a:r>
              <a:rPr lang="hu-HU" dirty="0" err="1" smtClean="0"/>
              <a:t>around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target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)</a:t>
            </a:r>
          </a:p>
          <a:p>
            <a:pPr lvl="3"/>
            <a:r>
              <a:rPr lang="hu-HU" dirty="0" err="1" smtClean="0"/>
              <a:t>words</a:t>
            </a:r>
            <a:r>
              <a:rPr lang="hu-HU" dirty="0" smtClean="0"/>
              <a:t>: M = N; </a:t>
            </a:r>
            <a:r>
              <a:rPr lang="hu-HU" dirty="0" err="1" smtClean="0"/>
              <a:t>documents</a:t>
            </a:r>
            <a:r>
              <a:rPr lang="hu-HU" dirty="0" smtClean="0"/>
              <a:t>: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large</a:t>
            </a:r>
            <a:r>
              <a:rPr lang="hu-HU" dirty="0" smtClean="0"/>
              <a:t> corpus, N &gt;&gt; M</a:t>
            </a:r>
          </a:p>
          <a:p>
            <a:pPr lvl="2"/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occur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once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often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included</a:t>
            </a:r>
            <a:endParaRPr lang="hu-HU" dirty="0" smtClean="0"/>
          </a:p>
          <a:p>
            <a:pPr lvl="3"/>
            <a:r>
              <a:rPr lang="hu-HU" dirty="0" err="1" smtClean="0"/>
              <a:t>optionally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</a:t>
            </a:r>
            <a:r>
              <a:rPr lang="hu-HU" dirty="0" err="1" smtClean="0"/>
              <a:t>those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occur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less </a:t>
            </a:r>
            <a:r>
              <a:rPr lang="hu-HU" dirty="0" err="1"/>
              <a:t>than</a:t>
            </a:r>
            <a:r>
              <a:rPr lang="hu-HU" dirty="0"/>
              <a:t> </a:t>
            </a:r>
            <a:r>
              <a:rPr lang="hu-HU" i="1" dirty="0"/>
              <a:t>m </a:t>
            </a:r>
            <a:r>
              <a:rPr lang="hu-HU" dirty="0" err="1" smtClean="0"/>
              <a:t>contexts</a:t>
            </a:r>
            <a:r>
              <a:rPr lang="hu-HU" dirty="0" smtClean="0"/>
              <a:t>, </a:t>
            </a:r>
            <a:r>
              <a:rPr lang="hu-HU" dirty="0" err="1"/>
              <a:t>e.g</a:t>
            </a:r>
            <a:r>
              <a:rPr lang="hu-HU" dirty="0"/>
              <a:t>. </a:t>
            </a:r>
            <a:r>
              <a:rPr lang="hu-HU" dirty="0" smtClean="0"/>
              <a:t>10</a:t>
            </a:r>
          </a:p>
          <a:p>
            <a:pPr lvl="1"/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counts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often</a:t>
            </a:r>
            <a:r>
              <a:rPr lang="hu-HU" dirty="0" smtClean="0"/>
              <a:t>, </a:t>
            </a:r>
            <a:r>
              <a:rPr lang="hu-HU" dirty="0" err="1" smtClean="0"/>
              <a:t>though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necessarily</a:t>
            </a:r>
            <a:r>
              <a:rPr lang="hu-HU" dirty="0" smtClean="0"/>
              <a:t> </a:t>
            </a:r>
            <a:r>
              <a:rPr lang="hu-HU" dirty="0" err="1" smtClean="0"/>
              <a:t>weighted</a:t>
            </a:r>
            <a:endParaRPr lang="hu-HU" dirty="0" smtClean="0"/>
          </a:p>
          <a:p>
            <a:pPr lvl="2"/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,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term-document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, </a:t>
            </a:r>
            <a:r>
              <a:rPr lang="hu-HU" dirty="0" err="1" smtClean="0"/>
              <a:t>TF-IDF</a:t>
            </a:r>
            <a:r>
              <a:rPr lang="hu-HU" dirty="0" smtClean="0"/>
              <a:t> (</a:t>
            </a:r>
            <a:r>
              <a:rPr lang="hu-HU" dirty="0" err="1" smtClean="0"/>
              <a:t>term</a:t>
            </a:r>
            <a:r>
              <a:rPr lang="hu-HU" dirty="0" smtClean="0"/>
              <a:t> </a:t>
            </a:r>
            <a:r>
              <a:rPr lang="hu-HU" dirty="0" err="1" smtClean="0"/>
              <a:t>frequency</a:t>
            </a:r>
            <a:r>
              <a:rPr lang="hu-HU" dirty="0" smtClean="0"/>
              <a:t>–</a:t>
            </a:r>
            <a:r>
              <a:rPr lang="hu-HU" dirty="0" err="1" smtClean="0"/>
              <a:t>inverse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frequency</a:t>
            </a:r>
            <a:r>
              <a:rPr lang="hu-HU" dirty="0" smtClean="0"/>
              <a:t>) is </a:t>
            </a:r>
            <a:r>
              <a:rPr lang="hu-HU" dirty="0" err="1" smtClean="0"/>
              <a:t>typically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endParaRPr lang="hu-HU" dirty="0" smtClean="0"/>
          </a:p>
          <a:p>
            <a:pPr lvl="2"/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co-occurrence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,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</a:t>
            </a:r>
            <a:r>
              <a:rPr lang="hu-HU" dirty="0" err="1" smtClean="0"/>
              <a:t>calculate</a:t>
            </a:r>
            <a:r>
              <a:rPr lang="hu-HU" dirty="0" smtClean="0"/>
              <a:t> </a:t>
            </a:r>
            <a:r>
              <a:rPr lang="hu-HU" dirty="0" err="1" smtClean="0"/>
              <a:t>so-called</a:t>
            </a:r>
            <a:r>
              <a:rPr lang="hu-HU" dirty="0" smtClean="0"/>
              <a:t> </a:t>
            </a:r>
            <a:r>
              <a:rPr lang="hu-HU" dirty="0" err="1" smtClean="0"/>
              <a:t>pointwise</a:t>
            </a:r>
            <a:r>
              <a:rPr lang="hu-HU" dirty="0" smtClean="0"/>
              <a:t> </a:t>
            </a:r>
            <a:r>
              <a:rPr lang="hu-HU" dirty="0" err="1" smtClean="0"/>
              <a:t>mutual</a:t>
            </a:r>
            <a:r>
              <a:rPr lang="hu-HU" dirty="0" smtClean="0"/>
              <a:t> </a:t>
            </a:r>
            <a:r>
              <a:rPr lang="hu-HU" dirty="0" err="1" smtClean="0"/>
              <a:t>information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row</a:t>
            </a:r>
            <a:r>
              <a:rPr lang="hu-HU" dirty="0" smtClean="0"/>
              <a:t>’s </a:t>
            </a:r>
            <a:r>
              <a:rPr lang="hu-HU" dirty="0" err="1" smtClean="0"/>
              <a:t>word</a:t>
            </a:r>
            <a:r>
              <a:rPr lang="hu-HU" dirty="0" smtClean="0"/>
              <a:t> and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column</a:t>
            </a:r>
            <a:r>
              <a:rPr lang="hu-HU" dirty="0" smtClean="0"/>
              <a:t>’s </a:t>
            </a:r>
            <a:r>
              <a:rPr lang="hu-HU" dirty="0" err="1" smtClean="0"/>
              <a:t>word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means</a:t>
            </a:r>
            <a:r>
              <a:rPr lang="hu-HU" dirty="0" smtClean="0"/>
              <a:t> </a:t>
            </a:r>
            <a:r>
              <a:rPr lang="hu-HU" dirty="0" err="1" smtClean="0"/>
              <a:t>weighting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’ </a:t>
            </a:r>
            <a:r>
              <a:rPr lang="hu-HU" dirty="0" err="1" smtClean="0"/>
              <a:t>frequencies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379641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TF-IDF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62500" lnSpcReduction="20000"/>
          </a:bodyPr>
          <a:lstStyle/>
          <a:p>
            <a:r>
              <a:rPr lang="hu-HU" dirty="0" err="1" smtClean="0"/>
              <a:t>TF-IDF</a:t>
            </a:r>
            <a:r>
              <a:rPr lang="hu-HU" dirty="0" smtClean="0"/>
              <a:t> is </a:t>
            </a:r>
            <a:r>
              <a:rPr lang="hu-HU" dirty="0" err="1" smtClean="0"/>
              <a:t>refers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a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 of </a:t>
            </a:r>
            <a:r>
              <a:rPr lang="hu-HU" dirty="0" err="1" smtClean="0"/>
              <a:t>weighting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how</a:t>
            </a:r>
            <a:r>
              <a:rPr lang="hu-HU" dirty="0" smtClean="0"/>
              <a:t> </a:t>
            </a:r>
            <a:r>
              <a:rPr lang="hu-HU" dirty="0" err="1" smtClean="0"/>
              <a:t>characteristic</a:t>
            </a:r>
            <a:r>
              <a:rPr lang="hu-HU" dirty="0" smtClean="0"/>
              <a:t> / </a:t>
            </a:r>
            <a:r>
              <a:rPr lang="hu-HU" dirty="0" err="1" smtClean="0"/>
              <a:t>typical</a:t>
            </a:r>
            <a:r>
              <a:rPr lang="hu-HU" dirty="0" smtClean="0"/>
              <a:t> of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/>
              <a:t>each</a:t>
            </a:r>
            <a:r>
              <a:rPr lang="hu-HU" dirty="0"/>
              <a:t> </a:t>
            </a:r>
            <a:r>
              <a:rPr lang="hu-HU" dirty="0" err="1"/>
              <a:t>word</a:t>
            </a:r>
            <a:r>
              <a:rPr lang="hu-HU" dirty="0"/>
              <a:t> </a:t>
            </a:r>
            <a:r>
              <a:rPr lang="hu-HU" dirty="0" smtClean="0"/>
              <a:t>is.</a:t>
            </a:r>
          </a:p>
          <a:p>
            <a:pPr lvl="1"/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keyword</a:t>
            </a:r>
            <a:r>
              <a:rPr lang="hu-HU" dirty="0" smtClean="0"/>
              <a:t> </a:t>
            </a:r>
            <a:r>
              <a:rPr lang="hu-HU" dirty="0" err="1" smtClean="0"/>
              <a:t>extraction</a:t>
            </a:r>
            <a:r>
              <a:rPr lang="hu-HU" dirty="0" smtClean="0"/>
              <a:t>,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classification</a:t>
            </a:r>
            <a:r>
              <a:rPr lang="hu-HU" dirty="0" smtClean="0"/>
              <a:t>, indexing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information</a:t>
            </a:r>
            <a:r>
              <a:rPr lang="hu-HU" dirty="0" smtClean="0"/>
              <a:t> </a:t>
            </a:r>
            <a:r>
              <a:rPr lang="hu-HU" dirty="0" err="1" smtClean="0"/>
              <a:t>retrieval</a:t>
            </a:r>
            <a:r>
              <a:rPr lang="hu-HU" dirty="0" smtClean="0"/>
              <a:t> and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purposes</a:t>
            </a:r>
            <a:endParaRPr lang="hu-HU" dirty="0" smtClean="0"/>
          </a:p>
          <a:p>
            <a:r>
              <a:rPr lang="hu-HU" dirty="0" smtClean="0"/>
              <a:t>Term </a:t>
            </a:r>
            <a:r>
              <a:rPr lang="hu-HU" dirty="0" err="1" smtClean="0"/>
              <a:t>frequency</a:t>
            </a:r>
            <a:r>
              <a:rPr lang="hu-HU" dirty="0" smtClean="0"/>
              <a:t>: </a:t>
            </a:r>
            <a:r>
              <a:rPr lang="hu-HU" dirty="0" err="1" smtClean="0"/>
              <a:t>count</a:t>
            </a:r>
            <a:r>
              <a:rPr lang="hu-HU" dirty="0" smtClean="0"/>
              <a:t> of </a:t>
            </a:r>
            <a:r>
              <a:rPr lang="hu-HU" dirty="0" err="1" smtClean="0"/>
              <a:t>occurrences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a </a:t>
            </a:r>
            <a:r>
              <a:rPr lang="hu-HU" dirty="0" err="1" smtClean="0"/>
              <a:t>term</a:t>
            </a:r>
            <a:r>
              <a:rPr lang="hu-HU" dirty="0" smtClean="0"/>
              <a:t> </a:t>
            </a:r>
            <a:r>
              <a:rPr lang="hu-HU" i="1" dirty="0" smtClean="0"/>
              <a:t>t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given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i="1" dirty="0" smtClean="0"/>
              <a:t>d</a:t>
            </a:r>
            <a:r>
              <a:rPr lang="hu-HU" dirty="0" smtClean="0"/>
              <a:t>, </a:t>
            </a:r>
            <a:r>
              <a:rPr lang="hu-HU" dirty="0" err="1" smtClean="0"/>
              <a:t>divided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length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|</a:t>
            </a:r>
            <a:r>
              <a:rPr lang="hu-HU" i="1" dirty="0" smtClean="0"/>
              <a:t>d</a:t>
            </a:r>
            <a:r>
              <a:rPr lang="hu-HU" dirty="0" smtClean="0"/>
              <a:t>| (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number</a:t>
            </a:r>
            <a:r>
              <a:rPr lang="hu-HU" dirty="0" smtClean="0"/>
              <a:t> of </a:t>
            </a:r>
            <a:r>
              <a:rPr lang="hu-HU" dirty="0" err="1" smtClean="0"/>
              <a:t>tokens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characteristic</a:t>
            </a:r>
            <a:r>
              <a:rPr lang="hu-HU" dirty="0" smtClean="0"/>
              <a:t> of a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tend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occur</a:t>
            </a:r>
            <a:r>
              <a:rPr lang="hu-HU" dirty="0" smtClean="0"/>
              <a:t> </a:t>
            </a:r>
            <a:r>
              <a:rPr lang="hu-HU" dirty="0" err="1" smtClean="0"/>
              <a:t>several</a:t>
            </a:r>
            <a:r>
              <a:rPr lang="hu-HU" dirty="0" smtClean="0"/>
              <a:t> </a:t>
            </a:r>
            <a:r>
              <a:rPr lang="hu-HU" dirty="0" err="1" smtClean="0"/>
              <a:t>times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endParaRPr lang="hu-HU" dirty="0" smtClean="0"/>
          </a:p>
          <a:p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frequency</a:t>
            </a:r>
            <a:r>
              <a:rPr lang="hu-HU" dirty="0" smtClean="0"/>
              <a:t>: </a:t>
            </a:r>
            <a:r>
              <a:rPr lang="hu-HU" dirty="0" err="1" smtClean="0"/>
              <a:t>count</a:t>
            </a:r>
            <a:r>
              <a:rPr lang="hu-HU" dirty="0" smtClean="0"/>
              <a:t> of </a:t>
            </a:r>
            <a:r>
              <a:rPr lang="hu-HU" dirty="0" err="1" smtClean="0"/>
              <a:t>documents</a:t>
            </a:r>
            <a:r>
              <a:rPr lang="hu-HU" dirty="0" smtClean="0"/>
              <a:t> </a:t>
            </a:r>
            <a:r>
              <a:rPr lang="hu-HU" i="1" dirty="0" err="1" smtClean="0"/>
              <a:t>n</a:t>
            </a:r>
            <a:r>
              <a:rPr lang="hu-HU" i="1" baseline="-25000" dirty="0" err="1" smtClean="0"/>
              <a:t>t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term</a:t>
            </a:r>
            <a:r>
              <a:rPr lang="hu-HU" dirty="0" smtClean="0"/>
              <a:t> </a:t>
            </a:r>
            <a:r>
              <a:rPr lang="hu-HU" i="1" dirty="0" smtClean="0"/>
              <a:t>t</a:t>
            </a:r>
            <a:r>
              <a:rPr lang="hu-HU" dirty="0" smtClean="0"/>
              <a:t> </a:t>
            </a:r>
            <a:r>
              <a:rPr lang="hu-HU" dirty="0" err="1" smtClean="0"/>
              <a:t>occurs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, </a:t>
            </a:r>
            <a:r>
              <a:rPr lang="hu-HU" dirty="0" err="1" smtClean="0"/>
              <a:t>divided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total</a:t>
            </a:r>
            <a:r>
              <a:rPr lang="hu-HU" dirty="0" smtClean="0"/>
              <a:t> </a:t>
            </a:r>
            <a:r>
              <a:rPr lang="hu-HU" dirty="0" err="1" smtClean="0"/>
              <a:t>number</a:t>
            </a:r>
            <a:r>
              <a:rPr lang="hu-HU" dirty="0" smtClean="0"/>
              <a:t> of </a:t>
            </a:r>
            <a:r>
              <a:rPr lang="hu-HU" dirty="0" err="1" smtClean="0"/>
              <a:t>documents</a:t>
            </a:r>
            <a:r>
              <a:rPr lang="hu-HU" dirty="0" smtClean="0"/>
              <a:t> |</a:t>
            </a:r>
            <a:r>
              <a:rPr lang="hu-HU" i="1" dirty="0" smtClean="0"/>
              <a:t>D</a:t>
            </a:r>
            <a:r>
              <a:rPr lang="hu-HU" dirty="0" smtClean="0"/>
              <a:t>| (</a:t>
            </a:r>
            <a:r>
              <a:rPr lang="hu-HU" dirty="0" err="1" smtClean="0"/>
              <a:t>proportion</a:t>
            </a:r>
            <a:r>
              <a:rPr lang="hu-HU" dirty="0" smtClean="0"/>
              <a:t>)</a:t>
            </a:r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smaller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proportion</a:t>
            </a:r>
            <a:r>
              <a:rPr lang="hu-HU" dirty="0" smtClean="0"/>
              <a:t> is, </a:t>
            </a:r>
            <a:r>
              <a:rPr lang="hu-HU" dirty="0" err="1" smtClean="0"/>
              <a:t>the</a:t>
            </a:r>
            <a:r>
              <a:rPr lang="hu-HU" dirty="0" smtClean="0"/>
              <a:t> more </a:t>
            </a:r>
            <a:r>
              <a:rPr lang="hu-HU" dirty="0" err="1" smtClean="0"/>
              <a:t>characteristic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is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Thus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use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inverse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weighting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A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occurs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/ </a:t>
            </a:r>
            <a:r>
              <a:rPr lang="hu-HU" dirty="0" err="1" smtClean="0"/>
              <a:t>many</a:t>
            </a:r>
            <a:r>
              <a:rPr lang="hu-HU" dirty="0" smtClean="0"/>
              <a:t> </a:t>
            </a:r>
            <a:r>
              <a:rPr lang="hu-HU" dirty="0" err="1" smtClean="0"/>
              <a:t>documents</a:t>
            </a:r>
            <a:r>
              <a:rPr lang="hu-HU" dirty="0" smtClean="0"/>
              <a:t> is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characteristic</a:t>
            </a:r>
            <a:r>
              <a:rPr lang="hu-HU" dirty="0" smtClean="0"/>
              <a:t> of </a:t>
            </a:r>
            <a:r>
              <a:rPr lang="hu-HU" dirty="0" err="1" smtClean="0"/>
              <a:t>any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TF-IDF</a:t>
            </a:r>
            <a:r>
              <a:rPr lang="hu-HU" dirty="0" smtClean="0"/>
              <a:t> is </a:t>
            </a:r>
            <a:r>
              <a:rPr lang="hu-HU" dirty="0" err="1" smtClean="0"/>
              <a:t>defined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product</a:t>
            </a:r>
            <a:r>
              <a:rPr lang="hu-HU" dirty="0" smtClean="0"/>
              <a:t> of </a:t>
            </a:r>
            <a:r>
              <a:rPr lang="hu-HU" dirty="0" err="1" smtClean="0"/>
              <a:t>term</a:t>
            </a:r>
            <a:r>
              <a:rPr lang="hu-HU" dirty="0" smtClean="0"/>
              <a:t> </a:t>
            </a:r>
            <a:r>
              <a:rPr lang="hu-HU" dirty="0" err="1" smtClean="0"/>
              <a:t>frequency</a:t>
            </a:r>
            <a:r>
              <a:rPr lang="hu-HU" dirty="0" smtClean="0"/>
              <a:t> and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logarithm</a:t>
            </a:r>
            <a:r>
              <a:rPr lang="hu-HU" dirty="0" smtClean="0"/>
              <a:t> of </a:t>
            </a:r>
            <a:r>
              <a:rPr lang="hu-HU" dirty="0" err="1" smtClean="0"/>
              <a:t>inverse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frequency</a:t>
            </a:r>
            <a:endParaRPr lang="hu-HU" dirty="0" smtClean="0"/>
          </a:p>
          <a:p>
            <a:r>
              <a:rPr lang="hu-HU" dirty="0" err="1" smtClean="0"/>
              <a:t>tfidf</a:t>
            </a:r>
            <a:r>
              <a:rPr lang="hu-HU" dirty="0" smtClean="0"/>
              <a:t>(</a:t>
            </a:r>
            <a:r>
              <a:rPr lang="hu-HU" i="1" dirty="0" smtClean="0"/>
              <a:t>t</a:t>
            </a:r>
            <a:r>
              <a:rPr lang="hu-HU" dirty="0" smtClean="0"/>
              <a:t>,</a:t>
            </a:r>
            <a:r>
              <a:rPr lang="hu-HU" i="1" dirty="0" smtClean="0"/>
              <a:t>d</a:t>
            </a:r>
            <a:r>
              <a:rPr lang="hu-HU" dirty="0" smtClean="0"/>
              <a:t>,</a:t>
            </a:r>
            <a:r>
              <a:rPr lang="hu-HU" i="1" dirty="0" err="1" smtClean="0"/>
              <a:t>D</a:t>
            </a:r>
            <a:r>
              <a:rPr lang="hu-HU" dirty="0" smtClean="0"/>
              <a:t>) = (</a:t>
            </a:r>
            <a:r>
              <a:rPr lang="hu-HU" i="1" dirty="0" smtClean="0"/>
              <a:t>f</a:t>
            </a:r>
            <a:r>
              <a:rPr lang="hu-HU" dirty="0" smtClean="0"/>
              <a:t>(</a:t>
            </a:r>
            <a:r>
              <a:rPr lang="hu-HU" i="1" dirty="0" smtClean="0"/>
              <a:t>t</a:t>
            </a:r>
            <a:r>
              <a:rPr lang="hu-HU" dirty="0" smtClean="0"/>
              <a:t>,</a:t>
            </a:r>
            <a:r>
              <a:rPr lang="hu-HU" i="1" dirty="0" smtClean="0"/>
              <a:t>d</a:t>
            </a:r>
            <a:r>
              <a:rPr lang="hu-HU" dirty="0" smtClean="0"/>
              <a:t>) / |</a:t>
            </a:r>
            <a:r>
              <a:rPr lang="hu-HU" i="1" dirty="0" err="1" smtClean="0"/>
              <a:t>d</a:t>
            </a:r>
            <a:r>
              <a:rPr lang="hu-HU" dirty="0" smtClean="0"/>
              <a:t>|) (log(|</a:t>
            </a:r>
            <a:r>
              <a:rPr lang="hu-HU" i="1" dirty="0" smtClean="0"/>
              <a:t>D</a:t>
            </a:r>
            <a:r>
              <a:rPr lang="hu-HU" dirty="0" smtClean="0"/>
              <a:t>| / </a:t>
            </a:r>
            <a:r>
              <a:rPr lang="hu-HU" i="1" dirty="0" err="1" smtClean="0"/>
              <a:t>n</a:t>
            </a:r>
            <a:r>
              <a:rPr lang="hu-HU" i="1" baseline="-25000" dirty="0" err="1" smtClean="0"/>
              <a:t>t</a:t>
            </a:r>
            <a:r>
              <a:rPr lang="hu-HU" dirty="0" smtClean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013604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67544" y="3660"/>
            <a:ext cx="8229600" cy="1143000"/>
          </a:xfrm>
        </p:spPr>
        <p:txBody>
          <a:bodyPr>
            <a:normAutofit/>
          </a:bodyPr>
          <a:lstStyle/>
          <a:p>
            <a:r>
              <a:rPr lang="hu-HU" sz="3600" dirty="0" err="1" smtClean="0"/>
              <a:t>Technical</a:t>
            </a:r>
            <a:r>
              <a:rPr lang="hu-HU" sz="3600" dirty="0" smtClean="0"/>
              <a:t> </a:t>
            </a:r>
            <a:r>
              <a:rPr lang="hu-HU" sz="3600" dirty="0" err="1" smtClean="0"/>
              <a:t>Implementation</a:t>
            </a:r>
            <a:r>
              <a:rPr lang="hu-HU" sz="3600" dirty="0" smtClean="0"/>
              <a:t>: </a:t>
            </a:r>
            <a:r>
              <a:rPr lang="hu-HU" sz="3600" dirty="0" err="1" smtClean="0"/>
              <a:t>SVD</a:t>
            </a:r>
            <a:endParaRPr lang="en-GB" sz="36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2980927"/>
          </a:xfrm>
        </p:spPr>
        <p:txBody>
          <a:bodyPr>
            <a:normAutofit fontScale="62500" lnSpcReduction="20000"/>
          </a:bodyPr>
          <a:lstStyle/>
          <a:p>
            <a:r>
              <a:rPr lang="hu-HU" dirty="0" err="1" smtClean="0"/>
              <a:t>Once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a </a:t>
            </a:r>
            <a:r>
              <a:rPr lang="hu-HU" dirty="0" err="1" smtClean="0"/>
              <a:t>term-document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co-occurrence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,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linear</a:t>
            </a:r>
            <a:r>
              <a:rPr lang="hu-HU" dirty="0" smtClean="0"/>
              <a:t> algebra </a:t>
            </a:r>
            <a:r>
              <a:rPr lang="hu-HU" dirty="0" err="1" smtClean="0"/>
              <a:t>operation</a:t>
            </a:r>
            <a:r>
              <a:rPr lang="hu-HU" dirty="0" smtClean="0"/>
              <a:t> </a:t>
            </a:r>
            <a:r>
              <a:rPr lang="hu-HU" dirty="0" err="1" smtClean="0"/>
              <a:t>called</a:t>
            </a:r>
            <a:r>
              <a:rPr lang="hu-HU" dirty="0" smtClean="0"/>
              <a:t> </a:t>
            </a:r>
            <a:r>
              <a:rPr lang="hu-HU" dirty="0" err="1" smtClean="0"/>
              <a:t>singular</a:t>
            </a:r>
            <a:r>
              <a:rPr lang="hu-HU" dirty="0" smtClean="0"/>
              <a:t> </a:t>
            </a:r>
            <a:r>
              <a:rPr lang="hu-HU" dirty="0" err="1" smtClean="0"/>
              <a:t>value</a:t>
            </a:r>
            <a:r>
              <a:rPr lang="hu-HU" dirty="0" smtClean="0"/>
              <a:t> </a:t>
            </a:r>
            <a:r>
              <a:rPr lang="hu-HU" dirty="0" err="1" smtClean="0"/>
              <a:t>decomposition</a:t>
            </a:r>
            <a:r>
              <a:rPr lang="hu-HU" dirty="0" smtClean="0"/>
              <a:t> is </a:t>
            </a:r>
            <a:r>
              <a:rPr lang="hu-HU" dirty="0" err="1" smtClean="0"/>
              <a:t>applied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endParaRPr lang="hu-HU" dirty="0" smtClean="0"/>
          </a:p>
          <a:p>
            <a:pPr lvl="1"/>
            <a:r>
              <a:rPr lang="hu-HU" dirty="0" err="1"/>
              <a:t>Manning</a:t>
            </a:r>
            <a:r>
              <a:rPr lang="hu-HU" dirty="0"/>
              <a:t>, </a:t>
            </a:r>
            <a:r>
              <a:rPr lang="hu-HU" dirty="0" err="1"/>
              <a:t>Raghavan</a:t>
            </a:r>
            <a:r>
              <a:rPr lang="hu-HU" dirty="0"/>
              <a:t>, Schütze: </a:t>
            </a:r>
            <a:r>
              <a:rPr lang="hu-HU" i="1" dirty="0" err="1">
                <a:hlinkClick r:id="rId2"/>
              </a:rPr>
              <a:t>Introduction</a:t>
            </a:r>
            <a:r>
              <a:rPr lang="hu-HU" i="1" dirty="0">
                <a:hlinkClick r:id="rId2"/>
              </a:rPr>
              <a:t> </a:t>
            </a:r>
            <a:r>
              <a:rPr lang="hu-HU" i="1" dirty="0" err="1">
                <a:hlinkClick r:id="rId2"/>
              </a:rPr>
              <a:t>to</a:t>
            </a:r>
            <a:r>
              <a:rPr lang="hu-HU" i="1" dirty="0">
                <a:hlinkClick r:id="rId2"/>
              </a:rPr>
              <a:t> </a:t>
            </a:r>
            <a:r>
              <a:rPr lang="hu-HU" i="1" dirty="0" err="1">
                <a:hlinkClick r:id="rId2"/>
              </a:rPr>
              <a:t>Information</a:t>
            </a:r>
            <a:r>
              <a:rPr lang="hu-HU" i="1" dirty="0">
                <a:hlinkClick r:id="rId2"/>
              </a:rPr>
              <a:t> </a:t>
            </a:r>
            <a:r>
              <a:rPr lang="hu-HU" i="1" dirty="0" err="1">
                <a:hlinkClick r:id="rId2"/>
              </a:rPr>
              <a:t>Retrieval</a:t>
            </a:r>
            <a:r>
              <a:rPr lang="hu-HU" dirty="0"/>
              <a:t>, 2008, </a:t>
            </a:r>
            <a:r>
              <a:rPr lang="hu-HU" dirty="0" err="1"/>
              <a:t>chapter</a:t>
            </a:r>
            <a:r>
              <a:rPr lang="hu-HU" dirty="0"/>
              <a:t> 18</a:t>
            </a:r>
            <a:endParaRPr lang="en-GB" dirty="0"/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rank</a:t>
            </a:r>
            <a:r>
              <a:rPr lang="hu-HU" dirty="0" smtClean="0"/>
              <a:t> </a:t>
            </a:r>
            <a:r>
              <a:rPr lang="hu-HU" i="1" dirty="0" smtClean="0"/>
              <a:t>r </a:t>
            </a:r>
            <a:r>
              <a:rPr lang="hu-HU" dirty="0" smtClean="0"/>
              <a:t>of a </a:t>
            </a:r>
            <a:r>
              <a:rPr lang="hu-HU" dirty="0" err="1" smtClean="0"/>
              <a:t>matrix</a:t>
            </a:r>
            <a:r>
              <a:rPr lang="hu-HU" dirty="0" smtClean="0"/>
              <a:t> </a:t>
            </a:r>
            <a:r>
              <a:rPr lang="hu-HU" i="1" dirty="0" smtClean="0"/>
              <a:t>C </a:t>
            </a:r>
            <a:r>
              <a:rPr lang="hu-HU" dirty="0" smtClean="0"/>
              <a:t>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number</a:t>
            </a:r>
            <a:r>
              <a:rPr lang="hu-HU" dirty="0" smtClean="0"/>
              <a:t> of </a:t>
            </a:r>
            <a:r>
              <a:rPr lang="hu-HU" dirty="0" err="1" smtClean="0"/>
              <a:t>independent</a:t>
            </a:r>
            <a:r>
              <a:rPr lang="hu-HU" dirty="0" smtClean="0"/>
              <a:t> </a:t>
            </a:r>
            <a:r>
              <a:rPr lang="hu-HU" dirty="0" err="1" smtClean="0"/>
              <a:t>rows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column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has, </a:t>
            </a:r>
            <a:r>
              <a:rPr lang="hu-HU" dirty="0" err="1" smtClean="0"/>
              <a:t>whichever</a:t>
            </a:r>
            <a:r>
              <a:rPr lang="hu-HU" dirty="0" smtClean="0"/>
              <a:t> is </a:t>
            </a:r>
            <a:r>
              <a:rPr lang="hu-HU" dirty="0" err="1" smtClean="0"/>
              <a:t>smaller</a:t>
            </a:r>
            <a:r>
              <a:rPr lang="hu-HU" dirty="0" smtClean="0"/>
              <a:t> (≈ min(</a:t>
            </a:r>
            <a:r>
              <a:rPr lang="hu-HU" i="1" dirty="0" smtClean="0"/>
              <a:t>M, </a:t>
            </a:r>
            <a:r>
              <a:rPr lang="hu-HU" i="1" dirty="0"/>
              <a:t>N</a:t>
            </a:r>
            <a:r>
              <a:rPr lang="hu-HU" dirty="0" smtClean="0"/>
              <a:t>))</a:t>
            </a:r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original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 is </a:t>
            </a:r>
            <a:r>
              <a:rPr lang="hu-HU" dirty="0" err="1"/>
              <a:t>decomposed</a:t>
            </a:r>
            <a:r>
              <a:rPr lang="hu-HU" dirty="0"/>
              <a:t> </a:t>
            </a:r>
            <a:r>
              <a:rPr lang="hu-HU" dirty="0" err="1"/>
              <a:t>into</a:t>
            </a:r>
            <a:r>
              <a:rPr lang="hu-HU" dirty="0"/>
              <a:t> </a:t>
            </a:r>
            <a:r>
              <a:rPr lang="hu-HU" dirty="0" err="1"/>
              <a:t>three</a:t>
            </a:r>
            <a:r>
              <a:rPr lang="hu-HU" dirty="0"/>
              <a:t> </a:t>
            </a:r>
            <a:r>
              <a:rPr lang="hu-HU" dirty="0" err="1" smtClean="0"/>
              <a:t>matrices</a:t>
            </a:r>
            <a:r>
              <a:rPr lang="hu-HU" dirty="0" smtClean="0"/>
              <a:t>: </a:t>
            </a:r>
            <a:r>
              <a:rPr lang="hu-HU" i="1" dirty="0"/>
              <a:t>C </a:t>
            </a:r>
            <a:r>
              <a:rPr lang="hu-HU" dirty="0"/>
              <a:t>= </a:t>
            </a:r>
            <a:r>
              <a:rPr lang="hu-HU" i="1" dirty="0"/>
              <a:t>U </a:t>
            </a:r>
            <a:r>
              <a:rPr lang="el-GR" dirty="0"/>
              <a:t>Σ</a:t>
            </a:r>
            <a:r>
              <a:rPr lang="hu-HU" dirty="0"/>
              <a:t> </a:t>
            </a:r>
            <a:r>
              <a:rPr lang="hu-HU" i="1" dirty="0"/>
              <a:t>V</a:t>
            </a:r>
            <a:r>
              <a:rPr lang="hu-HU" baseline="30000" dirty="0"/>
              <a:t>T</a:t>
            </a:r>
            <a:endParaRPr lang="hu-HU" dirty="0" smtClean="0"/>
          </a:p>
          <a:p>
            <a:pPr lvl="2"/>
            <a:r>
              <a:rPr lang="el-GR" dirty="0" smtClean="0"/>
              <a:t>Σ</a:t>
            </a:r>
            <a:r>
              <a:rPr lang="hu-HU" dirty="0" smtClean="0"/>
              <a:t> is an </a:t>
            </a:r>
            <a:r>
              <a:rPr lang="hu-HU" i="1" dirty="0" smtClean="0"/>
              <a:t>M </a:t>
            </a:r>
            <a:r>
              <a:rPr lang="hu-HU" dirty="0" smtClean="0"/>
              <a:t>x </a:t>
            </a:r>
            <a:r>
              <a:rPr lang="hu-HU" i="1" dirty="0" smtClean="0"/>
              <a:t>N </a:t>
            </a:r>
            <a:r>
              <a:rPr lang="hu-HU" dirty="0" smtClean="0"/>
              <a:t>(</a:t>
            </a:r>
            <a:r>
              <a:rPr lang="hu-HU" dirty="0" err="1" smtClean="0"/>
              <a:t>non-square</a:t>
            </a:r>
            <a:r>
              <a:rPr lang="hu-HU" dirty="0" smtClean="0"/>
              <a:t>) </a:t>
            </a:r>
            <a:r>
              <a:rPr lang="hu-HU" dirty="0" err="1" smtClean="0"/>
              <a:t>diagonal</a:t>
            </a:r>
            <a:r>
              <a:rPr lang="hu-HU" dirty="0" smtClean="0"/>
              <a:t> </a:t>
            </a:r>
            <a:r>
              <a:rPr lang="hu-HU" dirty="0" err="1"/>
              <a:t>matrix</a:t>
            </a:r>
            <a:r>
              <a:rPr lang="hu-HU" dirty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/>
              <a:t>contains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singular</a:t>
            </a:r>
            <a:r>
              <a:rPr lang="hu-HU" dirty="0"/>
              <a:t> </a:t>
            </a:r>
            <a:r>
              <a:rPr lang="hu-HU" dirty="0" err="1"/>
              <a:t>values</a:t>
            </a:r>
            <a:r>
              <a:rPr lang="hu-HU" dirty="0"/>
              <a:t> of C</a:t>
            </a:r>
            <a:endParaRPr lang="hu-HU" dirty="0" smtClean="0"/>
          </a:p>
          <a:p>
            <a:pPr lvl="3"/>
            <a:r>
              <a:rPr lang="hu-HU" dirty="0" err="1"/>
              <a:t>these</a:t>
            </a:r>
            <a:r>
              <a:rPr lang="hu-HU" dirty="0"/>
              <a:t> </a:t>
            </a:r>
            <a:r>
              <a:rPr lang="hu-HU" dirty="0" err="1"/>
              <a:t>correspond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i="1" dirty="0"/>
              <a:t>r </a:t>
            </a:r>
            <a:r>
              <a:rPr lang="hu-HU" dirty="0" err="1"/>
              <a:t>eigenvalues</a:t>
            </a:r>
            <a:r>
              <a:rPr lang="hu-HU" dirty="0"/>
              <a:t> of C </a:t>
            </a:r>
            <a:r>
              <a:rPr lang="hu-HU" dirty="0" err="1"/>
              <a:t>in</a:t>
            </a:r>
            <a:r>
              <a:rPr lang="hu-HU" dirty="0"/>
              <a:t> </a:t>
            </a:r>
            <a:r>
              <a:rPr lang="hu-HU" dirty="0" err="1"/>
              <a:t>decreasing</a:t>
            </a:r>
            <a:r>
              <a:rPr lang="hu-HU" dirty="0"/>
              <a:t> </a:t>
            </a:r>
            <a:r>
              <a:rPr lang="hu-HU" dirty="0" err="1"/>
              <a:t>sorted</a:t>
            </a:r>
            <a:r>
              <a:rPr lang="hu-HU" dirty="0"/>
              <a:t> </a:t>
            </a:r>
            <a:r>
              <a:rPr lang="hu-HU" dirty="0" err="1"/>
              <a:t>order</a:t>
            </a:r>
            <a:endParaRPr lang="hu-HU" dirty="0"/>
          </a:p>
          <a:p>
            <a:pPr lvl="2"/>
            <a:r>
              <a:rPr lang="hu-HU" i="1" dirty="0"/>
              <a:t>U</a:t>
            </a:r>
            <a:r>
              <a:rPr lang="hu-HU" i="1" dirty="0" smtClean="0"/>
              <a:t> </a:t>
            </a:r>
            <a:r>
              <a:rPr lang="hu-HU" dirty="0" smtClean="0"/>
              <a:t>is </a:t>
            </a:r>
            <a:r>
              <a:rPr lang="hu-HU" i="1" dirty="0" smtClean="0"/>
              <a:t>M </a:t>
            </a:r>
            <a:r>
              <a:rPr lang="hu-HU" dirty="0" smtClean="0"/>
              <a:t>x </a:t>
            </a:r>
            <a:r>
              <a:rPr lang="hu-HU" i="1" dirty="0" smtClean="0"/>
              <a:t>M, V </a:t>
            </a:r>
            <a:r>
              <a:rPr lang="hu-HU" dirty="0" smtClean="0"/>
              <a:t>is </a:t>
            </a:r>
            <a:r>
              <a:rPr lang="hu-HU" i="1" dirty="0" smtClean="0"/>
              <a:t>N </a:t>
            </a:r>
            <a:r>
              <a:rPr lang="hu-HU" dirty="0" smtClean="0"/>
              <a:t>x </a:t>
            </a:r>
            <a:r>
              <a:rPr lang="hu-HU" i="1" dirty="0" smtClean="0"/>
              <a:t>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717032"/>
            <a:ext cx="5328592" cy="2875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53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Technical</a:t>
            </a:r>
            <a:r>
              <a:rPr lang="hu-HU" dirty="0"/>
              <a:t> </a:t>
            </a:r>
            <a:r>
              <a:rPr lang="hu-HU" dirty="0" err="1"/>
              <a:t>Implementation</a:t>
            </a:r>
            <a:r>
              <a:rPr lang="hu-HU" dirty="0"/>
              <a:t>: </a:t>
            </a:r>
            <a:r>
              <a:rPr lang="hu-HU" dirty="0" err="1" smtClean="0"/>
              <a:t>LSA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err="1"/>
              <a:t>Latent</a:t>
            </a:r>
            <a:r>
              <a:rPr lang="hu-HU" dirty="0"/>
              <a:t> </a:t>
            </a:r>
            <a:r>
              <a:rPr lang="hu-HU" dirty="0" err="1"/>
              <a:t>semantic</a:t>
            </a:r>
            <a:r>
              <a:rPr lang="hu-HU" dirty="0"/>
              <a:t> </a:t>
            </a:r>
            <a:r>
              <a:rPr lang="hu-HU" dirty="0" err="1"/>
              <a:t>analysis</a:t>
            </a:r>
            <a:r>
              <a:rPr lang="hu-HU" dirty="0"/>
              <a:t> is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a </a:t>
            </a:r>
            <a:r>
              <a:rPr lang="hu-HU" dirty="0" err="1" smtClean="0"/>
              <a:t>low-rank</a:t>
            </a:r>
            <a:r>
              <a:rPr lang="hu-HU" dirty="0" smtClean="0"/>
              <a:t> </a:t>
            </a:r>
            <a:r>
              <a:rPr lang="hu-HU" dirty="0" err="1"/>
              <a:t>approximation</a:t>
            </a:r>
            <a:r>
              <a:rPr lang="hu-HU" dirty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initial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 </a:t>
            </a:r>
            <a:r>
              <a:rPr lang="hu-HU" i="1" dirty="0" smtClean="0"/>
              <a:t>C</a:t>
            </a:r>
            <a:endParaRPr lang="hu-HU" i="1" dirty="0"/>
          </a:p>
          <a:p>
            <a:pPr lvl="1"/>
            <a:r>
              <a:rPr lang="hu-HU" dirty="0" err="1"/>
              <a:t>we</a:t>
            </a:r>
            <a:r>
              <a:rPr lang="hu-HU" dirty="0"/>
              <a:t> </a:t>
            </a:r>
            <a:r>
              <a:rPr lang="hu-HU" dirty="0" err="1"/>
              <a:t>select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first</a:t>
            </a:r>
            <a:r>
              <a:rPr lang="hu-HU" dirty="0"/>
              <a:t> </a:t>
            </a:r>
            <a:r>
              <a:rPr lang="hu-HU" i="1" dirty="0"/>
              <a:t>k </a:t>
            </a:r>
            <a:r>
              <a:rPr lang="hu-HU" dirty="0" err="1" smtClean="0"/>
              <a:t>singular</a:t>
            </a:r>
            <a:r>
              <a:rPr lang="hu-HU" dirty="0" smtClean="0"/>
              <a:t> </a:t>
            </a:r>
            <a:r>
              <a:rPr lang="hu-HU" dirty="0" err="1" smtClean="0"/>
              <a:t>values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el-GR" dirty="0"/>
              <a:t>Σ</a:t>
            </a:r>
            <a:r>
              <a:rPr lang="hu-HU" dirty="0" smtClean="0"/>
              <a:t> </a:t>
            </a:r>
            <a:r>
              <a:rPr lang="hu-HU" dirty="0"/>
              <a:t>(&lt;&lt; </a:t>
            </a:r>
            <a:r>
              <a:rPr lang="hu-HU" i="1" dirty="0"/>
              <a:t>r</a:t>
            </a:r>
            <a:r>
              <a:rPr lang="hu-HU" dirty="0"/>
              <a:t>), </a:t>
            </a:r>
            <a:r>
              <a:rPr lang="hu-HU" dirty="0" err="1"/>
              <a:t>typically</a:t>
            </a:r>
            <a:r>
              <a:rPr lang="hu-HU" dirty="0"/>
              <a:t> 300, </a:t>
            </a:r>
            <a:r>
              <a:rPr lang="hu-HU" dirty="0" err="1"/>
              <a:t>zero</a:t>
            </a:r>
            <a:r>
              <a:rPr lang="hu-HU" dirty="0"/>
              <a:t> out </a:t>
            </a:r>
            <a:r>
              <a:rPr lang="hu-HU" dirty="0" err="1"/>
              <a:t>all</a:t>
            </a:r>
            <a:r>
              <a:rPr lang="hu-HU" dirty="0"/>
              <a:t> </a:t>
            </a:r>
            <a:r>
              <a:rPr lang="hu-HU" dirty="0" err="1"/>
              <a:t>others</a:t>
            </a:r>
            <a:endParaRPr lang="hu-HU" dirty="0"/>
          </a:p>
          <a:p>
            <a:pPr lvl="1"/>
            <a:r>
              <a:rPr lang="hu-HU" i="1" dirty="0" err="1" smtClean="0"/>
              <a:t>C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/>
              <a:t>= </a:t>
            </a:r>
            <a:r>
              <a:rPr lang="hu-HU" i="1" dirty="0"/>
              <a:t>U</a:t>
            </a:r>
            <a:r>
              <a:rPr lang="hu-HU" i="1" dirty="0" smtClean="0"/>
              <a:t> </a:t>
            </a:r>
            <a:r>
              <a:rPr lang="el-GR" dirty="0"/>
              <a:t>Σ</a:t>
            </a:r>
            <a:r>
              <a:rPr lang="hu-HU" i="1" baseline="-25000" dirty="0"/>
              <a:t>k</a:t>
            </a:r>
            <a:r>
              <a:rPr lang="hu-HU" dirty="0"/>
              <a:t> </a:t>
            </a:r>
            <a:r>
              <a:rPr lang="hu-HU" i="1" dirty="0" smtClean="0"/>
              <a:t>V</a:t>
            </a:r>
            <a:r>
              <a:rPr lang="hu-HU" baseline="30000" dirty="0" smtClean="0"/>
              <a:t>T </a:t>
            </a:r>
            <a:r>
              <a:rPr lang="hu-HU" dirty="0"/>
              <a:t>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best</a:t>
            </a:r>
            <a:r>
              <a:rPr lang="hu-HU" dirty="0" smtClean="0"/>
              <a:t> </a:t>
            </a:r>
            <a:r>
              <a:rPr lang="hu-HU" dirty="0" err="1"/>
              <a:t>k-rank</a:t>
            </a:r>
            <a:r>
              <a:rPr lang="hu-HU" dirty="0"/>
              <a:t> </a:t>
            </a:r>
            <a:r>
              <a:rPr lang="hu-HU" dirty="0" err="1"/>
              <a:t>approximation</a:t>
            </a:r>
            <a:r>
              <a:rPr lang="hu-HU" dirty="0"/>
              <a:t> of </a:t>
            </a:r>
            <a:r>
              <a:rPr lang="hu-HU" i="1" dirty="0"/>
              <a:t>C</a:t>
            </a:r>
            <a:endParaRPr lang="hu-HU" i="1" dirty="0" smtClean="0"/>
          </a:p>
          <a:p>
            <a:pPr lvl="2"/>
            <a:r>
              <a:rPr lang="hu-HU" dirty="0" err="1"/>
              <a:t>a</a:t>
            </a:r>
            <a:r>
              <a:rPr lang="hu-HU" dirty="0" err="1" smtClean="0"/>
              <a:t>pproximation</a:t>
            </a:r>
            <a:r>
              <a:rPr lang="hu-HU" dirty="0" smtClean="0"/>
              <a:t> </a:t>
            </a:r>
            <a:r>
              <a:rPr lang="hu-HU" dirty="0" err="1" smtClean="0"/>
              <a:t>means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cosine</a:t>
            </a:r>
            <a:r>
              <a:rPr lang="hu-HU" dirty="0" smtClean="0"/>
              <a:t> </a:t>
            </a:r>
            <a:r>
              <a:rPr lang="hu-HU" dirty="0" err="1" smtClean="0"/>
              <a:t>similarity</a:t>
            </a:r>
            <a:r>
              <a:rPr lang="hu-HU" dirty="0" smtClean="0"/>
              <a:t> of </a:t>
            </a:r>
            <a:r>
              <a:rPr lang="hu-HU" dirty="0" err="1" smtClean="0"/>
              <a:t>any</a:t>
            </a:r>
            <a:r>
              <a:rPr lang="hu-HU" dirty="0" smtClean="0"/>
              <a:t> </a:t>
            </a:r>
            <a:r>
              <a:rPr lang="hu-HU" dirty="0" err="1" smtClean="0"/>
              <a:t>pair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rows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columns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i="1" dirty="0" smtClean="0"/>
              <a:t>C </a:t>
            </a:r>
            <a:r>
              <a:rPr lang="hu-HU" dirty="0" err="1" smtClean="0"/>
              <a:t>will</a:t>
            </a:r>
            <a:r>
              <a:rPr lang="hu-HU" dirty="0" smtClean="0"/>
              <a:t> be </a:t>
            </a:r>
            <a:r>
              <a:rPr lang="hu-HU" dirty="0" err="1" smtClean="0"/>
              <a:t>relatively</a:t>
            </a:r>
            <a:r>
              <a:rPr lang="hu-HU" dirty="0" smtClean="0"/>
              <a:t> </a:t>
            </a:r>
            <a:r>
              <a:rPr lang="hu-HU" dirty="0" err="1" smtClean="0"/>
              <a:t>close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similarity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</a:t>
            </a:r>
            <a:r>
              <a:rPr lang="hu-HU" dirty="0" err="1" smtClean="0"/>
              <a:t>pair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i="1" dirty="0" err="1"/>
              <a:t>C</a:t>
            </a:r>
            <a:r>
              <a:rPr lang="hu-HU" i="1" baseline="-25000" dirty="0" err="1" smtClean="0"/>
              <a:t>k</a:t>
            </a:r>
            <a:endParaRPr lang="hu-HU" i="1" baseline="-25000" dirty="0"/>
          </a:p>
          <a:p>
            <a:pPr lvl="2"/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is </a:t>
            </a:r>
            <a:r>
              <a:rPr lang="hu-HU" dirty="0" err="1" smtClean="0"/>
              <a:t>true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similarities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rows</a:t>
            </a:r>
            <a:r>
              <a:rPr lang="hu-HU" dirty="0" smtClean="0"/>
              <a:t> of </a:t>
            </a:r>
            <a:r>
              <a:rPr lang="hu-HU" i="1" dirty="0" smtClean="0"/>
              <a:t>U,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columns</a:t>
            </a:r>
            <a:r>
              <a:rPr lang="hu-HU" dirty="0" smtClean="0"/>
              <a:t> of </a:t>
            </a:r>
            <a:r>
              <a:rPr lang="hu-HU" i="1" dirty="0" smtClean="0"/>
              <a:t>V</a:t>
            </a:r>
          </a:p>
          <a:p>
            <a:pPr lvl="2"/>
            <a:r>
              <a:rPr lang="hu-HU" dirty="0" err="1" smtClean="0"/>
              <a:t>since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first</a:t>
            </a:r>
            <a:r>
              <a:rPr lang="hu-HU" dirty="0" smtClean="0"/>
              <a:t> </a:t>
            </a:r>
            <a:r>
              <a:rPr lang="hu-HU" i="1" dirty="0" smtClean="0"/>
              <a:t>k</a:t>
            </a:r>
            <a:r>
              <a:rPr lang="hu-HU" dirty="0" smtClean="0"/>
              <a:t> </a:t>
            </a:r>
            <a:r>
              <a:rPr lang="hu-HU" dirty="0" err="1" smtClean="0"/>
              <a:t>columns</a:t>
            </a:r>
            <a:r>
              <a:rPr lang="hu-HU" dirty="0" smtClean="0"/>
              <a:t> of </a:t>
            </a:r>
            <a:r>
              <a:rPr lang="hu-HU" i="1" dirty="0" smtClean="0"/>
              <a:t>U </a:t>
            </a:r>
            <a:r>
              <a:rPr lang="hu-HU" dirty="0" smtClean="0"/>
              <a:t>and </a:t>
            </a:r>
            <a:r>
              <a:rPr lang="hu-HU" dirty="0" err="1" smtClean="0"/>
              <a:t>rows</a:t>
            </a:r>
            <a:r>
              <a:rPr lang="hu-HU" dirty="0" smtClean="0"/>
              <a:t> of </a:t>
            </a:r>
            <a:r>
              <a:rPr lang="hu-HU" i="1" dirty="0" smtClean="0"/>
              <a:t>V</a:t>
            </a:r>
            <a:r>
              <a:rPr lang="hu-HU" baseline="30000" dirty="0" smtClean="0"/>
              <a:t>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taken</a:t>
            </a:r>
            <a:r>
              <a:rPr lang="hu-HU" dirty="0" smtClean="0"/>
              <a:t> </a:t>
            </a:r>
            <a:r>
              <a:rPr lang="hu-HU" dirty="0" err="1" smtClean="0"/>
              <a:t>into</a:t>
            </a:r>
            <a:r>
              <a:rPr lang="hu-HU" dirty="0" smtClean="0"/>
              <a:t> </a:t>
            </a:r>
            <a:r>
              <a:rPr lang="hu-HU" dirty="0" err="1" smtClean="0"/>
              <a:t>consideration</a:t>
            </a:r>
            <a:r>
              <a:rPr lang="hu-HU" dirty="0" smtClean="0"/>
              <a:t> </a:t>
            </a:r>
            <a:r>
              <a:rPr lang="hu-HU" dirty="0" err="1" smtClean="0"/>
              <a:t>while</a:t>
            </a:r>
            <a:r>
              <a:rPr lang="hu-HU" dirty="0" smtClean="0"/>
              <a:t> </a:t>
            </a:r>
            <a:r>
              <a:rPr lang="hu-HU" dirty="0" err="1" smtClean="0"/>
              <a:t>calculating</a:t>
            </a:r>
            <a:r>
              <a:rPr lang="hu-HU" dirty="0" smtClean="0"/>
              <a:t> </a:t>
            </a:r>
            <a:r>
              <a:rPr lang="hu-HU" i="1" dirty="0" err="1" smtClean="0"/>
              <a:t>C</a:t>
            </a:r>
            <a:r>
              <a:rPr lang="hu-HU" i="1" baseline="-25000" dirty="0" err="1" smtClean="0"/>
              <a:t>k</a:t>
            </a:r>
            <a:r>
              <a:rPr lang="hu-HU" i="1" dirty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zeroed</a:t>
            </a:r>
            <a:r>
              <a:rPr lang="hu-HU" dirty="0" smtClean="0"/>
              <a:t> out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multiplication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el-GR" dirty="0"/>
              <a:t>Σ</a:t>
            </a:r>
            <a:r>
              <a:rPr lang="hu-HU" i="1" baseline="-25000" dirty="0"/>
              <a:t>k</a:t>
            </a:r>
            <a:r>
              <a:rPr lang="hu-HU" dirty="0" smtClean="0"/>
              <a:t>),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further</a:t>
            </a:r>
            <a:r>
              <a:rPr lang="hu-HU" dirty="0" smtClean="0"/>
              <a:t> </a:t>
            </a:r>
            <a:r>
              <a:rPr lang="hu-HU" dirty="0" err="1" smtClean="0"/>
              <a:t>columns</a:t>
            </a:r>
            <a:r>
              <a:rPr lang="hu-HU" dirty="0" smtClean="0"/>
              <a:t> and </a:t>
            </a:r>
            <a:r>
              <a:rPr lang="hu-HU" dirty="0" err="1" smtClean="0"/>
              <a:t>rows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truncated</a:t>
            </a:r>
            <a:r>
              <a:rPr lang="hu-HU" dirty="0" smtClean="0"/>
              <a:t>, </a:t>
            </a:r>
            <a:r>
              <a:rPr lang="hu-HU" dirty="0" err="1" smtClean="0"/>
              <a:t>thus</a:t>
            </a:r>
            <a:r>
              <a:rPr lang="hu-HU" dirty="0" smtClean="0"/>
              <a:t> </a:t>
            </a:r>
            <a:r>
              <a:rPr lang="hu-HU" i="1" dirty="0" smtClean="0"/>
              <a:t>U </a:t>
            </a:r>
            <a:r>
              <a:rPr lang="hu-HU" dirty="0" smtClean="0"/>
              <a:t>is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i="1" dirty="0" smtClean="0"/>
              <a:t>M </a:t>
            </a:r>
            <a:r>
              <a:rPr lang="hu-HU" dirty="0" smtClean="0"/>
              <a:t>x </a:t>
            </a:r>
            <a:r>
              <a:rPr lang="hu-HU" i="1" dirty="0" smtClean="0"/>
              <a:t>k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i="1" dirty="0" smtClean="0"/>
              <a:t>M </a:t>
            </a:r>
            <a:r>
              <a:rPr lang="hu-HU" dirty="0" smtClean="0"/>
              <a:t>x </a:t>
            </a:r>
            <a:r>
              <a:rPr lang="hu-HU" i="1" dirty="0" smtClean="0"/>
              <a:t>N, </a:t>
            </a:r>
            <a:r>
              <a:rPr lang="hu-HU" dirty="0" smtClean="0"/>
              <a:t>and </a:t>
            </a:r>
            <a:r>
              <a:rPr lang="hu-HU" i="1" dirty="0"/>
              <a:t>V</a:t>
            </a:r>
            <a:r>
              <a:rPr lang="hu-HU" baseline="30000" dirty="0"/>
              <a:t>T</a:t>
            </a:r>
            <a:r>
              <a:rPr lang="hu-HU" dirty="0" smtClean="0"/>
              <a:t> is </a:t>
            </a:r>
            <a:r>
              <a:rPr lang="hu-HU" i="1" dirty="0" smtClean="0"/>
              <a:t>k</a:t>
            </a:r>
            <a:r>
              <a:rPr lang="hu-HU" dirty="0" smtClean="0"/>
              <a:t> x </a:t>
            </a:r>
            <a:r>
              <a:rPr lang="hu-HU" i="1" dirty="0" smtClean="0"/>
              <a:t>N</a:t>
            </a:r>
          </a:p>
          <a:p>
            <a:pPr lvl="3"/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k-rank</a:t>
            </a:r>
            <a:r>
              <a:rPr lang="hu-HU" dirty="0" smtClean="0"/>
              <a:t> </a:t>
            </a:r>
            <a:r>
              <a:rPr lang="hu-HU" dirty="0" err="1" smtClean="0"/>
              <a:t>term</a:t>
            </a:r>
            <a:r>
              <a:rPr lang="hu-HU" dirty="0" smtClean="0"/>
              <a:t> and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 </a:t>
            </a:r>
            <a:r>
              <a:rPr lang="hu-HU" dirty="0" err="1" smtClean="0"/>
              <a:t>respectively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LSI</a:t>
            </a:r>
            <a:endParaRPr lang="hu-HU" dirty="0" smtClean="0"/>
          </a:p>
          <a:p>
            <a:pPr lvl="1"/>
            <a:r>
              <a:rPr lang="hu-HU" dirty="0" err="1" smtClean="0"/>
              <a:t>Latent</a:t>
            </a:r>
            <a:r>
              <a:rPr lang="hu-HU" dirty="0" smtClean="0"/>
              <a:t> </a:t>
            </a:r>
            <a:r>
              <a:rPr lang="hu-HU" dirty="0" err="1" smtClean="0"/>
              <a:t>semantic</a:t>
            </a:r>
            <a:r>
              <a:rPr lang="hu-HU" dirty="0" smtClean="0"/>
              <a:t> indexing (</a:t>
            </a:r>
            <a:r>
              <a:rPr lang="hu-HU" dirty="0" err="1" smtClean="0"/>
              <a:t>LSI</a:t>
            </a:r>
            <a:r>
              <a:rPr lang="hu-HU" dirty="0" smtClean="0"/>
              <a:t>) </a:t>
            </a:r>
            <a:r>
              <a:rPr lang="hu-HU" dirty="0" err="1" smtClean="0"/>
              <a:t>allows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user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transform</a:t>
            </a:r>
            <a:r>
              <a:rPr lang="hu-HU" dirty="0" smtClean="0"/>
              <a:t> </a:t>
            </a:r>
            <a:r>
              <a:rPr lang="hu-HU" dirty="0" err="1" smtClean="0"/>
              <a:t>any</a:t>
            </a:r>
            <a:r>
              <a:rPr lang="hu-HU" dirty="0" smtClean="0"/>
              <a:t> </a:t>
            </a:r>
            <a:r>
              <a:rPr lang="hu-HU" dirty="0" err="1" smtClean="0"/>
              <a:t>query</a:t>
            </a:r>
            <a:r>
              <a:rPr lang="hu-HU" dirty="0" smtClean="0"/>
              <a:t> (</a:t>
            </a:r>
            <a:r>
              <a:rPr lang="hu-HU" dirty="0" err="1" smtClean="0"/>
              <a:t>document</a:t>
            </a:r>
            <a:r>
              <a:rPr lang="hu-HU" dirty="0" smtClean="0"/>
              <a:t>) </a:t>
            </a:r>
            <a:r>
              <a:rPr lang="hu-HU" dirty="0" err="1" smtClean="0"/>
              <a:t>that</a:t>
            </a:r>
            <a:r>
              <a:rPr lang="hu-HU" dirty="0" smtClean="0"/>
              <a:t> has </a:t>
            </a:r>
            <a:r>
              <a:rPr lang="hu-HU" dirty="0" err="1" smtClean="0"/>
              <a:t>been</a:t>
            </a:r>
            <a:r>
              <a:rPr lang="hu-HU" dirty="0" smtClean="0"/>
              <a:t> </a:t>
            </a:r>
            <a:r>
              <a:rPr lang="hu-HU" dirty="0" err="1" smtClean="0"/>
              <a:t>converted</a:t>
            </a:r>
            <a:r>
              <a:rPr lang="hu-HU" dirty="0" smtClean="0"/>
              <a:t> </a:t>
            </a:r>
            <a:r>
              <a:rPr lang="hu-HU" dirty="0" err="1" smtClean="0"/>
              <a:t>into</a:t>
            </a:r>
            <a:r>
              <a:rPr lang="hu-HU" dirty="0" smtClean="0"/>
              <a:t> an </a:t>
            </a:r>
            <a:r>
              <a:rPr lang="hu-HU" i="1" dirty="0" err="1" smtClean="0"/>
              <a:t>M</a:t>
            </a:r>
            <a:r>
              <a:rPr lang="hu-HU" dirty="0" err="1" smtClean="0"/>
              <a:t>-dimensional</a:t>
            </a:r>
            <a:r>
              <a:rPr lang="hu-HU" dirty="0" smtClean="0"/>
              <a:t> </a:t>
            </a:r>
            <a:r>
              <a:rPr lang="hu-HU" dirty="0" err="1" smtClean="0"/>
              <a:t>query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i="1" dirty="0" smtClean="0"/>
              <a:t>q </a:t>
            </a:r>
            <a:r>
              <a:rPr lang="hu-HU" dirty="0" smtClean="0"/>
              <a:t>(</a:t>
            </a:r>
            <a:r>
              <a:rPr lang="hu-HU" i="1" dirty="0" smtClean="0"/>
              <a:t>M </a:t>
            </a:r>
            <a:r>
              <a:rPr lang="hu-HU" dirty="0" smtClean="0"/>
              <a:t>= </a:t>
            </a:r>
            <a:r>
              <a:rPr lang="hu-HU" dirty="0" err="1" smtClean="0"/>
              <a:t>vocabulary</a:t>
            </a:r>
            <a:r>
              <a:rPr lang="hu-HU" dirty="0" smtClean="0"/>
              <a:t> </a:t>
            </a:r>
            <a:r>
              <a:rPr lang="hu-HU" dirty="0" err="1" smtClean="0"/>
              <a:t>size</a:t>
            </a:r>
            <a:r>
              <a:rPr lang="hu-HU" dirty="0" smtClean="0"/>
              <a:t>) </a:t>
            </a:r>
            <a:r>
              <a:rPr lang="hu-HU" dirty="0" err="1" smtClean="0"/>
              <a:t>into</a:t>
            </a:r>
            <a:r>
              <a:rPr lang="hu-HU" dirty="0" smtClean="0"/>
              <a:t> a </a:t>
            </a:r>
            <a:r>
              <a:rPr lang="hu-HU" dirty="0" err="1" smtClean="0"/>
              <a:t>truncated</a:t>
            </a:r>
            <a:r>
              <a:rPr lang="hu-HU" dirty="0" smtClean="0"/>
              <a:t> </a:t>
            </a:r>
            <a:r>
              <a:rPr lang="hu-HU" i="1" dirty="0" err="1" smtClean="0"/>
              <a:t>k</a:t>
            </a:r>
            <a:r>
              <a:rPr lang="hu-HU" dirty="0" err="1" smtClean="0"/>
              <a:t>-dimensional</a:t>
            </a:r>
            <a:r>
              <a:rPr lang="hu-HU" dirty="0" smtClean="0"/>
              <a:t> </a:t>
            </a:r>
            <a:r>
              <a:rPr lang="hu-HU" dirty="0" err="1" smtClean="0"/>
              <a:t>query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i="1" dirty="0" err="1" smtClean="0"/>
              <a:t>q</a:t>
            </a:r>
            <a:r>
              <a:rPr lang="hu-HU" i="1" baseline="-25000" dirty="0" err="1" smtClean="0"/>
              <a:t>k</a:t>
            </a:r>
            <a:endParaRPr lang="hu-HU" i="1" baseline="-25000" dirty="0" smtClean="0"/>
          </a:p>
          <a:p>
            <a:pPr lvl="2"/>
            <a:r>
              <a:rPr lang="hu-HU" i="1" dirty="0" err="1" smtClean="0"/>
              <a:t>q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 smtClean="0"/>
              <a:t>= </a:t>
            </a:r>
            <a:r>
              <a:rPr lang="el-GR" dirty="0" smtClean="0"/>
              <a:t>Σ</a:t>
            </a:r>
            <a:r>
              <a:rPr lang="hu-HU" baseline="30000" dirty="0" smtClean="0"/>
              <a:t>-1</a:t>
            </a:r>
            <a:r>
              <a:rPr lang="hu-HU" dirty="0" smtClean="0"/>
              <a:t> </a:t>
            </a:r>
            <a:r>
              <a:rPr lang="hu-HU" dirty="0" err="1" smtClean="0"/>
              <a:t>U</a:t>
            </a:r>
            <a:r>
              <a:rPr lang="hu-HU" baseline="-25000" dirty="0" err="1" smtClean="0"/>
              <a:t>k</a:t>
            </a:r>
            <a:r>
              <a:rPr lang="hu-HU" baseline="30000" dirty="0" err="1" smtClean="0"/>
              <a:t>T</a:t>
            </a:r>
            <a:r>
              <a:rPr lang="hu-HU" dirty="0" smtClean="0"/>
              <a:t> </a:t>
            </a:r>
            <a:r>
              <a:rPr lang="hu-HU" i="1" dirty="0" smtClean="0"/>
              <a:t>q, </a:t>
            </a:r>
            <a:r>
              <a:rPr lang="hu-HU" dirty="0" err="1" smtClean="0"/>
              <a:t>where</a:t>
            </a:r>
            <a:r>
              <a:rPr lang="hu-HU" dirty="0" smtClean="0"/>
              <a:t> </a:t>
            </a:r>
            <a:r>
              <a:rPr lang="hu-HU" i="1" dirty="0" err="1" smtClean="0"/>
              <a:t>U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 smtClean="0"/>
              <a:t>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i="1" dirty="0" smtClean="0"/>
              <a:t>U </a:t>
            </a:r>
            <a:r>
              <a:rPr lang="hu-HU" dirty="0" err="1" smtClean="0"/>
              <a:t>matrix</a:t>
            </a:r>
            <a:r>
              <a:rPr lang="hu-HU" dirty="0" smtClean="0"/>
              <a:t> </a:t>
            </a:r>
            <a:r>
              <a:rPr lang="hu-HU" dirty="0" err="1" smtClean="0"/>
              <a:t>truncated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first</a:t>
            </a:r>
            <a:r>
              <a:rPr lang="hu-HU" dirty="0" smtClean="0"/>
              <a:t> </a:t>
            </a:r>
            <a:r>
              <a:rPr lang="hu-HU" i="1" dirty="0" smtClean="0"/>
              <a:t>k </a:t>
            </a:r>
            <a:r>
              <a:rPr lang="hu-HU" dirty="0" err="1" smtClean="0"/>
              <a:t>columns</a:t>
            </a:r>
            <a:endParaRPr lang="hu-HU" i="1" dirty="0" smtClean="0"/>
          </a:p>
          <a:p>
            <a:pPr lvl="2"/>
            <a:r>
              <a:rPr lang="hu-HU" dirty="0" err="1" smtClean="0"/>
              <a:t>calculating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dot</a:t>
            </a:r>
            <a:r>
              <a:rPr lang="hu-HU" dirty="0" smtClean="0"/>
              <a:t> </a:t>
            </a:r>
            <a:r>
              <a:rPr lang="hu-HU" dirty="0" err="1" smtClean="0"/>
              <a:t>product</a:t>
            </a:r>
            <a:r>
              <a:rPr lang="hu-HU" dirty="0" smtClean="0"/>
              <a:t> </a:t>
            </a:r>
            <a:r>
              <a:rPr lang="hu-HU" i="1" dirty="0" err="1" smtClean="0"/>
              <a:t>V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i="1" dirty="0" err="1" smtClean="0"/>
              <a:t>q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 err="1" smtClean="0"/>
              <a:t>gives</a:t>
            </a:r>
            <a:r>
              <a:rPr lang="hu-HU" dirty="0" smtClean="0"/>
              <a:t> </a:t>
            </a:r>
            <a:r>
              <a:rPr lang="hu-HU" dirty="0" err="1" smtClean="0"/>
              <a:t>us</a:t>
            </a:r>
            <a:r>
              <a:rPr lang="hu-HU" dirty="0" smtClean="0"/>
              <a:t> a </a:t>
            </a:r>
            <a:r>
              <a:rPr lang="hu-HU" dirty="0" err="1" smtClean="0"/>
              <a:t>vector</a:t>
            </a:r>
            <a:r>
              <a:rPr lang="hu-HU" dirty="0" smtClean="0"/>
              <a:t> of </a:t>
            </a:r>
            <a:r>
              <a:rPr lang="hu-HU" dirty="0" err="1" smtClean="0"/>
              <a:t>cosine</a:t>
            </a:r>
            <a:r>
              <a:rPr lang="hu-HU" dirty="0" smtClean="0"/>
              <a:t> </a:t>
            </a:r>
            <a:r>
              <a:rPr lang="hu-HU" dirty="0" err="1" smtClean="0"/>
              <a:t>similarities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row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i="1" dirty="0" err="1" smtClean="0"/>
              <a:t>V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hand</a:t>
            </a:r>
            <a:r>
              <a:rPr lang="hu-HU" dirty="0" smtClean="0"/>
              <a:t> and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i="1" dirty="0" err="1" smtClean="0"/>
              <a:t>q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(</a:t>
            </a:r>
            <a:r>
              <a:rPr lang="hu-HU" dirty="0" err="1" smtClean="0"/>
              <a:t>assuming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of unit </a:t>
            </a:r>
            <a:r>
              <a:rPr lang="hu-HU" dirty="0" err="1" smtClean="0"/>
              <a:t>length</a:t>
            </a:r>
            <a:r>
              <a:rPr lang="hu-HU" dirty="0" smtClean="0"/>
              <a:t>)</a:t>
            </a:r>
          </a:p>
          <a:p>
            <a:pPr lvl="2"/>
            <a:r>
              <a:rPr lang="hu-HU" dirty="0" err="1" smtClean="0"/>
              <a:t>sorting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rows</a:t>
            </a:r>
            <a:r>
              <a:rPr lang="hu-HU" dirty="0" smtClean="0"/>
              <a:t> of </a:t>
            </a:r>
            <a:r>
              <a:rPr lang="hu-HU" i="1" dirty="0" err="1" smtClean="0"/>
              <a:t>V</a:t>
            </a:r>
            <a:r>
              <a:rPr lang="hu-HU" i="1" baseline="-25000" dirty="0" err="1" smtClean="0"/>
              <a:t>k</a:t>
            </a:r>
            <a:r>
              <a:rPr lang="hu-HU" i="1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corresponding</a:t>
            </a:r>
            <a:r>
              <a:rPr lang="hu-HU" dirty="0" smtClean="0"/>
              <a:t> </a:t>
            </a:r>
            <a:r>
              <a:rPr lang="hu-HU" dirty="0" err="1" smtClean="0"/>
              <a:t>elements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product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is </a:t>
            </a:r>
            <a:r>
              <a:rPr lang="hu-HU" dirty="0" err="1" smtClean="0"/>
              <a:t>equivalent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sorting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documents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their</a:t>
            </a:r>
            <a:r>
              <a:rPr lang="hu-HU" dirty="0" smtClean="0"/>
              <a:t> </a:t>
            </a:r>
            <a:r>
              <a:rPr lang="hu-HU" dirty="0" err="1" smtClean="0"/>
              <a:t>similarity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query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795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smtClean="0"/>
              <a:t>word2vec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55000" lnSpcReduction="20000"/>
          </a:bodyPr>
          <a:lstStyle/>
          <a:p>
            <a:r>
              <a:rPr lang="hu-HU" dirty="0" err="1" smtClean="0"/>
              <a:t>We</a:t>
            </a:r>
            <a:r>
              <a:rPr lang="hu-HU" dirty="0" smtClean="0"/>
              <a:t> start out </a:t>
            </a:r>
            <a:r>
              <a:rPr lang="hu-HU" dirty="0" err="1" smtClean="0"/>
              <a:t>with</a:t>
            </a:r>
            <a:r>
              <a:rPr lang="hu-HU" dirty="0" smtClean="0"/>
              <a:t> a </a:t>
            </a:r>
            <a:r>
              <a:rPr lang="hu-HU" dirty="0" err="1" smtClean="0"/>
              <a:t>large</a:t>
            </a:r>
            <a:r>
              <a:rPr lang="hu-HU" dirty="0" smtClean="0"/>
              <a:t> </a:t>
            </a:r>
            <a:r>
              <a:rPr lang="hu-HU" dirty="0" err="1" smtClean="0"/>
              <a:t>raw</a:t>
            </a:r>
            <a:r>
              <a:rPr lang="hu-HU" dirty="0" smtClean="0"/>
              <a:t> corpus </a:t>
            </a:r>
            <a:r>
              <a:rPr lang="hu-HU" dirty="0" err="1" smtClean="0"/>
              <a:t>containing</a:t>
            </a:r>
            <a:r>
              <a:rPr lang="hu-HU" dirty="0" smtClean="0"/>
              <a:t> </a:t>
            </a:r>
            <a:r>
              <a:rPr lang="hu-HU" dirty="0" err="1" smtClean="0"/>
              <a:t>billions</a:t>
            </a:r>
            <a:r>
              <a:rPr lang="hu-HU" dirty="0" smtClean="0"/>
              <a:t> of </a:t>
            </a:r>
            <a:r>
              <a:rPr lang="hu-HU" dirty="0" err="1" smtClean="0"/>
              <a:t>tokens</a:t>
            </a:r>
            <a:endParaRPr lang="hu-HU" dirty="0" smtClean="0"/>
          </a:p>
          <a:p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assign</a:t>
            </a:r>
            <a:r>
              <a:rPr lang="hu-HU" dirty="0" smtClean="0"/>
              <a:t> </a:t>
            </a:r>
            <a:r>
              <a:rPr lang="hu-HU" dirty="0" err="1" smtClean="0"/>
              <a:t>two</a:t>
            </a:r>
            <a:r>
              <a:rPr lang="hu-HU" dirty="0" smtClean="0"/>
              <a:t> random </a:t>
            </a:r>
            <a:r>
              <a:rPr lang="hu-HU" dirty="0" err="1" smtClean="0"/>
              <a:t>vectors</a:t>
            </a:r>
            <a:r>
              <a:rPr lang="hu-HU" dirty="0" smtClean="0"/>
              <a:t> of </a:t>
            </a:r>
            <a:r>
              <a:rPr lang="hu-HU" i="1" dirty="0" smtClean="0"/>
              <a:t>k </a:t>
            </a:r>
            <a:r>
              <a:rPr lang="hu-HU" dirty="0" smtClean="0"/>
              <a:t>(</a:t>
            </a:r>
            <a:r>
              <a:rPr lang="hu-HU" dirty="0" err="1" smtClean="0"/>
              <a:t>normally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range</a:t>
            </a:r>
            <a:r>
              <a:rPr lang="hu-HU" dirty="0" smtClean="0"/>
              <a:t> 300 </a:t>
            </a:r>
            <a:r>
              <a:rPr lang="hu-HU" dirty="0" err="1" smtClean="0"/>
              <a:t>to</a:t>
            </a:r>
            <a:r>
              <a:rPr lang="hu-HU" dirty="0" smtClean="0"/>
              <a:t> 1000) </a:t>
            </a:r>
            <a:r>
              <a:rPr lang="hu-HU" dirty="0" err="1" smtClean="0"/>
              <a:t>floats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. </a:t>
            </a:r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dirty="0" err="1" smtClean="0"/>
              <a:t>our</a:t>
            </a:r>
            <a:r>
              <a:rPr lang="hu-HU" dirty="0" smtClean="0"/>
              <a:t> </a:t>
            </a:r>
            <a:r>
              <a:rPr lang="hu-HU" dirty="0" err="1" smtClean="0"/>
              <a:t>dictionary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Two</a:t>
            </a:r>
            <a:r>
              <a:rPr lang="hu-HU" dirty="0" smtClean="0"/>
              <a:t> </a:t>
            </a:r>
            <a:r>
              <a:rPr lang="hu-HU" dirty="0" err="1" smtClean="0"/>
              <a:t>matrices</a:t>
            </a:r>
            <a:r>
              <a:rPr lang="hu-HU" dirty="0" smtClean="0"/>
              <a:t>, </a:t>
            </a:r>
            <a:r>
              <a:rPr lang="hu-HU" i="1" dirty="0" smtClean="0"/>
              <a:t>W </a:t>
            </a:r>
            <a:r>
              <a:rPr lang="hu-HU" dirty="0" smtClean="0"/>
              <a:t>(</a:t>
            </a:r>
            <a:r>
              <a:rPr lang="hu-HU" dirty="0" err="1" smtClean="0"/>
              <a:t>target</a:t>
            </a:r>
            <a:r>
              <a:rPr lang="hu-HU" dirty="0" smtClean="0"/>
              <a:t> </a:t>
            </a:r>
            <a:r>
              <a:rPr lang="hu-HU" b="1" dirty="0" err="1" smtClean="0"/>
              <a:t>w</a:t>
            </a:r>
            <a:r>
              <a:rPr lang="hu-HU" dirty="0" err="1" smtClean="0"/>
              <a:t>ords</a:t>
            </a:r>
            <a:r>
              <a:rPr lang="hu-HU" dirty="0" smtClean="0"/>
              <a:t>) and </a:t>
            </a:r>
            <a:r>
              <a:rPr lang="hu-HU" i="1" dirty="0" smtClean="0"/>
              <a:t>C </a:t>
            </a:r>
            <a:r>
              <a:rPr lang="hu-HU" dirty="0" smtClean="0"/>
              <a:t>(</a:t>
            </a:r>
            <a:r>
              <a:rPr lang="hu-HU" b="1" dirty="0" err="1" smtClean="0"/>
              <a:t>c</a:t>
            </a:r>
            <a:r>
              <a:rPr lang="hu-HU" dirty="0" err="1" smtClean="0"/>
              <a:t>ontext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),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i="1" dirty="0" smtClean="0"/>
              <a:t>V </a:t>
            </a:r>
            <a:r>
              <a:rPr lang="hu-HU" dirty="0" smtClean="0"/>
              <a:t>x </a:t>
            </a:r>
            <a:r>
              <a:rPr lang="hu-HU" i="1" dirty="0" smtClean="0"/>
              <a:t>k, V </a:t>
            </a:r>
            <a:r>
              <a:rPr lang="hu-HU" dirty="0" smtClean="0"/>
              <a:t>being </a:t>
            </a:r>
            <a:r>
              <a:rPr lang="hu-HU" dirty="0" err="1" smtClean="0"/>
              <a:t>vocabulary</a:t>
            </a:r>
            <a:r>
              <a:rPr lang="hu-HU" dirty="0" smtClean="0"/>
              <a:t> </a:t>
            </a:r>
            <a:r>
              <a:rPr lang="hu-HU" dirty="0" err="1" smtClean="0"/>
              <a:t>size</a:t>
            </a:r>
            <a:endParaRPr lang="hu-HU" dirty="0" smtClean="0"/>
          </a:p>
          <a:p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iterate</a:t>
            </a:r>
            <a:r>
              <a:rPr lang="hu-HU" dirty="0" smtClean="0"/>
              <a:t> over </a:t>
            </a:r>
            <a:r>
              <a:rPr lang="hu-HU" dirty="0" err="1" smtClean="0"/>
              <a:t>every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corpus, </a:t>
            </a:r>
            <a:r>
              <a:rPr lang="hu-HU" dirty="0" err="1" smtClean="0"/>
              <a:t>select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n (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, 5)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left</a:t>
            </a:r>
            <a:r>
              <a:rPr lang="hu-HU" dirty="0" smtClean="0"/>
              <a:t> and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right </a:t>
            </a:r>
            <a:r>
              <a:rPr lang="hu-HU" dirty="0" err="1" smtClean="0"/>
              <a:t>around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move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belonging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center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mutually</a:t>
            </a:r>
            <a:r>
              <a:rPr lang="hu-HU" dirty="0" smtClean="0"/>
              <a:t> </a:t>
            </a:r>
            <a:r>
              <a:rPr lang="hu-HU" dirty="0" err="1" smtClean="0"/>
              <a:t>closer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.</a:t>
            </a:r>
          </a:p>
          <a:p>
            <a:pPr lvl="2"/>
            <a:r>
              <a:rPr lang="hu-HU" dirty="0" smtClean="0"/>
              <a:t>Over </a:t>
            </a:r>
            <a:r>
              <a:rPr lang="hu-HU" dirty="0" err="1" smtClean="0"/>
              <a:t>time</a:t>
            </a:r>
            <a:r>
              <a:rPr lang="hu-HU" dirty="0" smtClean="0"/>
              <a:t>, </a:t>
            </a:r>
            <a:r>
              <a:rPr lang="hu-HU" dirty="0" err="1" smtClean="0"/>
              <a:t>vectors</a:t>
            </a:r>
            <a:r>
              <a:rPr lang="hu-HU" dirty="0" smtClean="0"/>
              <a:t> of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appear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contexts</a:t>
            </a:r>
            <a:r>
              <a:rPr lang="hu-HU" dirty="0" smtClean="0"/>
              <a:t> </a:t>
            </a:r>
            <a:r>
              <a:rPr lang="hu-HU" dirty="0" err="1" smtClean="0"/>
              <a:t>will</a:t>
            </a:r>
            <a:r>
              <a:rPr lang="hu-HU" dirty="0" smtClean="0"/>
              <a:t> end </a:t>
            </a:r>
            <a:r>
              <a:rPr lang="hu-HU" dirty="0" err="1" smtClean="0"/>
              <a:t>up</a:t>
            </a:r>
            <a:r>
              <a:rPr lang="hu-HU" dirty="0" smtClean="0"/>
              <a:t> </a:t>
            </a:r>
            <a:r>
              <a:rPr lang="hu-HU" dirty="0" err="1" smtClean="0"/>
              <a:t>close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randomly</a:t>
            </a:r>
            <a:r>
              <a:rPr lang="hu-HU" dirty="0" smtClean="0"/>
              <a:t> </a:t>
            </a:r>
            <a:r>
              <a:rPr lang="hu-HU" dirty="0" err="1" smtClean="0"/>
              <a:t>sample</a:t>
            </a:r>
            <a:r>
              <a:rPr lang="hu-HU" dirty="0" smtClean="0"/>
              <a:t> 10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vocabulary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a </a:t>
            </a:r>
            <a:r>
              <a:rPr lang="hu-HU" dirty="0" err="1" smtClean="0"/>
              <a:t>negative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, i.e.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were</a:t>
            </a:r>
            <a:r>
              <a:rPr lang="hu-HU" dirty="0" smtClean="0"/>
              <a:t> </a:t>
            </a:r>
            <a:r>
              <a:rPr lang="hu-HU" b="1" dirty="0" err="1" smtClean="0"/>
              <a:t>not</a:t>
            </a:r>
            <a:r>
              <a:rPr lang="hu-HU" b="1" dirty="0" smtClean="0"/>
              <a:t> </a:t>
            </a:r>
            <a:r>
              <a:rPr lang="hu-HU" dirty="0" err="1" smtClean="0"/>
              <a:t>seen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center </a:t>
            </a:r>
            <a:r>
              <a:rPr lang="hu-HU" dirty="0" err="1" smtClean="0"/>
              <a:t>token</a:t>
            </a:r>
            <a:r>
              <a:rPr lang="hu-HU" dirty="0" smtClean="0"/>
              <a:t>.</a:t>
            </a:r>
            <a:endParaRPr lang="hu-HU" dirty="0"/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vectors</a:t>
            </a:r>
            <a:r>
              <a:rPr lang="hu-HU" dirty="0" smtClean="0"/>
              <a:t> of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negative</a:t>
            </a:r>
            <a:r>
              <a:rPr lang="hu-HU" dirty="0" smtClean="0"/>
              <a:t> </a:t>
            </a:r>
            <a:r>
              <a:rPr lang="hu-HU" dirty="0" err="1" smtClean="0"/>
              <a:t>sample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moved</a:t>
            </a:r>
            <a:r>
              <a:rPr lang="hu-HU" dirty="0" smtClean="0"/>
              <a:t> </a:t>
            </a:r>
            <a:r>
              <a:rPr lang="hu-HU" dirty="0" err="1" smtClean="0"/>
              <a:t>mutually</a:t>
            </a:r>
            <a:r>
              <a:rPr lang="hu-HU" dirty="0" smtClean="0"/>
              <a:t> </a:t>
            </a:r>
            <a:r>
              <a:rPr lang="hu-HU" dirty="0" err="1" smtClean="0"/>
              <a:t>further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center </a:t>
            </a:r>
            <a:r>
              <a:rPr lang="hu-HU" dirty="0" err="1" smtClean="0"/>
              <a:t>token</a:t>
            </a:r>
            <a:r>
              <a:rPr lang="hu-HU" dirty="0" smtClean="0"/>
              <a:t>’s </a:t>
            </a:r>
            <a:r>
              <a:rPr lang="hu-HU" dirty="0" err="1" smtClean="0"/>
              <a:t>vector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Without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negative</a:t>
            </a:r>
            <a:r>
              <a:rPr lang="hu-HU" dirty="0" smtClean="0"/>
              <a:t> </a:t>
            </a:r>
            <a:r>
              <a:rPr lang="hu-HU" dirty="0" err="1" smtClean="0"/>
              <a:t>sampling</a:t>
            </a:r>
            <a:r>
              <a:rPr lang="hu-HU" dirty="0" smtClean="0"/>
              <a:t>,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would</a:t>
            </a:r>
            <a:r>
              <a:rPr lang="hu-HU" dirty="0" smtClean="0"/>
              <a:t> </a:t>
            </a:r>
            <a:r>
              <a:rPr lang="hu-HU" dirty="0" err="1" smtClean="0"/>
              <a:t>always</a:t>
            </a:r>
            <a:r>
              <a:rPr lang="hu-HU" dirty="0" smtClean="0"/>
              <a:t> </a:t>
            </a:r>
            <a:r>
              <a:rPr lang="hu-HU" dirty="0" err="1" smtClean="0"/>
              <a:t>move</a:t>
            </a:r>
            <a:r>
              <a:rPr lang="hu-HU" dirty="0" smtClean="0"/>
              <a:t> </a:t>
            </a:r>
            <a:r>
              <a:rPr lang="hu-HU" dirty="0" err="1" smtClean="0"/>
              <a:t>closer</a:t>
            </a:r>
            <a:r>
              <a:rPr lang="hu-HU" dirty="0" smtClean="0"/>
              <a:t> and </a:t>
            </a:r>
            <a:r>
              <a:rPr lang="hu-HU" dirty="0" err="1" smtClean="0"/>
              <a:t>closer</a:t>
            </a:r>
            <a:r>
              <a:rPr lang="hu-HU" dirty="0" smtClean="0"/>
              <a:t> </a:t>
            </a:r>
            <a:r>
              <a:rPr lang="hu-HU" dirty="0" err="1" smtClean="0"/>
              <a:t>and</a:t>
            </a:r>
            <a:r>
              <a:rPr lang="hu-HU" dirty="0" smtClean="0"/>
              <a:t> </a:t>
            </a:r>
            <a:r>
              <a:rPr lang="hu-HU" dirty="0" err="1" smtClean="0"/>
              <a:t>would</a:t>
            </a:r>
            <a:r>
              <a:rPr lang="hu-HU" dirty="0" smtClean="0"/>
              <a:t> end </a:t>
            </a:r>
            <a:r>
              <a:rPr lang="hu-HU" dirty="0" err="1" smtClean="0"/>
              <a:t>up</a:t>
            </a:r>
            <a:r>
              <a:rPr lang="hu-HU" dirty="0" smtClean="0"/>
              <a:t> </a:t>
            </a:r>
            <a:r>
              <a:rPr lang="hu-HU" dirty="0" err="1" smtClean="0"/>
              <a:t>identical</a:t>
            </a:r>
            <a:r>
              <a:rPr lang="hu-HU" dirty="0" smtClean="0"/>
              <a:t> over </a:t>
            </a:r>
            <a:r>
              <a:rPr lang="hu-HU" dirty="0" err="1" smtClean="0"/>
              <a:t>time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essential</a:t>
            </a:r>
            <a:r>
              <a:rPr lang="hu-HU" dirty="0" smtClean="0"/>
              <a:t> </a:t>
            </a:r>
            <a:r>
              <a:rPr lang="hu-HU" dirty="0" err="1" smtClean="0"/>
              <a:t>mechanism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i="1" dirty="0" err="1" smtClean="0"/>
              <a:t>skip-gram</a:t>
            </a:r>
            <a:r>
              <a:rPr lang="hu-HU" i="1" dirty="0" smtClean="0"/>
              <a:t> </a:t>
            </a:r>
            <a:r>
              <a:rPr lang="hu-HU" dirty="0" err="1" smtClean="0"/>
              <a:t>algorithm</a:t>
            </a:r>
            <a:r>
              <a:rPr lang="hu-HU" dirty="0" smtClean="0"/>
              <a:t> </a:t>
            </a:r>
            <a:r>
              <a:rPr lang="hu-HU" dirty="0" err="1" smtClean="0"/>
              <a:t>implemented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Mikolov</a:t>
            </a:r>
            <a:r>
              <a:rPr lang="hu-HU" dirty="0" smtClean="0"/>
              <a:t> et </a:t>
            </a:r>
            <a:r>
              <a:rPr lang="hu-HU" dirty="0" err="1" smtClean="0"/>
              <a:t>al</a:t>
            </a:r>
            <a:r>
              <a:rPr lang="hu-HU" dirty="0" smtClean="0"/>
              <a:t>.’s </a:t>
            </a:r>
            <a:r>
              <a:rPr lang="hu-HU" dirty="0" smtClean="0">
                <a:hlinkClick r:id="rId3"/>
              </a:rPr>
              <a:t>word2vec</a:t>
            </a:r>
            <a:r>
              <a:rPr lang="hu-HU" dirty="0" smtClean="0"/>
              <a:t> software</a:t>
            </a:r>
          </a:p>
          <a:p>
            <a:r>
              <a:rPr lang="hu-HU" dirty="0" err="1" smtClean="0"/>
              <a:t>They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</a:t>
            </a:r>
            <a:r>
              <a:rPr lang="hu-HU" dirty="0" err="1" smtClean="0"/>
              <a:t>propose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converse</a:t>
            </a:r>
            <a:r>
              <a:rPr lang="hu-HU" dirty="0" smtClean="0"/>
              <a:t> </a:t>
            </a:r>
            <a:r>
              <a:rPr lang="hu-HU" dirty="0" err="1" smtClean="0"/>
              <a:t>method</a:t>
            </a:r>
            <a:r>
              <a:rPr lang="hu-HU" dirty="0" smtClean="0"/>
              <a:t> </a:t>
            </a:r>
            <a:r>
              <a:rPr lang="hu-HU" dirty="0" err="1" smtClean="0"/>
              <a:t>called</a:t>
            </a:r>
            <a:r>
              <a:rPr lang="hu-HU" dirty="0" smtClean="0"/>
              <a:t> </a:t>
            </a:r>
            <a:r>
              <a:rPr lang="hu-HU" i="1" dirty="0" err="1" smtClean="0"/>
              <a:t>continuous</a:t>
            </a:r>
            <a:r>
              <a:rPr lang="hu-HU" i="1" dirty="0" smtClean="0"/>
              <a:t> </a:t>
            </a:r>
            <a:r>
              <a:rPr lang="hu-HU" i="1" dirty="0" err="1" smtClean="0"/>
              <a:t>bag</a:t>
            </a:r>
            <a:r>
              <a:rPr lang="hu-HU" i="1" dirty="0" smtClean="0"/>
              <a:t> of </a:t>
            </a:r>
            <a:r>
              <a:rPr lang="hu-HU" i="1" dirty="0" err="1" smtClean="0"/>
              <a:t>words</a:t>
            </a:r>
            <a:r>
              <a:rPr lang="hu-HU" i="1" dirty="0" smtClean="0"/>
              <a:t> (</a:t>
            </a:r>
            <a:r>
              <a:rPr lang="hu-HU" i="1" dirty="0" err="1" smtClean="0"/>
              <a:t>CBOW</a:t>
            </a:r>
            <a:r>
              <a:rPr lang="hu-HU" i="1" dirty="0" smtClean="0"/>
              <a:t>), </a:t>
            </a:r>
            <a:r>
              <a:rPr lang="hu-HU" dirty="0" err="1" smtClean="0"/>
              <a:t>where</a:t>
            </a:r>
            <a:r>
              <a:rPr lang="hu-HU" dirty="0" smtClean="0"/>
              <a:t> </a:t>
            </a:r>
            <a:r>
              <a:rPr lang="hu-HU" dirty="0" err="1" smtClean="0"/>
              <a:t>every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W </a:t>
            </a:r>
            <a:r>
              <a:rPr lang="hu-HU" dirty="0" err="1" smtClean="0"/>
              <a:t>around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target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is </a:t>
            </a:r>
            <a:r>
              <a:rPr lang="hu-HU" dirty="0" err="1" smtClean="0"/>
              <a:t>moved</a:t>
            </a:r>
            <a:r>
              <a:rPr lang="hu-HU" dirty="0" smtClean="0"/>
              <a:t> </a:t>
            </a:r>
            <a:r>
              <a:rPr lang="hu-HU" dirty="0" err="1" smtClean="0"/>
              <a:t>closer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central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C –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dirty="0" err="1" smtClean="0"/>
              <a:t>approaches</a:t>
            </a:r>
            <a:r>
              <a:rPr lang="hu-HU" dirty="0" smtClean="0"/>
              <a:t> </a:t>
            </a:r>
            <a:r>
              <a:rPr lang="hu-HU" dirty="0" err="1" smtClean="0"/>
              <a:t>work</a:t>
            </a:r>
            <a:r>
              <a:rPr lang="hu-HU" dirty="0" smtClean="0"/>
              <a:t> </a:t>
            </a:r>
            <a:r>
              <a:rPr lang="hu-HU" dirty="0" err="1" smtClean="0"/>
              <a:t>equally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25103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smtClean="0"/>
              <a:t>word2vec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A </a:t>
            </a:r>
            <a:r>
              <a:rPr lang="hu-HU" dirty="0" err="1" smtClean="0"/>
              <a:t>simplified</a:t>
            </a:r>
            <a:r>
              <a:rPr lang="hu-HU" dirty="0" smtClean="0"/>
              <a:t> </a:t>
            </a:r>
            <a:r>
              <a:rPr lang="hu-HU" dirty="0" err="1" smtClean="0"/>
              <a:t>implementation</a:t>
            </a:r>
            <a:r>
              <a:rPr lang="hu-HU" dirty="0" smtClean="0"/>
              <a:t> of word2vec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TensorFlow</a:t>
            </a:r>
            <a:r>
              <a:rPr lang="hu-HU" dirty="0" smtClean="0"/>
              <a:t> is </a:t>
            </a:r>
            <a:r>
              <a:rPr lang="hu-HU" dirty="0" err="1" smtClean="0"/>
              <a:t>available</a:t>
            </a:r>
            <a:r>
              <a:rPr lang="hu-HU" dirty="0"/>
              <a:t> </a:t>
            </a:r>
            <a:r>
              <a:rPr lang="hu-HU" dirty="0" err="1"/>
              <a:t>at</a:t>
            </a:r>
            <a:r>
              <a:rPr lang="hu-HU" dirty="0"/>
              <a:t> </a:t>
            </a:r>
            <a:r>
              <a:rPr lang="hu-HU" dirty="0" err="1"/>
              <a:t>https</a:t>
            </a:r>
            <a:r>
              <a:rPr lang="hu-HU" dirty="0"/>
              <a:t>://</a:t>
            </a:r>
            <a:r>
              <a:rPr lang="hu-HU" dirty="0" err="1" smtClean="0"/>
              <a:t>www.tensorflow.org</a:t>
            </a:r>
            <a:r>
              <a:rPr lang="hu-HU" dirty="0" smtClean="0"/>
              <a:t>/text/</a:t>
            </a:r>
            <a:r>
              <a:rPr lang="hu-HU" dirty="0" err="1" smtClean="0"/>
              <a:t>tutorials</a:t>
            </a:r>
            <a:r>
              <a:rPr lang="hu-HU" dirty="0" smtClean="0"/>
              <a:t>/word2vec</a:t>
            </a:r>
            <a:endParaRPr lang="hu-HU" dirty="0"/>
          </a:p>
          <a:p>
            <a:r>
              <a:rPr lang="hu-HU" dirty="0" err="1" smtClean="0"/>
              <a:t>Levy</a:t>
            </a:r>
            <a:r>
              <a:rPr lang="hu-HU" dirty="0" smtClean="0"/>
              <a:t> and Goldberg </a:t>
            </a:r>
            <a:r>
              <a:rPr lang="hu-HU" dirty="0" err="1" smtClean="0"/>
              <a:t>showed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paper</a:t>
            </a:r>
            <a:r>
              <a:rPr lang="hu-HU" dirty="0" smtClean="0"/>
              <a:t> </a:t>
            </a:r>
            <a:r>
              <a:rPr lang="hu-HU" dirty="0" err="1" smtClean="0"/>
              <a:t>titled</a:t>
            </a:r>
            <a:r>
              <a:rPr lang="hu-HU" dirty="0" smtClean="0"/>
              <a:t> </a:t>
            </a:r>
            <a:r>
              <a:rPr lang="hu-HU" i="1" dirty="0" err="1" smtClean="0">
                <a:hlinkClick r:id="rId2"/>
              </a:rPr>
              <a:t>Neural</a:t>
            </a:r>
            <a:r>
              <a:rPr lang="hu-HU" i="1" dirty="0" smtClean="0">
                <a:hlinkClick r:id="rId2"/>
              </a:rPr>
              <a:t> Word </a:t>
            </a:r>
            <a:r>
              <a:rPr lang="hu-HU" i="1" dirty="0" err="1" smtClean="0">
                <a:hlinkClick r:id="rId2"/>
              </a:rPr>
              <a:t>Embeddings</a:t>
            </a:r>
            <a:r>
              <a:rPr lang="hu-HU" i="1" dirty="0" smtClean="0">
                <a:hlinkClick r:id="rId2"/>
              </a:rPr>
              <a:t> </a:t>
            </a:r>
            <a:r>
              <a:rPr lang="hu-HU" i="1" dirty="0" err="1" smtClean="0">
                <a:hlinkClick r:id="rId2"/>
              </a:rPr>
              <a:t>as</a:t>
            </a:r>
            <a:r>
              <a:rPr lang="hu-HU" i="1" dirty="0" smtClean="0">
                <a:hlinkClick r:id="rId2"/>
              </a:rPr>
              <a:t> Implicit </a:t>
            </a:r>
            <a:r>
              <a:rPr lang="hu-HU" i="1" dirty="0" err="1" smtClean="0">
                <a:hlinkClick r:id="rId2"/>
              </a:rPr>
              <a:t>Matrix</a:t>
            </a:r>
            <a:r>
              <a:rPr lang="hu-HU" i="1" dirty="0" smtClean="0">
                <a:hlinkClick r:id="rId2"/>
              </a:rPr>
              <a:t> </a:t>
            </a:r>
            <a:r>
              <a:rPr lang="hu-HU" i="1" dirty="0" err="1" smtClean="0">
                <a:hlinkClick r:id="rId2"/>
              </a:rPr>
              <a:t>Factorization</a:t>
            </a:r>
            <a:r>
              <a:rPr lang="hu-HU" i="1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Mikolov</a:t>
            </a:r>
            <a:r>
              <a:rPr lang="hu-HU" dirty="0" smtClean="0"/>
              <a:t>’s </a:t>
            </a:r>
            <a:r>
              <a:rPr lang="hu-HU" dirty="0" err="1" smtClean="0"/>
              <a:t>skip-gram</a:t>
            </a:r>
            <a:r>
              <a:rPr lang="hu-HU" dirty="0" smtClean="0"/>
              <a:t> </a:t>
            </a:r>
            <a:r>
              <a:rPr lang="hu-HU" dirty="0" err="1" smtClean="0"/>
              <a:t>algorithm</a:t>
            </a:r>
            <a:r>
              <a:rPr lang="hu-HU" dirty="0" smtClean="0"/>
              <a:t> </a:t>
            </a:r>
            <a:r>
              <a:rPr lang="hu-HU" dirty="0" err="1" smtClean="0"/>
              <a:t>implemented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word2vec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fact</a:t>
            </a:r>
            <a:r>
              <a:rPr lang="hu-HU" dirty="0" smtClean="0"/>
              <a:t> </a:t>
            </a:r>
            <a:r>
              <a:rPr lang="hu-HU" dirty="0" err="1" smtClean="0"/>
              <a:t>searches</a:t>
            </a:r>
            <a:r>
              <a:rPr lang="hu-HU" dirty="0" smtClean="0"/>
              <a:t> (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stochastic</a:t>
            </a:r>
            <a:r>
              <a:rPr lang="hu-HU" dirty="0" smtClean="0"/>
              <a:t> </a:t>
            </a:r>
            <a:r>
              <a:rPr lang="hu-HU" dirty="0" err="1" smtClean="0"/>
              <a:t>gradient</a:t>
            </a:r>
            <a:r>
              <a:rPr lang="hu-HU" dirty="0" smtClean="0"/>
              <a:t> </a:t>
            </a:r>
            <a:r>
              <a:rPr lang="hu-HU" dirty="0" err="1" smtClean="0"/>
              <a:t>descent</a:t>
            </a:r>
            <a:r>
              <a:rPr lang="hu-HU" dirty="0" smtClean="0"/>
              <a:t>) </a:t>
            </a:r>
            <a:r>
              <a:rPr lang="hu-HU" dirty="0" err="1" smtClean="0"/>
              <a:t>for</a:t>
            </a:r>
            <a:r>
              <a:rPr lang="hu-HU" dirty="0" smtClean="0"/>
              <a:t> an </a:t>
            </a:r>
            <a:r>
              <a:rPr lang="hu-HU" dirty="0" err="1" smtClean="0"/>
              <a:t>optimal</a:t>
            </a:r>
            <a:r>
              <a:rPr lang="hu-HU" dirty="0" smtClean="0"/>
              <a:t> </a:t>
            </a:r>
            <a:r>
              <a:rPr lang="hu-HU" i="1" dirty="0" err="1" smtClean="0"/>
              <a:t>d</a:t>
            </a:r>
            <a:r>
              <a:rPr lang="hu-HU" dirty="0" err="1" smtClean="0"/>
              <a:t>-dimensional</a:t>
            </a:r>
            <a:r>
              <a:rPr lang="hu-HU" dirty="0" smtClean="0"/>
              <a:t> </a:t>
            </a:r>
            <a:r>
              <a:rPr lang="hu-HU" dirty="0" err="1" smtClean="0"/>
              <a:t>factorisation</a:t>
            </a:r>
            <a:r>
              <a:rPr lang="hu-HU" dirty="0" smtClean="0"/>
              <a:t> of a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co-occurrence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 </a:t>
            </a:r>
            <a:r>
              <a:rPr lang="hu-HU" dirty="0" err="1" smtClean="0"/>
              <a:t>weighted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,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so-called</a:t>
            </a:r>
            <a:r>
              <a:rPr lang="hu-HU" dirty="0" smtClean="0"/>
              <a:t> shifted </a:t>
            </a:r>
            <a:r>
              <a:rPr lang="hu-HU" dirty="0" err="1" smtClean="0"/>
              <a:t>pointwise</a:t>
            </a:r>
            <a:r>
              <a:rPr lang="hu-HU" dirty="0" smtClean="0"/>
              <a:t> </a:t>
            </a:r>
            <a:r>
              <a:rPr lang="hu-HU" dirty="0" err="1" smtClean="0"/>
              <a:t>mutual</a:t>
            </a:r>
            <a:r>
              <a:rPr lang="hu-HU" dirty="0" smtClean="0"/>
              <a:t> </a:t>
            </a:r>
            <a:r>
              <a:rPr lang="hu-HU" dirty="0" err="1" smtClean="0"/>
              <a:t>information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endParaRPr lang="hu-HU" dirty="0" smtClean="0"/>
          </a:p>
          <a:p>
            <a:pPr lvl="1"/>
            <a:r>
              <a:rPr lang="hu-HU" i="1" dirty="0" err="1" smtClean="0"/>
              <a:t>M</a:t>
            </a:r>
            <a:r>
              <a:rPr lang="hu-HU" i="1" baseline="-25000" dirty="0" err="1" smtClean="0"/>
              <a:t>PMI</a:t>
            </a:r>
            <a:r>
              <a:rPr lang="hu-HU" i="1" dirty="0" smtClean="0"/>
              <a:t> </a:t>
            </a:r>
            <a:r>
              <a:rPr lang="hu-HU" dirty="0" smtClean="0"/>
              <a:t>≈ </a:t>
            </a:r>
            <a:r>
              <a:rPr lang="hu-HU" i="1" dirty="0" err="1" smtClean="0"/>
              <a:t>W</a:t>
            </a:r>
            <a:r>
              <a:rPr lang="hu-HU" i="1" baseline="-25000" dirty="0" err="1" smtClean="0"/>
              <a:t>d</a:t>
            </a:r>
            <a:r>
              <a:rPr lang="hu-HU" i="1" dirty="0" smtClean="0"/>
              <a:t> </a:t>
            </a:r>
            <a:r>
              <a:rPr lang="hu-HU" i="1" dirty="0" err="1" smtClean="0"/>
              <a:t>C</a:t>
            </a:r>
            <a:r>
              <a:rPr lang="hu-HU" i="1" baseline="-25000" dirty="0" err="1" smtClean="0"/>
              <a:t>d</a:t>
            </a:r>
            <a:r>
              <a:rPr lang="hu-HU" baseline="30000" dirty="0" err="1" smtClean="0"/>
              <a:t>T</a:t>
            </a:r>
            <a:endParaRPr lang="hu-HU" baseline="30000" dirty="0" smtClean="0"/>
          </a:p>
          <a:p>
            <a:pPr lvl="1"/>
            <a:r>
              <a:rPr lang="hu-HU" dirty="0" err="1" smtClean="0"/>
              <a:t>optimal</a:t>
            </a:r>
            <a:r>
              <a:rPr lang="hu-HU" dirty="0" smtClean="0"/>
              <a:t> </a:t>
            </a:r>
            <a:r>
              <a:rPr lang="hu-HU" dirty="0" err="1" smtClean="0"/>
              <a:t>means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product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two</a:t>
            </a:r>
            <a:r>
              <a:rPr lang="hu-HU" dirty="0" smtClean="0"/>
              <a:t> </a:t>
            </a:r>
            <a:r>
              <a:rPr lang="hu-HU" dirty="0" err="1" smtClean="0"/>
              <a:t>matrices</a:t>
            </a:r>
            <a:r>
              <a:rPr lang="hu-HU" dirty="0" smtClean="0"/>
              <a:t> is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close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i="1" dirty="0" err="1" smtClean="0"/>
              <a:t>M</a:t>
            </a:r>
            <a:r>
              <a:rPr lang="hu-HU" i="1" baseline="-25000" dirty="0" err="1" smtClean="0"/>
              <a:t>PMI</a:t>
            </a:r>
            <a:r>
              <a:rPr lang="hu-HU" i="1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is</a:t>
            </a:r>
            <a:r>
              <a:rPr lang="hu-HU" dirty="0" smtClean="0"/>
              <a:t> </a:t>
            </a:r>
            <a:r>
              <a:rPr lang="hu-HU" dirty="0" err="1" smtClean="0"/>
              <a:t>possible</a:t>
            </a:r>
            <a:r>
              <a:rPr lang="hu-HU" dirty="0" smtClean="0"/>
              <a:t> </a:t>
            </a:r>
            <a:r>
              <a:rPr lang="hu-HU" dirty="0" err="1" smtClean="0"/>
              <a:t>given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dimension</a:t>
            </a:r>
            <a:r>
              <a:rPr lang="hu-HU" dirty="0" smtClean="0"/>
              <a:t> </a:t>
            </a:r>
            <a:r>
              <a:rPr lang="hu-HU" i="1" dirty="0" smtClean="0"/>
              <a:t>d</a:t>
            </a:r>
          </a:p>
          <a:p>
            <a:pPr lvl="1"/>
            <a:r>
              <a:rPr lang="hu-HU" dirty="0" err="1" smtClean="0"/>
              <a:t>ideally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product</a:t>
            </a:r>
            <a:r>
              <a:rPr lang="hu-HU" dirty="0" smtClean="0"/>
              <a:t> is </a:t>
            </a:r>
            <a:r>
              <a:rPr lang="hu-HU" dirty="0" err="1" smtClean="0"/>
              <a:t>equal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i="1" dirty="0" err="1" smtClean="0"/>
              <a:t>M</a:t>
            </a:r>
            <a:r>
              <a:rPr lang="hu-HU" i="1" baseline="-25000" dirty="0" err="1" smtClean="0"/>
              <a:t>PMI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i="1" dirty="0" smtClean="0"/>
              <a:t>d </a:t>
            </a:r>
            <a:r>
              <a:rPr lang="hu-HU" dirty="0" err="1" smtClean="0"/>
              <a:t>dimensions</a:t>
            </a:r>
            <a:r>
              <a:rPr lang="hu-HU" dirty="0" smtClean="0"/>
              <a:t> </a:t>
            </a:r>
            <a:r>
              <a:rPr lang="hu-HU" dirty="0" err="1" smtClean="0"/>
              <a:t>might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be </a:t>
            </a:r>
            <a:r>
              <a:rPr lang="hu-HU" dirty="0" err="1" smtClean="0"/>
              <a:t>sufficient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factorise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into</a:t>
            </a:r>
            <a:r>
              <a:rPr lang="hu-HU" dirty="0" smtClean="0"/>
              <a:t> </a:t>
            </a:r>
            <a:r>
              <a:rPr lang="hu-HU" dirty="0" err="1" smtClean="0"/>
              <a:t>two</a:t>
            </a:r>
            <a:r>
              <a:rPr lang="hu-HU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matrices</a:t>
            </a:r>
            <a:r>
              <a:rPr lang="hu-HU" dirty="0" smtClean="0"/>
              <a:t> </a:t>
            </a:r>
            <a:r>
              <a:rPr lang="hu-HU" dirty="0" err="1" smtClean="0"/>
              <a:t>exactly</a:t>
            </a:r>
            <a:r>
              <a:rPr lang="hu-HU" dirty="0"/>
              <a:t>, </a:t>
            </a:r>
            <a:r>
              <a:rPr lang="hu-HU" dirty="0" err="1"/>
              <a:t>depending</a:t>
            </a:r>
            <a:r>
              <a:rPr lang="hu-HU" dirty="0"/>
              <a:t> </a:t>
            </a:r>
            <a:r>
              <a:rPr lang="hu-HU" dirty="0" err="1"/>
              <a:t>on</a:t>
            </a:r>
            <a:r>
              <a:rPr lang="hu-HU" dirty="0"/>
              <a:t> </a:t>
            </a:r>
            <a:r>
              <a:rPr lang="hu-HU" dirty="0" err="1"/>
              <a:t>the</a:t>
            </a:r>
            <a:r>
              <a:rPr lang="hu-HU" dirty="0"/>
              <a:t> </a:t>
            </a:r>
            <a:r>
              <a:rPr lang="hu-HU" dirty="0" err="1"/>
              <a:t>content</a:t>
            </a:r>
            <a:r>
              <a:rPr lang="hu-HU" dirty="0"/>
              <a:t> of </a:t>
            </a:r>
            <a:r>
              <a:rPr lang="hu-HU" dirty="0" err="1" smtClean="0"/>
              <a:t>M</a:t>
            </a:r>
            <a:r>
              <a:rPr lang="hu-HU" baseline="-25000" dirty="0" err="1" smtClean="0"/>
              <a:t>PMI</a:t>
            </a:r>
            <a:endParaRPr lang="hu-HU" baseline="-25000" dirty="0" smtClean="0"/>
          </a:p>
          <a:p>
            <a:r>
              <a:rPr lang="hu-HU" dirty="0" smtClean="0"/>
              <a:t>The </a:t>
            </a:r>
            <a:r>
              <a:rPr lang="hu-HU" dirty="0" err="1" smtClean="0"/>
              <a:t>authors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</a:t>
            </a:r>
            <a:r>
              <a:rPr lang="hu-HU" dirty="0" err="1" smtClean="0"/>
              <a:t>discuss</a:t>
            </a:r>
            <a:r>
              <a:rPr lang="hu-HU" dirty="0" smtClean="0"/>
              <a:t> </a:t>
            </a:r>
            <a:r>
              <a:rPr lang="hu-HU" dirty="0" err="1" smtClean="0"/>
              <a:t>various</a:t>
            </a:r>
            <a:r>
              <a:rPr lang="hu-HU" dirty="0" smtClean="0"/>
              <a:t> </a:t>
            </a:r>
            <a:r>
              <a:rPr lang="hu-HU" dirty="0" err="1" smtClean="0"/>
              <a:t>ways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which</a:t>
            </a:r>
            <a:r>
              <a:rPr lang="hu-HU" dirty="0" smtClean="0"/>
              <a:t> an </a:t>
            </a:r>
            <a:r>
              <a:rPr lang="hu-HU" dirty="0" err="1" smtClean="0"/>
              <a:t>exact</a:t>
            </a:r>
            <a:r>
              <a:rPr lang="hu-HU" dirty="0" smtClean="0"/>
              <a:t>, </a:t>
            </a:r>
            <a:r>
              <a:rPr lang="hu-HU" dirty="0" err="1" smtClean="0"/>
              <a:t>deterministic</a:t>
            </a:r>
            <a:r>
              <a:rPr lang="hu-HU" dirty="0" smtClean="0"/>
              <a:t> </a:t>
            </a:r>
            <a:r>
              <a:rPr lang="hu-HU" dirty="0" err="1" smtClean="0"/>
              <a:t>factorisation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PMI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variants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achieved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mathematical</a:t>
            </a:r>
            <a:r>
              <a:rPr lang="hu-HU" dirty="0" smtClean="0"/>
              <a:t> </a:t>
            </a:r>
            <a:r>
              <a:rPr lang="hu-HU" dirty="0" err="1" smtClean="0"/>
              <a:t>methods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012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GloVe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The idea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stochastic</a:t>
            </a:r>
            <a:r>
              <a:rPr lang="hu-HU" dirty="0" smtClean="0"/>
              <a:t> </a:t>
            </a:r>
            <a:r>
              <a:rPr lang="hu-HU" dirty="0" err="1" smtClean="0"/>
              <a:t>gradient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is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ideal</a:t>
            </a:r>
            <a:r>
              <a:rPr lang="hu-HU" dirty="0" smtClean="0"/>
              <a:t> </a:t>
            </a:r>
            <a:r>
              <a:rPr lang="hu-HU" dirty="0" err="1" smtClean="0"/>
              <a:t>solution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find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factorisation</a:t>
            </a:r>
            <a:r>
              <a:rPr lang="hu-HU" dirty="0" smtClean="0"/>
              <a:t> of a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co-occurrence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 is a </a:t>
            </a:r>
            <a:r>
              <a:rPr lang="hu-HU" dirty="0" err="1" smtClean="0"/>
              <a:t>better</a:t>
            </a:r>
            <a:r>
              <a:rPr lang="hu-HU" dirty="0" smtClean="0"/>
              <a:t> </a:t>
            </a:r>
            <a:r>
              <a:rPr lang="hu-HU" dirty="0" err="1" smtClean="0"/>
              <a:t>solution</a:t>
            </a:r>
            <a:r>
              <a:rPr lang="hu-HU" dirty="0" smtClean="0"/>
              <a:t>,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</a:t>
            </a:r>
            <a:r>
              <a:rPr lang="hu-HU" dirty="0" err="1" smtClean="0"/>
              <a:t>adopted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Pennington</a:t>
            </a:r>
            <a:r>
              <a:rPr lang="hu-HU" dirty="0" smtClean="0"/>
              <a:t>, </a:t>
            </a:r>
            <a:r>
              <a:rPr lang="hu-HU" dirty="0" err="1" smtClean="0"/>
              <a:t>Socher</a:t>
            </a:r>
            <a:r>
              <a:rPr lang="hu-HU" dirty="0" smtClean="0"/>
              <a:t> and </a:t>
            </a:r>
            <a:r>
              <a:rPr lang="hu-HU" dirty="0" err="1" smtClean="0"/>
              <a:t>Manning</a:t>
            </a:r>
            <a:r>
              <a:rPr lang="hu-HU" dirty="0" smtClean="0"/>
              <a:t>, 2014, </a:t>
            </a:r>
            <a:r>
              <a:rPr lang="hu-HU" dirty="0" err="1" smtClean="0"/>
              <a:t>at</a:t>
            </a:r>
            <a:r>
              <a:rPr lang="hu-HU" dirty="0" smtClean="0"/>
              <a:t> Stanford, </a:t>
            </a:r>
            <a:r>
              <a:rPr lang="hu-HU" dirty="0" err="1" smtClean="0"/>
              <a:t>who</a:t>
            </a:r>
            <a:r>
              <a:rPr lang="hu-HU" dirty="0" smtClean="0"/>
              <a:t> </a:t>
            </a:r>
            <a:r>
              <a:rPr lang="hu-HU" dirty="0" err="1" smtClean="0"/>
              <a:t>developed</a:t>
            </a:r>
            <a:r>
              <a:rPr lang="hu-HU" dirty="0" smtClean="0"/>
              <a:t> </a:t>
            </a:r>
            <a:r>
              <a:rPr lang="hu-HU" dirty="0" err="1" smtClean="0"/>
              <a:t>GloVe</a:t>
            </a:r>
            <a:r>
              <a:rPr lang="hu-HU" dirty="0" smtClean="0"/>
              <a:t> (</a:t>
            </a:r>
            <a:r>
              <a:rPr lang="hu-HU" dirty="0" smtClean="0">
                <a:hlinkClick r:id="rId2"/>
              </a:rPr>
              <a:t>Global </a:t>
            </a:r>
            <a:r>
              <a:rPr lang="hu-HU" dirty="0" err="1" smtClean="0">
                <a:hlinkClick r:id="rId2"/>
              </a:rPr>
              <a:t>Vectors</a:t>
            </a:r>
            <a:r>
              <a:rPr lang="hu-HU" dirty="0" smtClean="0">
                <a:hlinkClick r:id="rId2"/>
              </a:rPr>
              <a:t> </a:t>
            </a:r>
            <a:r>
              <a:rPr lang="hu-HU" dirty="0" err="1" smtClean="0">
                <a:hlinkClick r:id="rId2"/>
              </a:rPr>
              <a:t>for</a:t>
            </a:r>
            <a:r>
              <a:rPr lang="hu-HU" dirty="0" smtClean="0">
                <a:hlinkClick r:id="rId2"/>
              </a:rPr>
              <a:t> Word </a:t>
            </a:r>
            <a:r>
              <a:rPr lang="hu-HU" dirty="0" err="1" smtClean="0">
                <a:hlinkClick r:id="rId2"/>
              </a:rPr>
              <a:t>Representation</a:t>
            </a:r>
            <a:r>
              <a:rPr lang="hu-HU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9877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fastText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The </a:t>
            </a:r>
            <a:r>
              <a:rPr lang="hu-HU" dirty="0" err="1" smtClean="0"/>
              <a:t>fastText</a:t>
            </a:r>
            <a:r>
              <a:rPr lang="hu-HU" dirty="0" smtClean="0"/>
              <a:t> </a:t>
            </a:r>
            <a:r>
              <a:rPr lang="hu-HU" dirty="0" err="1" smtClean="0"/>
              <a:t>application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released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2017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Mikolov</a:t>
            </a:r>
            <a:r>
              <a:rPr lang="hu-HU" dirty="0" smtClean="0"/>
              <a:t>’s team </a:t>
            </a:r>
            <a:r>
              <a:rPr lang="hu-HU" dirty="0" err="1" smtClean="0"/>
              <a:t>after</a:t>
            </a:r>
            <a:r>
              <a:rPr lang="hu-HU" dirty="0" smtClean="0"/>
              <a:t> he had </a:t>
            </a:r>
            <a:r>
              <a:rPr lang="hu-HU" dirty="0" err="1" smtClean="0"/>
              <a:t>moved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Google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Facebook</a:t>
            </a:r>
            <a:endParaRPr lang="hu-HU" dirty="0" smtClean="0"/>
          </a:p>
          <a:p>
            <a:pPr lvl="1"/>
            <a:r>
              <a:rPr lang="en-GB" dirty="0"/>
              <a:t>https://</a:t>
            </a:r>
            <a:r>
              <a:rPr lang="en-GB" dirty="0" err="1" smtClean="0"/>
              <a:t>github.com</a:t>
            </a:r>
            <a:r>
              <a:rPr lang="en-GB" dirty="0" smtClean="0"/>
              <a:t>/</a:t>
            </a:r>
            <a:r>
              <a:rPr lang="en-GB" dirty="0" err="1" smtClean="0"/>
              <a:t>facebookresearch</a:t>
            </a:r>
            <a:r>
              <a:rPr lang="en-GB" dirty="0" smtClean="0"/>
              <a:t>/</a:t>
            </a:r>
            <a:r>
              <a:rPr lang="en-GB" dirty="0" err="1" smtClean="0"/>
              <a:t>fastText</a:t>
            </a:r>
            <a:endParaRPr lang="hu-HU" dirty="0" smtClean="0"/>
          </a:p>
          <a:p>
            <a:r>
              <a:rPr lang="hu-HU" dirty="0" err="1" smtClean="0"/>
              <a:t>It</a:t>
            </a:r>
            <a:r>
              <a:rPr lang="hu-HU" dirty="0" smtClean="0"/>
              <a:t> is a </a:t>
            </a:r>
            <a:r>
              <a:rPr lang="hu-HU" dirty="0" err="1" smtClean="0"/>
              <a:t>generalisation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original</a:t>
            </a:r>
            <a:r>
              <a:rPr lang="hu-HU" dirty="0" smtClean="0"/>
              <a:t> word2vec software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permits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 of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linguistic</a:t>
            </a:r>
            <a:r>
              <a:rPr lang="hu-HU" dirty="0" smtClean="0"/>
              <a:t> </a:t>
            </a:r>
            <a:r>
              <a:rPr lang="hu-HU" dirty="0" err="1" smtClean="0"/>
              <a:t>units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any</a:t>
            </a:r>
            <a:r>
              <a:rPr lang="hu-HU" dirty="0" smtClean="0"/>
              <a:t> </a:t>
            </a:r>
            <a:r>
              <a:rPr lang="hu-HU" dirty="0" err="1" smtClean="0"/>
              <a:t>level</a:t>
            </a:r>
            <a:r>
              <a:rPr lang="hu-HU" dirty="0" smtClean="0"/>
              <a:t> (</a:t>
            </a:r>
            <a:r>
              <a:rPr lang="hu-HU" dirty="0" err="1" smtClean="0"/>
              <a:t>subword</a:t>
            </a:r>
            <a:r>
              <a:rPr lang="hu-HU" dirty="0" smtClean="0"/>
              <a:t>, </a:t>
            </a:r>
            <a:r>
              <a:rPr lang="hu-HU" dirty="0" err="1" smtClean="0"/>
              <a:t>word</a:t>
            </a:r>
            <a:r>
              <a:rPr lang="hu-HU" dirty="0" smtClean="0"/>
              <a:t>, text)</a:t>
            </a:r>
          </a:p>
          <a:p>
            <a:r>
              <a:rPr lang="hu-HU" dirty="0" err="1" smtClean="0"/>
              <a:t>Motivation</a:t>
            </a:r>
            <a:r>
              <a:rPr lang="hu-HU" dirty="0" smtClean="0"/>
              <a:t>: word2vec (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LSA</a:t>
            </a:r>
            <a:r>
              <a:rPr lang="hu-HU" dirty="0" smtClean="0"/>
              <a:t> and </a:t>
            </a:r>
            <a:r>
              <a:rPr lang="hu-HU" dirty="0" err="1" smtClean="0"/>
              <a:t>GloVe</a:t>
            </a:r>
            <a:r>
              <a:rPr lang="hu-HU" dirty="0" smtClean="0"/>
              <a:t>) </a:t>
            </a:r>
            <a:r>
              <a:rPr lang="hu-HU" dirty="0" err="1" smtClean="0"/>
              <a:t>consider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atomic</a:t>
            </a:r>
            <a:r>
              <a:rPr lang="hu-HU" dirty="0" smtClean="0"/>
              <a:t> </a:t>
            </a:r>
            <a:r>
              <a:rPr lang="hu-HU" dirty="0" err="1" smtClean="0"/>
              <a:t>units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misses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facts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forms</a:t>
            </a:r>
            <a:r>
              <a:rPr lang="hu-HU" dirty="0" smtClean="0"/>
              <a:t> </a:t>
            </a:r>
            <a:r>
              <a:rPr lang="hu-HU" dirty="0" err="1" smtClean="0"/>
              <a:t>and</a:t>
            </a:r>
            <a:r>
              <a:rPr lang="hu-HU" dirty="0" smtClean="0"/>
              <a:t> </a:t>
            </a:r>
            <a:r>
              <a:rPr lang="hu-HU" dirty="0" err="1" smtClean="0"/>
              <a:t>lemmata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formally</a:t>
            </a:r>
            <a:r>
              <a:rPr lang="hu-HU" dirty="0" smtClean="0"/>
              <a:t> </a:t>
            </a:r>
            <a:r>
              <a:rPr lang="hu-HU" dirty="0" err="1" smtClean="0"/>
              <a:t>complex</a:t>
            </a:r>
            <a:r>
              <a:rPr lang="hu-HU" dirty="0" smtClean="0"/>
              <a:t> (</a:t>
            </a:r>
            <a:r>
              <a:rPr lang="hu-HU" dirty="0" err="1" smtClean="0"/>
              <a:t>inflected</a:t>
            </a:r>
            <a:r>
              <a:rPr lang="hu-HU" dirty="0" smtClean="0"/>
              <a:t>, </a:t>
            </a:r>
            <a:r>
              <a:rPr lang="hu-HU" dirty="0" err="1" smtClean="0"/>
              <a:t>derived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Should</a:t>
            </a:r>
            <a:r>
              <a:rPr lang="hu-HU" dirty="0" smtClean="0"/>
              <a:t> </a:t>
            </a:r>
            <a:r>
              <a:rPr lang="hu-HU" dirty="0" err="1" smtClean="0"/>
              <a:t>work</a:t>
            </a:r>
            <a:r>
              <a:rPr lang="hu-HU" dirty="0" smtClean="0"/>
              <a:t> </a:t>
            </a:r>
            <a:r>
              <a:rPr lang="hu-HU" dirty="0" err="1" smtClean="0"/>
              <a:t>much</a:t>
            </a:r>
            <a:r>
              <a:rPr lang="hu-HU" dirty="0" smtClean="0"/>
              <a:t> </a:t>
            </a:r>
            <a:r>
              <a:rPr lang="hu-HU" dirty="0" err="1" smtClean="0"/>
              <a:t>better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languages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rich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morphology</a:t>
            </a:r>
            <a:endParaRPr lang="hu-HU" dirty="0" smtClean="0"/>
          </a:p>
          <a:p>
            <a:r>
              <a:rPr lang="hu-HU" dirty="0" err="1" smtClean="0"/>
              <a:t>fastText</a:t>
            </a:r>
            <a:r>
              <a:rPr lang="hu-HU" dirty="0" smtClean="0"/>
              <a:t> </a:t>
            </a:r>
            <a:r>
              <a:rPr lang="hu-HU" dirty="0" err="1" smtClean="0"/>
              <a:t>learns</a:t>
            </a:r>
            <a:r>
              <a:rPr lang="hu-HU" dirty="0" smtClean="0"/>
              <a:t> </a:t>
            </a:r>
            <a:r>
              <a:rPr lang="hu-HU" dirty="0" err="1" smtClean="0"/>
              <a:t>both</a:t>
            </a:r>
            <a:r>
              <a:rPr lang="hu-HU" dirty="0" smtClean="0"/>
              <a:t> a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whole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constituent</a:t>
            </a:r>
            <a:r>
              <a:rPr lang="hu-HU" dirty="0" smtClean="0"/>
              <a:t> </a:t>
            </a:r>
            <a:r>
              <a:rPr lang="hu-HU" dirty="0" err="1" smtClean="0"/>
              <a:t>parts</a:t>
            </a:r>
            <a:r>
              <a:rPr lang="hu-HU" dirty="0" smtClean="0"/>
              <a:t> (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default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character</a:t>
            </a:r>
            <a:r>
              <a:rPr lang="hu-HU" dirty="0" smtClean="0"/>
              <a:t> </a:t>
            </a:r>
            <a:r>
              <a:rPr lang="hu-HU" dirty="0" err="1" smtClean="0"/>
              <a:t>n-grams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constitute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of a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sum of a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whole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and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subwords</a:t>
            </a:r>
            <a:r>
              <a:rPr lang="hu-HU" dirty="0" smtClean="0"/>
              <a:t>, </a:t>
            </a:r>
            <a:r>
              <a:rPr lang="hu-HU" dirty="0" err="1" smtClean="0"/>
              <a:t>e.g</a:t>
            </a:r>
            <a:r>
              <a:rPr lang="hu-HU" dirty="0" smtClean="0"/>
              <a:t>.</a:t>
            </a:r>
          </a:p>
          <a:p>
            <a:pPr lvl="2"/>
            <a:r>
              <a:rPr lang="hu-HU" i="1" u="sng" dirty="0" err="1" smtClean="0"/>
              <a:t>birdies</a:t>
            </a:r>
            <a:r>
              <a:rPr lang="hu-HU" dirty="0" smtClean="0"/>
              <a:t> = </a:t>
            </a:r>
            <a:r>
              <a:rPr lang="hu-HU" u="sng" dirty="0" smtClean="0"/>
              <a:t>#</a:t>
            </a:r>
            <a:r>
              <a:rPr lang="hu-HU" u="sng" dirty="0" err="1" smtClean="0"/>
              <a:t>bir</a:t>
            </a:r>
            <a:r>
              <a:rPr lang="hu-HU" dirty="0" smtClean="0"/>
              <a:t> + </a:t>
            </a:r>
            <a:r>
              <a:rPr lang="hu-HU" u="sng" dirty="0" err="1" smtClean="0"/>
              <a:t>bird</a:t>
            </a:r>
            <a:r>
              <a:rPr lang="hu-HU" dirty="0" smtClean="0"/>
              <a:t> + ... + </a:t>
            </a:r>
            <a:r>
              <a:rPr lang="hu-HU" u="sng" dirty="0" err="1" smtClean="0"/>
              <a:t>ies</a:t>
            </a:r>
            <a:r>
              <a:rPr lang="hu-HU" u="sng" dirty="0" smtClean="0"/>
              <a:t>#</a:t>
            </a:r>
            <a:r>
              <a:rPr lang="hu-HU" dirty="0" smtClean="0"/>
              <a:t> + </a:t>
            </a:r>
            <a:r>
              <a:rPr lang="hu-HU" u="sng" dirty="0" smtClean="0"/>
              <a:t>#</a:t>
            </a:r>
            <a:r>
              <a:rPr lang="hu-HU" u="sng" dirty="0" err="1" smtClean="0"/>
              <a:t>birdies</a:t>
            </a:r>
            <a:r>
              <a:rPr lang="hu-HU" u="sng" dirty="0" smtClean="0"/>
              <a:t>#</a:t>
            </a:r>
          </a:p>
          <a:p>
            <a:pPr lvl="1"/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iteration</a:t>
            </a:r>
            <a:r>
              <a:rPr lang="hu-HU" dirty="0" smtClean="0"/>
              <a:t>,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target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moved</a:t>
            </a:r>
            <a:r>
              <a:rPr lang="hu-HU" dirty="0" smtClean="0"/>
              <a:t> </a:t>
            </a:r>
            <a:r>
              <a:rPr lang="hu-HU" dirty="0" err="1" smtClean="0"/>
              <a:t>closer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78669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dirty="0" err="1" smtClean="0"/>
              <a:t>Comparison</a:t>
            </a:r>
            <a:r>
              <a:rPr lang="hu-HU" sz="4000" dirty="0" smtClean="0"/>
              <a:t> of </a:t>
            </a:r>
            <a:r>
              <a:rPr lang="hu-HU" sz="4000" dirty="0" err="1" smtClean="0"/>
              <a:t>the</a:t>
            </a:r>
            <a:r>
              <a:rPr lang="hu-HU" sz="4000" dirty="0" smtClean="0"/>
              <a:t> Main </a:t>
            </a:r>
            <a:r>
              <a:rPr lang="hu-HU" sz="4000" dirty="0" err="1" smtClean="0"/>
              <a:t>Approaches</a:t>
            </a:r>
            <a:endParaRPr lang="en-GB" sz="400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 err="1" smtClean="0"/>
              <a:t>LSA</a:t>
            </a:r>
            <a:r>
              <a:rPr lang="hu-HU" dirty="0" smtClean="0"/>
              <a:t>/</a:t>
            </a:r>
            <a:r>
              <a:rPr lang="hu-HU" dirty="0" err="1" smtClean="0"/>
              <a:t>LSI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term-document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allows</a:t>
            </a:r>
            <a:r>
              <a:rPr lang="hu-HU" dirty="0" smtClean="0"/>
              <a:t> </a:t>
            </a:r>
            <a:r>
              <a:rPr lang="hu-HU" dirty="0" err="1" smtClean="0"/>
              <a:t>us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create</a:t>
            </a:r>
            <a:r>
              <a:rPr lang="hu-HU" dirty="0" smtClean="0"/>
              <a:t>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and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endParaRPr lang="hu-HU" dirty="0" smtClean="0"/>
          </a:p>
          <a:p>
            <a:r>
              <a:rPr lang="hu-HU" dirty="0" smtClean="0"/>
              <a:t>word2vec and </a:t>
            </a:r>
            <a:r>
              <a:rPr lang="hu-HU" dirty="0" err="1" smtClean="0"/>
              <a:t>GloVe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create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endParaRPr lang="hu-HU" dirty="0" smtClean="0"/>
          </a:p>
          <a:p>
            <a:r>
              <a:rPr lang="hu-HU" dirty="0" err="1" smtClean="0"/>
              <a:t>fastText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learn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and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parallel</a:t>
            </a:r>
          </a:p>
          <a:p>
            <a:r>
              <a:rPr lang="hu-HU" dirty="0"/>
              <a:t>T</a:t>
            </a:r>
            <a:r>
              <a:rPr lang="hu-HU" dirty="0" smtClean="0"/>
              <a:t>he </a:t>
            </a:r>
            <a:r>
              <a:rPr lang="hu-HU" dirty="0" err="1" smtClean="0"/>
              <a:t>results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of </a:t>
            </a:r>
            <a:r>
              <a:rPr lang="hu-HU" dirty="0" err="1" smtClean="0"/>
              <a:t>comparable</a:t>
            </a:r>
            <a:r>
              <a:rPr lang="hu-HU" dirty="0" smtClean="0"/>
              <a:t> </a:t>
            </a:r>
            <a:r>
              <a:rPr lang="hu-HU" dirty="0" err="1" smtClean="0"/>
              <a:t>quality</a:t>
            </a:r>
            <a:endParaRPr lang="hu-HU" dirty="0" smtClean="0"/>
          </a:p>
          <a:p>
            <a:r>
              <a:rPr lang="hu-HU" dirty="0" err="1" smtClean="0"/>
              <a:t>Training</a:t>
            </a:r>
            <a:r>
              <a:rPr lang="hu-HU" dirty="0" smtClean="0"/>
              <a:t> a word2vec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fastText</a:t>
            </a:r>
            <a:r>
              <a:rPr lang="hu-HU" dirty="0" smtClean="0"/>
              <a:t> </a:t>
            </a:r>
            <a:r>
              <a:rPr lang="hu-HU" dirty="0" err="1" smtClean="0"/>
              <a:t>dictionary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iteratively</a:t>
            </a:r>
            <a:r>
              <a:rPr lang="hu-HU" dirty="0" smtClean="0"/>
              <a:t> </a:t>
            </a:r>
            <a:r>
              <a:rPr lang="hu-HU" dirty="0" err="1" smtClean="0"/>
              <a:t>takes</a:t>
            </a:r>
            <a:r>
              <a:rPr lang="hu-HU" dirty="0" smtClean="0"/>
              <a:t> </a:t>
            </a:r>
            <a:r>
              <a:rPr lang="hu-HU" dirty="0" err="1" smtClean="0"/>
              <a:t>longer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requires</a:t>
            </a:r>
            <a:r>
              <a:rPr lang="hu-HU" dirty="0" smtClean="0"/>
              <a:t> </a:t>
            </a:r>
            <a:r>
              <a:rPr lang="hu-HU" dirty="0" err="1" smtClean="0"/>
              <a:t>much</a:t>
            </a:r>
            <a:r>
              <a:rPr lang="hu-HU" dirty="0" smtClean="0"/>
              <a:t> less </a:t>
            </a:r>
            <a:r>
              <a:rPr lang="hu-HU" dirty="0" err="1" smtClean="0"/>
              <a:t>memory</a:t>
            </a:r>
            <a:r>
              <a:rPr lang="hu-HU" dirty="0" smtClean="0"/>
              <a:t> </a:t>
            </a:r>
            <a:r>
              <a:rPr lang="hu-HU" dirty="0" err="1" smtClean="0"/>
              <a:t>than</a:t>
            </a:r>
            <a:r>
              <a:rPr lang="hu-HU" dirty="0" smtClean="0"/>
              <a:t> </a:t>
            </a:r>
            <a:r>
              <a:rPr lang="hu-HU" dirty="0" err="1" smtClean="0"/>
              <a:t>applying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 </a:t>
            </a:r>
            <a:r>
              <a:rPr lang="hu-HU" dirty="0" err="1" smtClean="0"/>
              <a:t>factorisation</a:t>
            </a:r>
            <a:r>
              <a:rPr lang="hu-HU" dirty="0" smtClean="0"/>
              <a:t> </a:t>
            </a:r>
            <a:r>
              <a:rPr lang="hu-HU" dirty="0" err="1" smtClean="0"/>
              <a:t>approaches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Generally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iterative</a:t>
            </a:r>
            <a:r>
              <a:rPr lang="hu-HU" dirty="0" smtClean="0"/>
              <a:t> </a:t>
            </a:r>
            <a:r>
              <a:rPr lang="hu-HU" dirty="0" err="1" smtClean="0"/>
              <a:t>approaches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more </a:t>
            </a:r>
            <a:r>
              <a:rPr lang="hu-HU" dirty="0" err="1" smtClean="0"/>
              <a:t>scalable</a:t>
            </a:r>
            <a:r>
              <a:rPr lang="hu-HU" dirty="0" smtClean="0"/>
              <a:t> </a:t>
            </a:r>
            <a:r>
              <a:rPr lang="hu-HU" dirty="0" err="1" smtClean="0"/>
              <a:t>when</a:t>
            </a:r>
            <a:r>
              <a:rPr lang="hu-HU" dirty="0" smtClean="0"/>
              <a:t> </a:t>
            </a:r>
            <a:r>
              <a:rPr lang="hu-HU" dirty="0" err="1" smtClean="0"/>
              <a:t>working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large</a:t>
            </a:r>
            <a:r>
              <a:rPr lang="hu-HU" dirty="0" smtClean="0"/>
              <a:t> </a:t>
            </a:r>
            <a:r>
              <a:rPr lang="hu-HU" dirty="0" err="1" smtClean="0"/>
              <a:t>corpora</a:t>
            </a:r>
            <a:r>
              <a:rPr lang="hu-HU" dirty="0" smtClean="0"/>
              <a:t> and </a:t>
            </a:r>
            <a:r>
              <a:rPr lang="hu-HU" dirty="0" err="1" smtClean="0"/>
              <a:t>dictionaries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really</a:t>
            </a:r>
            <a:r>
              <a:rPr lang="hu-HU" dirty="0" smtClean="0"/>
              <a:t> </a:t>
            </a:r>
            <a:r>
              <a:rPr lang="hu-HU" dirty="0" err="1" smtClean="0"/>
              <a:t>need</a:t>
            </a:r>
            <a:r>
              <a:rPr lang="hu-HU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large</a:t>
            </a:r>
            <a:r>
              <a:rPr lang="hu-HU" dirty="0" smtClean="0"/>
              <a:t> </a:t>
            </a:r>
            <a:r>
              <a:rPr lang="hu-HU" dirty="0" err="1" smtClean="0"/>
              <a:t>dictionaries</a:t>
            </a:r>
            <a:r>
              <a:rPr lang="hu-HU" dirty="0"/>
              <a:t>?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422814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Ways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Get</a:t>
            </a:r>
            <a:r>
              <a:rPr lang="hu-HU" dirty="0" smtClean="0"/>
              <a:t> Word </a:t>
            </a:r>
            <a:r>
              <a:rPr lang="hu-HU" dirty="0" err="1" smtClean="0"/>
              <a:t>Vectors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 smtClean="0"/>
              <a:t>Given</a:t>
            </a:r>
            <a:r>
              <a:rPr lang="hu-HU" dirty="0" smtClean="0"/>
              <a:t> a </a:t>
            </a:r>
            <a:r>
              <a:rPr lang="hu-HU" dirty="0" err="1" smtClean="0"/>
              <a:t>training</a:t>
            </a:r>
            <a:r>
              <a:rPr lang="hu-HU" dirty="0" smtClean="0"/>
              <a:t> corpus, a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dictionary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scratch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openly</a:t>
            </a:r>
            <a:r>
              <a:rPr lang="hu-HU" dirty="0" smtClean="0"/>
              <a:t> </a:t>
            </a:r>
            <a:r>
              <a:rPr lang="hu-HU" dirty="0" err="1" smtClean="0"/>
              <a:t>available</a:t>
            </a:r>
            <a:r>
              <a:rPr lang="hu-HU" dirty="0" smtClean="0"/>
              <a:t> </a:t>
            </a:r>
            <a:r>
              <a:rPr lang="hu-HU" dirty="0" err="1" smtClean="0"/>
              <a:t>official</a:t>
            </a:r>
            <a:r>
              <a:rPr lang="hu-HU" dirty="0" smtClean="0"/>
              <a:t> </a:t>
            </a:r>
            <a:r>
              <a:rPr lang="hu-HU" dirty="0" err="1" smtClean="0"/>
              <a:t>implementations</a:t>
            </a:r>
            <a:endParaRPr lang="hu-HU" dirty="0" smtClean="0"/>
          </a:p>
          <a:p>
            <a:r>
              <a:rPr lang="hu-HU" dirty="0" smtClean="0"/>
              <a:t>Word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pre-trained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large</a:t>
            </a:r>
            <a:r>
              <a:rPr lang="hu-HU" dirty="0" smtClean="0"/>
              <a:t> (</a:t>
            </a:r>
            <a:r>
              <a:rPr lang="hu-HU" dirty="0" err="1" smtClean="0"/>
              <a:t>billion-token</a:t>
            </a:r>
            <a:r>
              <a:rPr lang="hu-HU" dirty="0" smtClean="0"/>
              <a:t> </a:t>
            </a:r>
            <a:r>
              <a:rPr lang="hu-HU" dirty="0" err="1" smtClean="0"/>
              <a:t>range</a:t>
            </a:r>
            <a:r>
              <a:rPr lang="hu-HU" dirty="0" smtClean="0"/>
              <a:t>) </a:t>
            </a:r>
            <a:r>
              <a:rPr lang="hu-HU" dirty="0" err="1" smtClean="0"/>
              <a:t>corpora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be </a:t>
            </a:r>
            <a:r>
              <a:rPr lang="hu-HU" dirty="0" err="1" smtClean="0"/>
              <a:t>downloaded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SpaCy</a:t>
            </a:r>
            <a:r>
              <a:rPr lang="hu-HU" dirty="0" smtClean="0"/>
              <a:t> </a:t>
            </a:r>
            <a:r>
              <a:rPr lang="hu-HU" dirty="0" err="1" smtClean="0"/>
              <a:t>md</a:t>
            </a:r>
            <a:r>
              <a:rPr lang="hu-HU" dirty="0" smtClean="0"/>
              <a:t> and lg </a:t>
            </a:r>
            <a:r>
              <a:rPr lang="hu-HU" dirty="0" err="1" smtClean="0"/>
              <a:t>models</a:t>
            </a:r>
            <a:endParaRPr lang="hu-HU" dirty="0" smtClean="0"/>
          </a:p>
          <a:p>
            <a:pPr lvl="1"/>
            <a:r>
              <a:rPr lang="hu-HU" dirty="0" err="1" smtClean="0"/>
              <a:t>official</a:t>
            </a:r>
            <a:r>
              <a:rPr lang="hu-HU" dirty="0" smtClean="0"/>
              <a:t> word2vec, </a:t>
            </a:r>
            <a:r>
              <a:rPr lang="hu-HU" dirty="0" err="1" smtClean="0"/>
              <a:t>GloVe</a:t>
            </a:r>
            <a:r>
              <a:rPr lang="hu-HU" dirty="0" smtClean="0"/>
              <a:t>, </a:t>
            </a:r>
            <a:r>
              <a:rPr lang="hu-HU" dirty="0" err="1" smtClean="0"/>
              <a:t>fastText</a:t>
            </a:r>
            <a:r>
              <a:rPr lang="hu-HU" dirty="0" smtClean="0"/>
              <a:t> </a:t>
            </a:r>
            <a:r>
              <a:rPr lang="hu-HU" dirty="0" err="1" smtClean="0"/>
              <a:t>repositories</a:t>
            </a:r>
            <a:endParaRPr lang="hu-HU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079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Sentence</a:t>
            </a:r>
            <a:r>
              <a:rPr lang="hu-HU" dirty="0" smtClean="0"/>
              <a:t> and Text </a:t>
            </a:r>
            <a:r>
              <a:rPr lang="hu-HU" dirty="0" err="1" smtClean="0"/>
              <a:t>Vectors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hu-HU" dirty="0" err="1" smtClean="0"/>
              <a:t>NLP</a:t>
            </a:r>
            <a:r>
              <a:rPr lang="hu-HU" dirty="0" smtClean="0"/>
              <a:t> </a:t>
            </a:r>
            <a:r>
              <a:rPr lang="hu-HU" dirty="0" err="1" smtClean="0"/>
              <a:t>tasks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 </a:t>
            </a:r>
            <a:r>
              <a:rPr lang="hu-HU" dirty="0" err="1" smtClean="0"/>
              <a:t>answering</a:t>
            </a:r>
            <a:r>
              <a:rPr lang="hu-HU" dirty="0" smtClean="0"/>
              <a:t>,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classification</a:t>
            </a:r>
            <a:r>
              <a:rPr lang="hu-HU" dirty="0" smtClean="0"/>
              <a:t>, </a:t>
            </a:r>
            <a:r>
              <a:rPr lang="hu-HU" dirty="0" err="1" smtClean="0"/>
              <a:t>sentiment</a:t>
            </a:r>
            <a:r>
              <a:rPr lang="hu-HU" dirty="0" smtClean="0"/>
              <a:t> </a:t>
            </a:r>
            <a:r>
              <a:rPr lang="hu-HU" dirty="0" err="1" smtClean="0"/>
              <a:t>analysis</a:t>
            </a:r>
            <a:r>
              <a:rPr lang="hu-HU" dirty="0" smtClean="0"/>
              <a:t>, </a:t>
            </a:r>
            <a:r>
              <a:rPr lang="hu-HU" dirty="0" err="1" smtClean="0"/>
              <a:t>cross-lingual</a:t>
            </a:r>
            <a:r>
              <a:rPr lang="hu-HU" dirty="0" smtClean="0"/>
              <a:t> </a:t>
            </a:r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alignment</a:t>
            </a:r>
            <a:r>
              <a:rPr lang="hu-HU" dirty="0" smtClean="0"/>
              <a:t>, etc. </a:t>
            </a:r>
            <a:r>
              <a:rPr lang="hu-HU" dirty="0" err="1" smtClean="0"/>
              <a:t>require</a:t>
            </a:r>
            <a:r>
              <a:rPr lang="hu-HU" dirty="0" smtClean="0"/>
              <a:t> </a:t>
            </a:r>
            <a:r>
              <a:rPr lang="hu-HU" dirty="0" err="1" smtClean="0"/>
              <a:t>comparing</a:t>
            </a:r>
            <a:r>
              <a:rPr lang="hu-HU" dirty="0" smtClean="0"/>
              <a:t> </a:t>
            </a:r>
            <a:r>
              <a:rPr lang="hu-HU" dirty="0" err="1" smtClean="0"/>
              <a:t>meanings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level</a:t>
            </a:r>
            <a:r>
              <a:rPr lang="hu-HU" dirty="0" smtClean="0"/>
              <a:t> (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)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level</a:t>
            </a:r>
            <a:endParaRPr lang="hu-HU" dirty="0" smtClean="0"/>
          </a:p>
          <a:p>
            <a:r>
              <a:rPr lang="hu-HU" dirty="0" err="1" smtClean="0"/>
              <a:t>Adding</a:t>
            </a:r>
            <a:r>
              <a:rPr lang="hu-HU" dirty="0" smtClean="0"/>
              <a:t> </a:t>
            </a:r>
            <a:r>
              <a:rPr lang="hu-HU" dirty="0" err="1" smtClean="0"/>
              <a:t>together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of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sentence</a:t>
            </a:r>
            <a:r>
              <a:rPr lang="hu-HU" dirty="0" smtClean="0"/>
              <a:t> and </a:t>
            </a:r>
            <a:r>
              <a:rPr lang="hu-HU" dirty="0" err="1" smtClean="0"/>
              <a:t>resizing</a:t>
            </a:r>
            <a:r>
              <a:rPr lang="hu-HU" dirty="0" smtClean="0"/>
              <a:t> </a:t>
            </a:r>
            <a:r>
              <a:rPr lang="hu-HU" dirty="0" err="1" smtClean="0"/>
              <a:t>them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unit </a:t>
            </a:r>
            <a:r>
              <a:rPr lang="hu-HU" dirty="0" err="1" smtClean="0"/>
              <a:t>length</a:t>
            </a:r>
            <a:r>
              <a:rPr lang="hu-HU" dirty="0" smtClean="0"/>
              <a:t> </a:t>
            </a:r>
            <a:r>
              <a:rPr lang="hu-HU" dirty="0" err="1" smtClean="0"/>
              <a:t>works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practice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Ignores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order</a:t>
            </a:r>
            <a:r>
              <a:rPr lang="hu-HU" dirty="0" smtClean="0"/>
              <a:t> </a:t>
            </a:r>
            <a:r>
              <a:rPr lang="hu-HU" dirty="0" err="1" smtClean="0"/>
              <a:t>entirely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retains</a:t>
            </a:r>
            <a:r>
              <a:rPr lang="hu-HU" dirty="0" smtClean="0"/>
              <a:t> </a:t>
            </a:r>
            <a:r>
              <a:rPr lang="hu-HU" dirty="0" err="1" smtClean="0"/>
              <a:t>synonymy</a:t>
            </a:r>
            <a:r>
              <a:rPr lang="hu-HU" dirty="0" smtClean="0"/>
              <a:t> </a:t>
            </a:r>
            <a:r>
              <a:rPr lang="hu-HU" dirty="0" err="1" smtClean="0"/>
              <a:t>relationships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sentences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Thus</a:t>
            </a:r>
            <a:r>
              <a:rPr lang="hu-HU" dirty="0" smtClean="0"/>
              <a:t> </a:t>
            </a:r>
            <a:r>
              <a:rPr lang="hu-HU" dirty="0" err="1" smtClean="0"/>
              <a:t>averaging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unit-lenth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sentence</a:t>
            </a:r>
            <a:r>
              <a:rPr lang="hu-HU" dirty="0" smtClean="0"/>
              <a:t> is a </a:t>
            </a:r>
            <a:r>
              <a:rPr lang="hu-HU" dirty="0" err="1" smtClean="0"/>
              <a:t>good</a:t>
            </a:r>
            <a:r>
              <a:rPr lang="hu-HU" dirty="0" smtClean="0"/>
              <a:t> </a:t>
            </a:r>
            <a:r>
              <a:rPr lang="hu-HU" dirty="0" err="1" smtClean="0"/>
              <a:t>alternative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derived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SVD</a:t>
            </a:r>
            <a:r>
              <a:rPr lang="hu-H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549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Transformers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62500" lnSpcReduction="20000"/>
          </a:bodyPr>
          <a:lstStyle/>
          <a:p>
            <a:r>
              <a:rPr lang="hu-HU" dirty="0" smtClean="0"/>
              <a:t>A </a:t>
            </a:r>
            <a:r>
              <a:rPr lang="hu-HU" dirty="0" err="1" smtClean="0"/>
              <a:t>different</a:t>
            </a:r>
            <a:r>
              <a:rPr lang="hu-HU" dirty="0" smtClean="0"/>
              <a:t>, more modern </a:t>
            </a:r>
            <a:r>
              <a:rPr lang="hu-HU" dirty="0" err="1" smtClean="0"/>
              <a:t>approach</a:t>
            </a:r>
            <a:r>
              <a:rPr lang="hu-HU" dirty="0" smtClean="0"/>
              <a:t> is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transformers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Transformers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neural</a:t>
            </a:r>
            <a:r>
              <a:rPr lang="hu-HU" dirty="0" smtClean="0"/>
              <a:t> </a:t>
            </a:r>
            <a:r>
              <a:rPr lang="hu-HU" dirty="0" err="1" smtClean="0"/>
              <a:t>networks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calculate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representations</a:t>
            </a:r>
            <a:r>
              <a:rPr lang="hu-HU" dirty="0" smtClean="0"/>
              <a:t> of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weighted</a:t>
            </a:r>
            <a:r>
              <a:rPr lang="hu-HU" dirty="0" smtClean="0"/>
              <a:t> </a:t>
            </a:r>
            <a:r>
              <a:rPr lang="hu-HU" dirty="0" err="1" smtClean="0"/>
              <a:t>sums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make</a:t>
            </a:r>
            <a:r>
              <a:rPr lang="hu-HU" dirty="0" smtClean="0"/>
              <a:t> </a:t>
            </a:r>
            <a:r>
              <a:rPr lang="hu-HU" dirty="0" err="1" smtClean="0"/>
              <a:t>up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given</a:t>
            </a:r>
            <a:r>
              <a:rPr lang="hu-HU" dirty="0" smtClean="0"/>
              <a:t> </a:t>
            </a:r>
            <a:r>
              <a:rPr lang="hu-HU" dirty="0" err="1" smtClean="0"/>
              <a:t>extended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The input is a </a:t>
            </a:r>
            <a:r>
              <a:rPr lang="hu-HU" dirty="0" err="1" smtClean="0"/>
              <a:t>non-contextualised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,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word2vec.</a:t>
            </a:r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dirty="0" err="1" smtClean="0"/>
              <a:t>combined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a </a:t>
            </a:r>
            <a:r>
              <a:rPr lang="hu-HU" dirty="0" err="1" smtClean="0"/>
              <a:t>so-called</a:t>
            </a:r>
            <a:r>
              <a:rPr lang="hu-HU" dirty="0" smtClean="0"/>
              <a:t> </a:t>
            </a:r>
            <a:r>
              <a:rPr lang="hu-HU" dirty="0" err="1" smtClean="0"/>
              <a:t>positional</a:t>
            </a:r>
            <a:r>
              <a:rPr lang="hu-HU" dirty="0" smtClean="0"/>
              <a:t> </a:t>
            </a:r>
            <a:r>
              <a:rPr lang="hu-HU" dirty="0" err="1" smtClean="0"/>
              <a:t>embedding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encodes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relative</a:t>
            </a:r>
            <a:r>
              <a:rPr lang="hu-HU" dirty="0" smtClean="0"/>
              <a:t> </a:t>
            </a:r>
            <a:r>
              <a:rPr lang="hu-HU" dirty="0" err="1" smtClean="0"/>
              <a:t>position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input </a:t>
            </a:r>
            <a:r>
              <a:rPr lang="hu-HU" dirty="0" err="1" smtClean="0"/>
              <a:t>sequence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The output is a </a:t>
            </a:r>
            <a:r>
              <a:rPr lang="hu-HU" dirty="0" err="1" smtClean="0"/>
              <a:t>weighted</a:t>
            </a:r>
            <a:r>
              <a:rPr lang="hu-HU" dirty="0" smtClean="0"/>
              <a:t> sum of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within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given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Including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target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itself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just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words</a:t>
            </a:r>
            <a:r>
              <a:rPr lang="hu-HU" dirty="0" smtClean="0"/>
              <a:t>, </a:t>
            </a:r>
            <a:r>
              <a:rPr lang="hu-HU" dirty="0" err="1" smtClean="0"/>
              <a:t>unlike</a:t>
            </a:r>
            <a:r>
              <a:rPr lang="hu-HU" dirty="0" smtClean="0"/>
              <a:t> </a:t>
            </a:r>
            <a:r>
              <a:rPr lang="hu-HU" dirty="0" err="1" smtClean="0"/>
              <a:t>skip-gram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Weighting</a:t>
            </a:r>
            <a:r>
              <a:rPr lang="hu-HU" dirty="0" smtClean="0"/>
              <a:t> </a:t>
            </a:r>
            <a:r>
              <a:rPr lang="hu-HU" dirty="0" err="1" smtClean="0"/>
              <a:t>takes</a:t>
            </a:r>
            <a:r>
              <a:rPr lang="hu-HU" dirty="0" smtClean="0"/>
              <a:t> </a:t>
            </a:r>
            <a:r>
              <a:rPr lang="hu-HU" dirty="0" err="1" smtClean="0"/>
              <a:t>into</a:t>
            </a:r>
            <a:r>
              <a:rPr lang="hu-HU" dirty="0" smtClean="0"/>
              <a:t> </a:t>
            </a:r>
            <a:r>
              <a:rPr lang="hu-HU" dirty="0" err="1" smtClean="0"/>
              <a:t>consideration</a:t>
            </a:r>
            <a:r>
              <a:rPr lang="hu-HU" dirty="0" smtClean="0"/>
              <a:t> </a:t>
            </a:r>
            <a:r>
              <a:rPr lang="hu-HU" dirty="0" err="1" smtClean="0"/>
              <a:t>linear</a:t>
            </a:r>
            <a:r>
              <a:rPr lang="hu-HU" dirty="0" smtClean="0"/>
              <a:t> </a:t>
            </a:r>
            <a:r>
              <a:rPr lang="hu-HU" dirty="0" err="1" smtClean="0"/>
              <a:t>distance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central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and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endParaRPr lang="hu-HU" dirty="0"/>
          </a:p>
          <a:p>
            <a:pPr lvl="2"/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semantic</a:t>
            </a:r>
            <a:r>
              <a:rPr lang="hu-HU" dirty="0" smtClean="0"/>
              <a:t> </a:t>
            </a:r>
            <a:r>
              <a:rPr lang="hu-HU" dirty="0" err="1" smtClean="0"/>
              <a:t>similarity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them</a:t>
            </a:r>
            <a:r>
              <a:rPr lang="hu-HU" dirty="0" smtClean="0"/>
              <a:t>.</a:t>
            </a:r>
            <a:endParaRPr lang="hu-HU" dirty="0"/>
          </a:p>
          <a:p>
            <a:pPr lvl="2"/>
            <a:r>
              <a:rPr lang="hu-HU" dirty="0" smtClean="0"/>
              <a:t>The </a:t>
            </a:r>
            <a:r>
              <a:rPr lang="hu-HU" dirty="0" err="1" smtClean="0"/>
              <a:t>context</a:t>
            </a:r>
            <a:r>
              <a:rPr lang="hu-HU" dirty="0" smtClean="0"/>
              <a:t> is </a:t>
            </a:r>
            <a:r>
              <a:rPr lang="hu-HU" dirty="0" err="1" smtClean="0"/>
              <a:t>much</a:t>
            </a:r>
            <a:r>
              <a:rPr lang="hu-HU" dirty="0" smtClean="0"/>
              <a:t> </a:t>
            </a:r>
            <a:r>
              <a:rPr lang="hu-HU" dirty="0" err="1" smtClean="0"/>
              <a:t>larger</a:t>
            </a:r>
            <a:r>
              <a:rPr lang="hu-HU" dirty="0" smtClean="0"/>
              <a:t>,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default</a:t>
            </a:r>
            <a:r>
              <a:rPr lang="hu-HU" dirty="0" smtClean="0"/>
              <a:t> </a:t>
            </a:r>
            <a:r>
              <a:rPr lang="hu-HU" dirty="0" err="1" smtClean="0"/>
              <a:t>about</a:t>
            </a:r>
            <a:r>
              <a:rPr lang="hu-HU" dirty="0" smtClean="0"/>
              <a:t> 500 </a:t>
            </a:r>
            <a:r>
              <a:rPr lang="hu-HU" dirty="0" err="1" smtClean="0"/>
              <a:t>tokens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Every</a:t>
            </a:r>
            <a:r>
              <a:rPr lang="hu-HU" dirty="0" smtClean="0"/>
              <a:t> </a:t>
            </a:r>
            <a:r>
              <a:rPr lang="hu-HU" dirty="0" err="1" smtClean="0"/>
              <a:t>single</a:t>
            </a:r>
            <a:r>
              <a:rPr lang="hu-HU" dirty="0" smtClean="0"/>
              <a:t> </a:t>
            </a:r>
            <a:r>
              <a:rPr lang="hu-HU" dirty="0" err="1" smtClean="0"/>
              <a:t>contextualised</a:t>
            </a:r>
            <a:r>
              <a:rPr lang="hu-HU" dirty="0" smtClean="0"/>
              <a:t> (output)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is a </a:t>
            </a:r>
            <a:r>
              <a:rPr lang="hu-HU" dirty="0" err="1" smtClean="0"/>
              <a:t>weighted</a:t>
            </a:r>
            <a:r>
              <a:rPr lang="hu-HU" dirty="0" smtClean="0"/>
              <a:t> </a:t>
            </a:r>
            <a:r>
              <a:rPr lang="hu-HU" dirty="0" err="1" smtClean="0"/>
              <a:t>summary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entire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focuses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central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then</a:t>
            </a:r>
            <a:r>
              <a:rPr lang="hu-HU" dirty="0" smtClean="0"/>
              <a:t> a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</a:t>
            </a:r>
            <a:r>
              <a:rPr lang="hu-HU" dirty="0" err="1" smtClean="0"/>
              <a:t>calculate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b="1" dirty="0" err="1" smtClean="0"/>
              <a:t>weighted</a:t>
            </a:r>
            <a:r>
              <a:rPr lang="hu-HU" b="1" dirty="0" smtClean="0"/>
              <a:t> </a:t>
            </a:r>
            <a:r>
              <a:rPr lang="hu-HU" b="1" dirty="0" err="1" smtClean="0"/>
              <a:t>summary</a:t>
            </a:r>
            <a:r>
              <a:rPr lang="hu-HU" b="1" dirty="0" smtClean="0"/>
              <a:t> of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entire</a:t>
            </a:r>
            <a:r>
              <a:rPr lang="hu-HU" b="1" dirty="0" smtClean="0"/>
              <a:t> </a:t>
            </a:r>
            <a:r>
              <a:rPr lang="hu-HU" b="1" dirty="0" err="1" smtClean="0"/>
              <a:t>context</a:t>
            </a:r>
            <a:r>
              <a:rPr lang="hu-HU" b="1" dirty="0" smtClean="0"/>
              <a:t> </a:t>
            </a:r>
            <a:r>
              <a:rPr lang="hu-HU" b="1" dirty="0" err="1" smtClean="0"/>
              <a:t>without</a:t>
            </a:r>
            <a:r>
              <a:rPr lang="hu-HU" b="1" dirty="0" smtClean="0"/>
              <a:t> </a:t>
            </a:r>
            <a:r>
              <a:rPr lang="hu-HU" b="1" dirty="0" err="1" smtClean="0"/>
              <a:t>focusing</a:t>
            </a:r>
            <a:r>
              <a:rPr lang="hu-HU" b="1" dirty="0" smtClean="0"/>
              <a:t> </a:t>
            </a:r>
            <a:r>
              <a:rPr lang="hu-HU" b="1" dirty="0" err="1" smtClean="0"/>
              <a:t>on</a:t>
            </a:r>
            <a:r>
              <a:rPr lang="hu-HU" b="1" dirty="0" smtClean="0"/>
              <a:t> </a:t>
            </a:r>
            <a:r>
              <a:rPr lang="hu-HU" b="1" dirty="0" err="1" smtClean="0"/>
              <a:t>any</a:t>
            </a:r>
            <a:r>
              <a:rPr lang="hu-HU" b="1" dirty="0" smtClean="0"/>
              <a:t> </a:t>
            </a:r>
            <a:r>
              <a:rPr lang="hu-HU" b="1" dirty="0" err="1" smtClean="0"/>
              <a:t>single</a:t>
            </a:r>
            <a:r>
              <a:rPr lang="hu-HU" b="1" dirty="0" smtClean="0"/>
              <a:t> </a:t>
            </a:r>
            <a:r>
              <a:rPr lang="hu-HU" b="1" dirty="0" err="1" smtClean="0"/>
              <a:t>word</a:t>
            </a:r>
            <a:r>
              <a:rPr lang="hu-HU" dirty="0"/>
              <a:t>.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1364969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Transformers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55000" lnSpcReduction="20000"/>
          </a:bodyPr>
          <a:lstStyle/>
          <a:p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Transformers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transformers</a:t>
            </a:r>
            <a:r>
              <a:rPr lang="hu-HU" dirty="0" smtClean="0"/>
              <a:t> </a:t>
            </a:r>
            <a:r>
              <a:rPr lang="hu-HU" dirty="0" err="1" smtClean="0"/>
              <a:t>fine-tuned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calculating</a:t>
            </a:r>
            <a:r>
              <a:rPr lang="hu-HU" dirty="0" smtClean="0"/>
              <a:t> </a:t>
            </a:r>
            <a:r>
              <a:rPr lang="hu-HU" dirty="0" err="1" smtClean="0"/>
              <a:t>meaningful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representation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compared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cosine</a:t>
            </a:r>
            <a:r>
              <a:rPr lang="hu-HU" dirty="0" smtClean="0"/>
              <a:t> </a:t>
            </a:r>
            <a:r>
              <a:rPr lang="hu-HU" dirty="0" err="1" smtClean="0"/>
              <a:t>similarity</a:t>
            </a:r>
            <a:endParaRPr lang="hu-HU" dirty="0"/>
          </a:p>
          <a:p>
            <a:pPr lvl="1"/>
            <a:r>
              <a:rPr lang="hu-HU" dirty="0" err="1" smtClean="0"/>
              <a:t>First</a:t>
            </a:r>
            <a:r>
              <a:rPr lang="hu-HU" dirty="0" smtClean="0"/>
              <a:t> </a:t>
            </a:r>
            <a:r>
              <a:rPr lang="hu-HU" dirty="0" err="1" smtClean="0"/>
              <a:t>introduced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>
                <a:hlinkClick r:id="rId2"/>
              </a:rPr>
              <a:t>Sentence-BERT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2019</a:t>
            </a:r>
          </a:p>
          <a:p>
            <a:pPr lvl="1"/>
            <a:r>
              <a:rPr lang="hu-HU" dirty="0" err="1" smtClean="0"/>
              <a:t>Despite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name</a:t>
            </a:r>
            <a:r>
              <a:rPr lang="hu-HU" dirty="0" smtClean="0"/>
              <a:t>, </a:t>
            </a:r>
            <a:r>
              <a:rPr lang="hu-HU" dirty="0" err="1" smtClean="0"/>
              <a:t>what</a:t>
            </a:r>
            <a:r>
              <a:rPr lang="hu-HU" dirty="0" smtClean="0"/>
              <a:t> is </a:t>
            </a:r>
            <a:r>
              <a:rPr lang="hu-HU" dirty="0" err="1" smtClean="0"/>
              <a:t>represented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is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passed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, i.e. </a:t>
            </a:r>
            <a:r>
              <a:rPr lang="hu-HU" dirty="0" err="1" smtClean="0"/>
              <a:t>up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500 </a:t>
            </a:r>
            <a:r>
              <a:rPr lang="hu-HU" dirty="0" err="1" smtClean="0"/>
              <a:t>tokens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Can</a:t>
            </a:r>
            <a:r>
              <a:rPr lang="hu-HU" dirty="0" smtClean="0"/>
              <a:t> be a </a:t>
            </a:r>
            <a:r>
              <a:rPr lang="hu-HU" dirty="0" err="1" smtClean="0"/>
              <a:t>single</a:t>
            </a:r>
            <a:r>
              <a:rPr lang="hu-HU" dirty="0" smtClean="0"/>
              <a:t> </a:t>
            </a:r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several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Many</a:t>
            </a:r>
            <a:r>
              <a:rPr lang="hu-HU" dirty="0" smtClean="0"/>
              <a:t> </a:t>
            </a:r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available</a:t>
            </a:r>
            <a:r>
              <a:rPr lang="hu-HU" dirty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Hugging</a:t>
            </a:r>
            <a:r>
              <a:rPr lang="hu-HU" dirty="0" smtClean="0"/>
              <a:t> </a:t>
            </a:r>
            <a:r>
              <a:rPr lang="hu-HU" dirty="0" err="1" smtClean="0"/>
              <a:t>Face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library</a:t>
            </a:r>
            <a:endParaRPr lang="hu-HU" dirty="0"/>
          </a:p>
          <a:p>
            <a:pPr lvl="1"/>
            <a:r>
              <a:rPr lang="hu-HU" dirty="0" err="1" smtClean="0"/>
              <a:t>select</a:t>
            </a:r>
            <a:r>
              <a:rPr lang="hu-HU" dirty="0" smtClean="0"/>
              <a:t> </a:t>
            </a:r>
            <a:r>
              <a:rPr lang="hu-HU" i="1" dirty="0" err="1" smtClean="0"/>
              <a:t>sentence-transformers</a:t>
            </a:r>
            <a:r>
              <a:rPr lang="hu-HU" i="1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Libraries</a:t>
            </a:r>
            <a:r>
              <a:rPr lang="hu-HU" dirty="0" smtClean="0"/>
              <a:t> filter </a:t>
            </a:r>
            <a:r>
              <a:rPr lang="hu-HU" dirty="0" err="1" smtClean="0"/>
              <a:t>section</a:t>
            </a:r>
            <a:endParaRPr lang="hu-HU" dirty="0" smtClean="0"/>
          </a:p>
          <a:p>
            <a:pPr lvl="1"/>
            <a:r>
              <a:rPr lang="hu-HU" dirty="0" err="1" smtClean="0"/>
              <a:t>available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different</a:t>
            </a:r>
            <a:r>
              <a:rPr lang="hu-HU" dirty="0" smtClean="0"/>
              <a:t> </a:t>
            </a:r>
            <a:r>
              <a:rPr lang="hu-HU" dirty="0" err="1" smtClean="0"/>
              <a:t>sizes</a:t>
            </a:r>
            <a:r>
              <a:rPr lang="hu-HU" dirty="0" smtClean="0"/>
              <a:t>, </a:t>
            </a:r>
            <a:r>
              <a:rPr lang="hu-HU" dirty="0" err="1" smtClean="0"/>
              <a:t>typically</a:t>
            </a:r>
            <a:r>
              <a:rPr lang="hu-HU" dirty="0" smtClean="0"/>
              <a:t> 0.1B </a:t>
            </a:r>
            <a:r>
              <a:rPr lang="hu-HU" dirty="0" err="1" smtClean="0"/>
              <a:t>to</a:t>
            </a:r>
            <a:r>
              <a:rPr lang="hu-HU" dirty="0" smtClean="0"/>
              <a:t> 8B </a:t>
            </a:r>
            <a:r>
              <a:rPr lang="hu-HU" dirty="0" err="1" smtClean="0"/>
              <a:t>parameters</a:t>
            </a:r>
            <a:endParaRPr lang="hu-HU" dirty="0" smtClean="0"/>
          </a:p>
          <a:p>
            <a:pPr lvl="1"/>
            <a:r>
              <a:rPr lang="hu-HU" i="1" dirty="0" smtClean="0"/>
              <a:t>Qwen3-Embedding, </a:t>
            </a:r>
            <a:r>
              <a:rPr lang="hu-HU" i="1" dirty="0" err="1" smtClean="0"/>
              <a:t>jina-embeddings</a:t>
            </a:r>
            <a:r>
              <a:rPr lang="hu-HU" i="1" dirty="0" smtClean="0"/>
              <a:t>, </a:t>
            </a:r>
            <a:r>
              <a:rPr lang="hu-HU" i="1" dirty="0" err="1" smtClean="0"/>
              <a:t>nomic-embed</a:t>
            </a:r>
            <a:endParaRPr lang="hu-HU" i="1" dirty="0" smtClean="0"/>
          </a:p>
          <a:p>
            <a:pPr lvl="1"/>
            <a:r>
              <a:rPr lang="hu-HU" dirty="0" err="1" smtClean="0"/>
              <a:t>called</a:t>
            </a:r>
            <a:r>
              <a:rPr lang="hu-HU" dirty="0" smtClean="0"/>
              <a:t> </a:t>
            </a:r>
            <a:r>
              <a:rPr lang="hu-HU" dirty="0" err="1" smtClean="0"/>
              <a:t>embedding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people</a:t>
            </a:r>
            <a:r>
              <a:rPr lang="hu-HU" dirty="0" smtClean="0"/>
              <a:t> </a:t>
            </a:r>
            <a:r>
              <a:rPr lang="hu-HU" dirty="0" err="1" smtClean="0"/>
              <a:t>who</a:t>
            </a:r>
            <a:r>
              <a:rPr lang="hu-HU" dirty="0" smtClean="0"/>
              <a:t> </a:t>
            </a:r>
            <a:r>
              <a:rPr lang="hu-HU" dirty="0" err="1" smtClean="0"/>
              <a:t>believe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default</a:t>
            </a:r>
            <a:r>
              <a:rPr lang="hu-HU" dirty="0" smtClean="0"/>
              <a:t> </a:t>
            </a:r>
            <a:r>
              <a:rPr lang="hu-HU" dirty="0" err="1" smtClean="0"/>
              <a:t>generative</a:t>
            </a:r>
            <a:endParaRPr lang="hu-HU" dirty="0" smtClean="0"/>
          </a:p>
          <a:p>
            <a:r>
              <a:rPr lang="hu-HU" dirty="0" err="1" smtClean="0"/>
              <a:t>Some</a:t>
            </a:r>
            <a:r>
              <a:rPr lang="hu-HU" dirty="0" smtClean="0"/>
              <a:t> of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available</a:t>
            </a:r>
            <a:r>
              <a:rPr lang="hu-HU" dirty="0" smtClean="0"/>
              <a:t> and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run</a:t>
            </a:r>
            <a:r>
              <a:rPr lang="hu-HU" dirty="0" smtClean="0"/>
              <a:t> more </a:t>
            </a:r>
            <a:r>
              <a:rPr lang="hu-HU" dirty="0" err="1" smtClean="0"/>
              <a:t>comfortably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Ollama</a:t>
            </a:r>
            <a:endParaRPr lang="hu-HU" dirty="0"/>
          </a:p>
          <a:p>
            <a:pPr lvl="1"/>
            <a:r>
              <a:rPr lang="hu-HU" dirty="0" err="1"/>
              <a:t>https</a:t>
            </a:r>
            <a:r>
              <a:rPr lang="hu-HU" dirty="0"/>
              <a:t>://</a:t>
            </a:r>
            <a:r>
              <a:rPr lang="hu-HU" dirty="0" err="1"/>
              <a:t>docs.ollama.com</a:t>
            </a:r>
            <a:r>
              <a:rPr lang="hu-HU" dirty="0"/>
              <a:t>/</a:t>
            </a:r>
            <a:r>
              <a:rPr lang="hu-HU" dirty="0" err="1"/>
              <a:t>capabilities</a:t>
            </a:r>
            <a:r>
              <a:rPr lang="hu-HU" dirty="0"/>
              <a:t>/</a:t>
            </a:r>
            <a:r>
              <a:rPr lang="hu-HU" dirty="0" err="1"/>
              <a:t>embeddings</a:t>
            </a:r>
            <a:endParaRPr lang="hu-HU" dirty="0" smtClean="0"/>
          </a:p>
          <a:p>
            <a:r>
              <a:rPr lang="hu-HU" dirty="0" err="1" smtClean="0"/>
              <a:t>OpenAI</a:t>
            </a:r>
            <a:r>
              <a:rPr lang="hu-HU" dirty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Google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</a:t>
            </a:r>
            <a:r>
              <a:rPr lang="hu-HU" dirty="0" err="1" smtClean="0"/>
              <a:t>offer</a:t>
            </a:r>
            <a:r>
              <a:rPr lang="hu-HU" dirty="0" smtClean="0"/>
              <a:t> </a:t>
            </a:r>
            <a:r>
              <a:rPr lang="hu-HU" dirty="0" err="1" smtClean="0"/>
              <a:t>embedding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via</a:t>
            </a:r>
            <a:r>
              <a:rPr lang="hu-HU" dirty="0" smtClean="0"/>
              <a:t> </a:t>
            </a:r>
            <a:r>
              <a:rPr lang="hu-HU" dirty="0" err="1" smtClean="0"/>
              <a:t>API</a:t>
            </a:r>
            <a:r>
              <a:rPr lang="hu-HU" dirty="0" smtClean="0"/>
              <a:t>:</a:t>
            </a:r>
          </a:p>
          <a:p>
            <a:pPr lvl="1"/>
            <a:r>
              <a:rPr lang="en-GB" dirty="0"/>
              <a:t>https://</a:t>
            </a:r>
            <a:r>
              <a:rPr lang="en-GB" dirty="0" err="1" smtClean="0"/>
              <a:t>platform.openai.com</a:t>
            </a:r>
            <a:r>
              <a:rPr lang="en-GB" dirty="0" smtClean="0"/>
              <a:t>/docs/</a:t>
            </a:r>
            <a:r>
              <a:rPr lang="en-GB" dirty="0" err="1" smtClean="0"/>
              <a:t>pricing#embeddings</a:t>
            </a:r>
            <a:endParaRPr lang="hu-HU" dirty="0" smtClean="0"/>
          </a:p>
          <a:p>
            <a:pPr lvl="1"/>
            <a:r>
              <a:rPr lang="en-GB" dirty="0"/>
              <a:t>https://</a:t>
            </a:r>
            <a:r>
              <a:rPr lang="en-GB" dirty="0" err="1" smtClean="0"/>
              <a:t>ai.google.dev</a:t>
            </a:r>
            <a:r>
              <a:rPr lang="en-GB" dirty="0" smtClean="0"/>
              <a:t>/</a:t>
            </a:r>
            <a:r>
              <a:rPr lang="en-GB" dirty="0" err="1" smtClean="0"/>
              <a:t>gemini-api</a:t>
            </a:r>
            <a:r>
              <a:rPr lang="en-GB" dirty="0" smtClean="0"/>
              <a:t>/docs/</a:t>
            </a:r>
            <a:r>
              <a:rPr lang="en-GB" dirty="0" err="1" smtClean="0"/>
              <a:t>embeddings</a:t>
            </a:r>
            <a:r>
              <a:rPr lang="hu-HU" dirty="0" smtClean="0"/>
              <a:t> (1000 </a:t>
            </a:r>
            <a:r>
              <a:rPr lang="hu-HU" dirty="0"/>
              <a:t>free </a:t>
            </a:r>
            <a:r>
              <a:rPr lang="hu-HU" dirty="0" err="1" smtClean="0"/>
              <a:t>requests</a:t>
            </a:r>
            <a:r>
              <a:rPr lang="hu-HU" dirty="0" smtClean="0"/>
              <a:t> / </a:t>
            </a:r>
            <a:r>
              <a:rPr lang="hu-HU" dirty="0" err="1" smtClean="0"/>
              <a:t>day</a:t>
            </a:r>
            <a:r>
              <a:rPr lang="hu-HU" dirty="0" smtClean="0"/>
              <a:t>)</a:t>
            </a:r>
          </a:p>
          <a:p>
            <a:pPr lvl="2"/>
            <a:r>
              <a:rPr lang="hu-HU" dirty="0" err="1" smtClean="0"/>
              <a:t>semantic</a:t>
            </a:r>
            <a:r>
              <a:rPr lang="hu-HU" dirty="0" smtClean="0"/>
              <a:t> </a:t>
            </a:r>
            <a:r>
              <a:rPr lang="hu-HU" dirty="0" err="1" smtClean="0"/>
              <a:t>similarity</a:t>
            </a:r>
            <a:r>
              <a:rPr lang="hu-HU" dirty="0" smtClean="0"/>
              <a:t>, </a:t>
            </a:r>
            <a:r>
              <a:rPr lang="hu-HU" dirty="0" err="1" smtClean="0"/>
              <a:t>classification</a:t>
            </a:r>
            <a:r>
              <a:rPr lang="hu-HU" dirty="0" smtClean="0"/>
              <a:t>, </a:t>
            </a:r>
            <a:r>
              <a:rPr lang="hu-HU" dirty="0" err="1" smtClean="0"/>
              <a:t>clustering</a:t>
            </a:r>
            <a:r>
              <a:rPr lang="hu-HU" dirty="0" smtClean="0"/>
              <a:t>, </a:t>
            </a:r>
            <a:r>
              <a:rPr lang="hu-HU" dirty="0" err="1" smtClean="0"/>
              <a:t>retrieval</a:t>
            </a:r>
            <a:r>
              <a:rPr lang="hu-HU" dirty="0" smtClean="0"/>
              <a:t>, </a:t>
            </a:r>
            <a:r>
              <a:rPr lang="hu-HU" dirty="0" err="1" smtClean="0"/>
              <a:t>question</a:t>
            </a:r>
            <a:r>
              <a:rPr lang="hu-HU" dirty="0" smtClean="0"/>
              <a:t>, ...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11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Databases</a:t>
            </a:r>
            <a:r>
              <a:rPr lang="hu-HU" dirty="0" smtClean="0"/>
              <a:t> and RAG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err="1" smtClean="0"/>
              <a:t>Sentence</a:t>
            </a:r>
            <a:r>
              <a:rPr lang="hu-HU" dirty="0" smtClean="0"/>
              <a:t> and more </a:t>
            </a:r>
            <a:r>
              <a:rPr lang="hu-HU" dirty="0" err="1" smtClean="0"/>
              <a:t>generally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crucial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retrieval-augmented</a:t>
            </a:r>
            <a:r>
              <a:rPr lang="hu-HU" dirty="0" smtClean="0"/>
              <a:t> </a:t>
            </a:r>
            <a:r>
              <a:rPr lang="hu-HU" dirty="0" err="1" smtClean="0"/>
              <a:t>generation</a:t>
            </a:r>
            <a:r>
              <a:rPr lang="hu-HU" dirty="0" smtClean="0"/>
              <a:t> (RAG).</a:t>
            </a:r>
          </a:p>
          <a:p>
            <a:r>
              <a:rPr lang="hu-HU" dirty="0" err="1" smtClean="0"/>
              <a:t>State-of-the-art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 </a:t>
            </a:r>
            <a:r>
              <a:rPr lang="hu-HU" dirty="0" err="1" smtClean="0"/>
              <a:t>answering</a:t>
            </a:r>
            <a:r>
              <a:rPr lang="hu-HU" dirty="0" smtClean="0"/>
              <a:t> </a:t>
            </a:r>
            <a:r>
              <a:rPr lang="hu-HU" dirty="0" err="1" smtClean="0"/>
              <a:t>systems</a:t>
            </a:r>
            <a:r>
              <a:rPr lang="hu-HU" dirty="0" smtClean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simply</a:t>
            </a:r>
            <a:r>
              <a:rPr lang="hu-HU" dirty="0" smtClean="0"/>
              <a:t> </a:t>
            </a:r>
            <a:r>
              <a:rPr lang="hu-HU" dirty="0" err="1" smtClean="0"/>
              <a:t>return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raw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matches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user</a:t>
            </a:r>
            <a:r>
              <a:rPr lang="hu-HU" dirty="0" smtClean="0"/>
              <a:t>’s </a:t>
            </a:r>
            <a:r>
              <a:rPr lang="hu-HU" dirty="0" err="1" smtClean="0"/>
              <a:t>question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First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matching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is </a:t>
            </a:r>
            <a:r>
              <a:rPr lang="hu-HU" dirty="0" err="1" smtClean="0"/>
              <a:t>retrieved</a:t>
            </a:r>
            <a:r>
              <a:rPr lang="hu-HU" dirty="0" smtClean="0"/>
              <a:t> (R) </a:t>
            </a:r>
            <a:r>
              <a:rPr lang="hu-HU" dirty="0" err="1"/>
              <a:t>from</a:t>
            </a:r>
            <a:r>
              <a:rPr lang="hu-HU" dirty="0"/>
              <a:t> </a:t>
            </a:r>
            <a:r>
              <a:rPr lang="hu-HU" dirty="0" smtClean="0"/>
              <a:t>a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database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keys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database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(</a:t>
            </a:r>
            <a:r>
              <a:rPr lang="hu-HU" dirty="0" err="1" smtClean="0"/>
              <a:t>embedding</a:t>
            </a:r>
            <a:r>
              <a:rPr lang="hu-HU" dirty="0" smtClean="0"/>
              <a:t>) </a:t>
            </a:r>
            <a:r>
              <a:rPr lang="hu-HU" dirty="0" err="1" smtClean="0"/>
              <a:t>vectors</a:t>
            </a:r>
            <a:r>
              <a:rPr lang="hu-HU" dirty="0" smtClean="0"/>
              <a:t>, </a:t>
            </a:r>
            <a:r>
              <a:rPr lang="hu-HU" dirty="0" err="1" smtClean="0"/>
              <a:t>values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themselves</a:t>
            </a:r>
            <a:endParaRPr lang="hu-HU" dirty="0" smtClean="0"/>
          </a:p>
          <a:p>
            <a:pPr lvl="1"/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query</a:t>
            </a:r>
            <a:r>
              <a:rPr lang="hu-HU" dirty="0" smtClean="0"/>
              <a:t> / </a:t>
            </a:r>
            <a:r>
              <a:rPr lang="hu-HU" dirty="0" err="1" smtClean="0"/>
              <a:t>question</a:t>
            </a:r>
            <a:r>
              <a:rPr lang="hu-HU" dirty="0" smtClean="0"/>
              <a:t> is </a:t>
            </a:r>
            <a:r>
              <a:rPr lang="hu-HU" dirty="0" err="1" smtClean="0"/>
              <a:t>itself</a:t>
            </a:r>
            <a:r>
              <a:rPr lang="hu-HU" dirty="0" smtClean="0"/>
              <a:t> </a:t>
            </a:r>
            <a:r>
              <a:rPr lang="hu-HU" dirty="0" err="1" smtClean="0"/>
              <a:t>transformed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</a:t>
            </a:r>
            <a:r>
              <a:rPr lang="hu-HU" dirty="0" err="1" smtClean="0"/>
              <a:t>embedding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a </a:t>
            </a:r>
            <a:r>
              <a:rPr lang="hu-HU" dirty="0" err="1" smtClean="0"/>
              <a:t>vector</a:t>
            </a:r>
            <a:endParaRPr lang="hu-HU" dirty="0" smtClean="0"/>
          </a:p>
          <a:p>
            <a:pPr lvl="1"/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database</a:t>
            </a:r>
            <a:r>
              <a:rPr lang="hu-HU" dirty="0" smtClean="0"/>
              <a:t> </a:t>
            </a:r>
            <a:r>
              <a:rPr lang="hu-HU" dirty="0" err="1" smtClean="0"/>
              <a:t>looks</a:t>
            </a:r>
            <a:r>
              <a:rPr lang="hu-HU" dirty="0" smtClean="0"/>
              <a:t> </a:t>
            </a:r>
            <a:r>
              <a:rPr lang="hu-HU" dirty="0" err="1" smtClean="0"/>
              <a:t>up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most </a:t>
            </a:r>
            <a:r>
              <a:rPr lang="hu-HU" dirty="0" err="1" smtClean="0"/>
              <a:t>similar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query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and </a:t>
            </a:r>
            <a:r>
              <a:rPr lang="hu-HU" dirty="0" err="1" smtClean="0"/>
              <a:t>returns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corresponding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endParaRPr lang="hu-HU" dirty="0" smtClean="0"/>
          </a:p>
          <a:p>
            <a:r>
              <a:rPr lang="hu-HU" dirty="0" err="1" smtClean="0"/>
              <a:t>Several</a:t>
            </a:r>
            <a:r>
              <a:rPr lang="hu-HU" dirty="0" smtClean="0"/>
              <a:t> </a:t>
            </a:r>
            <a:r>
              <a:rPr lang="hu-HU" dirty="0" err="1" smtClean="0"/>
              <a:t>locally</a:t>
            </a:r>
            <a:r>
              <a:rPr lang="hu-HU" dirty="0" smtClean="0"/>
              <a:t> </a:t>
            </a:r>
            <a:r>
              <a:rPr lang="hu-HU" dirty="0" err="1" smtClean="0"/>
              <a:t>hosted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database</a:t>
            </a:r>
            <a:r>
              <a:rPr lang="hu-HU" dirty="0" smtClean="0"/>
              <a:t> </a:t>
            </a:r>
            <a:r>
              <a:rPr lang="hu-HU" dirty="0" err="1" smtClean="0"/>
              <a:t>systems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available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free</a:t>
            </a:r>
          </a:p>
          <a:p>
            <a:pPr lvl="1"/>
            <a:r>
              <a:rPr lang="hu-HU" dirty="0" err="1" smtClean="0"/>
              <a:t>FAISS</a:t>
            </a:r>
            <a:r>
              <a:rPr lang="hu-HU" dirty="0" smtClean="0"/>
              <a:t>, </a:t>
            </a:r>
            <a:r>
              <a:rPr lang="hu-HU" dirty="0" err="1" smtClean="0"/>
              <a:t>Weaviate</a:t>
            </a:r>
            <a:r>
              <a:rPr lang="hu-HU" dirty="0" smtClean="0"/>
              <a:t>, </a:t>
            </a:r>
            <a:r>
              <a:rPr lang="hu-HU" dirty="0" err="1" smtClean="0"/>
              <a:t>ZeusDB</a:t>
            </a:r>
            <a:r>
              <a:rPr lang="hu-HU" dirty="0" smtClean="0"/>
              <a:t>, etc.</a:t>
            </a:r>
          </a:p>
          <a:p>
            <a:pPr lvl="1"/>
            <a:r>
              <a:rPr lang="hu-HU" dirty="0" err="1" smtClean="0"/>
              <a:t>if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fit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memory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/>
              <a:t> </a:t>
            </a:r>
            <a:r>
              <a:rPr lang="hu-HU" dirty="0" smtClean="0"/>
              <a:t>is </a:t>
            </a:r>
            <a:r>
              <a:rPr lang="hu-HU" dirty="0" err="1" smtClean="0"/>
              <a:t>easiest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store</a:t>
            </a:r>
            <a:r>
              <a:rPr lang="hu-HU" dirty="0" smtClean="0"/>
              <a:t> </a:t>
            </a:r>
            <a:r>
              <a:rPr lang="hu-HU" dirty="0" err="1" smtClean="0"/>
              <a:t>them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simple</a:t>
            </a:r>
            <a:r>
              <a:rPr lang="hu-HU" dirty="0" smtClean="0"/>
              <a:t> </a:t>
            </a:r>
            <a:r>
              <a:rPr lang="hu-HU" dirty="0" err="1" smtClean="0"/>
              <a:t>NumPy</a:t>
            </a:r>
            <a:r>
              <a:rPr lang="hu-HU" dirty="0" smtClean="0"/>
              <a:t> </a:t>
            </a:r>
            <a:r>
              <a:rPr lang="hu-HU" dirty="0" err="1" smtClean="0"/>
              <a:t>array</a:t>
            </a:r>
            <a:r>
              <a:rPr lang="hu-HU" dirty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look</a:t>
            </a:r>
            <a:r>
              <a:rPr lang="hu-HU" dirty="0" smtClean="0"/>
              <a:t> </a:t>
            </a:r>
            <a:r>
              <a:rPr lang="hu-HU" dirty="0" err="1" smtClean="0"/>
              <a:t>up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 </a:t>
            </a:r>
            <a:r>
              <a:rPr lang="hu-HU" dirty="0" err="1" smtClean="0"/>
              <a:t>multiplication</a:t>
            </a:r>
            <a:endParaRPr lang="hu-HU" dirty="0" smtClean="0"/>
          </a:p>
          <a:p>
            <a:r>
              <a:rPr lang="hu-HU" dirty="0" err="1" smtClean="0"/>
              <a:t>Finally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closest</a:t>
            </a:r>
            <a:r>
              <a:rPr lang="hu-HU" dirty="0" smtClean="0"/>
              <a:t> </a:t>
            </a:r>
            <a:r>
              <a:rPr lang="hu-HU" dirty="0" err="1" smtClean="0"/>
              <a:t>matching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(s) </a:t>
            </a:r>
            <a:r>
              <a:rPr lang="hu-HU" dirty="0" err="1" smtClean="0"/>
              <a:t>are</a:t>
            </a:r>
            <a:r>
              <a:rPr lang="hu-HU" dirty="0" smtClean="0"/>
              <a:t> fed </a:t>
            </a:r>
            <a:r>
              <a:rPr lang="hu-HU" dirty="0" err="1" smtClean="0"/>
              <a:t>into</a:t>
            </a:r>
            <a:r>
              <a:rPr lang="hu-HU" dirty="0" smtClean="0"/>
              <a:t> an </a:t>
            </a:r>
            <a:r>
              <a:rPr lang="hu-HU" dirty="0" err="1" smtClean="0"/>
              <a:t>LLM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generates</a:t>
            </a:r>
            <a:r>
              <a:rPr lang="hu-HU" dirty="0" smtClean="0"/>
              <a:t> (G) a </a:t>
            </a:r>
            <a:r>
              <a:rPr lang="hu-HU" dirty="0" err="1" smtClean="0"/>
              <a:t>nice</a:t>
            </a:r>
            <a:r>
              <a:rPr lang="hu-HU" dirty="0" smtClean="0"/>
              <a:t>, </a:t>
            </a:r>
            <a:r>
              <a:rPr lang="hu-HU" dirty="0" err="1" smtClean="0"/>
              <a:t>direct</a:t>
            </a:r>
            <a:r>
              <a:rPr lang="hu-HU" dirty="0" smtClean="0"/>
              <a:t> </a:t>
            </a:r>
            <a:r>
              <a:rPr lang="hu-HU" dirty="0" err="1" smtClean="0"/>
              <a:t>answer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user</a:t>
            </a:r>
            <a:r>
              <a:rPr lang="hu-HU" dirty="0" smtClean="0"/>
              <a:t>’s </a:t>
            </a:r>
            <a:r>
              <a:rPr lang="hu-HU" dirty="0" err="1" smtClean="0"/>
              <a:t>question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question</a:t>
            </a:r>
            <a:r>
              <a:rPr lang="hu-HU" dirty="0" smtClean="0"/>
              <a:t> </a:t>
            </a:r>
            <a:r>
              <a:rPr lang="hu-HU" dirty="0" err="1" smtClean="0"/>
              <a:t>itself</a:t>
            </a:r>
            <a:r>
              <a:rPr lang="hu-HU" dirty="0" smtClean="0"/>
              <a:t> and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retrieved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(s).</a:t>
            </a:r>
          </a:p>
          <a:p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help</a:t>
            </a:r>
            <a:r>
              <a:rPr lang="hu-HU" dirty="0" smtClean="0"/>
              <a:t> </a:t>
            </a:r>
            <a:r>
              <a:rPr lang="hu-HU" dirty="0" err="1" smtClean="0"/>
              <a:t>reduce</a:t>
            </a:r>
            <a:r>
              <a:rPr lang="hu-HU" dirty="0" smtClean="0"/>
              <a:t> </a:t>
            </a:r>
            <a:r>
              <a:rPr lang="hu-HU" dirty="0" err="1" smtClean="0"/>
              <a:t>hallucination</a:t>
            </a:r>
            <a:r>
              <a:rPr lang="hu-HU" dirty="0" smtClean="0"/>
              <a:t> and </a:t>
            </a:r>
            <a:r>
              <a:rPr lang="hu-HU" dirty="0" err="1" smtClean="0"/>
              <a:t>grounds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LLM</a:t>
            </a:r>
            <a:r>
              <a:rPr lang="hu-HU" dirty="0" smtClean="0"/>
              <a:t>’s </a:t>
            </a:r>
            <a:r>
              <a:rPr lang="hu-HU" dirty="0" err="1" smtClean="0"/>
              <a:t>answer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texts</a:t>
            </a:r>
            <a:r>
              <a:rPr lang="hu-HU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202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7052</TotalTime>
  <Words>4821</Words>
  <Application>Microsoft Office PowerPoint</Application>
  <PresentationFormat>Diavetítés a képernyőre (4:3 oldalarány)</PresentationFormat>
  <Paragraphs>364</Paragraphs>
  <Slides>29</Slides>
  <Notes>4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29</vt:i4>
      </vt:variant>
    </vt:vector>
  </HeadingPairs>
  <TitlesOfParts>
    <vt:vector size="30" baseType="lpstr">
      <vt:lpstr>Office-téma</vt:lpstr>
      <vt:lpstr>Natural Language Processing Distributional Semantics</vt:lpstr>
      <vt:lpstr>Motivation</vt:lpstr>
      <vt:lpstr>Distribution</vt:lpstr>
      <vt:lpstr>Distributional Hypothesis</vt:lpstr>
      <vt:lpstr>Word Vectors</vt:lpstr>
      <vt:lpstr>Co-occurrence Matrix</vt:lpstr>
      <vt:lpstr>Latent Semantic Analysis</vt:lpstr>
      <vt:lpstr>Historical Overview</vt:lpstr>
      <vt:lpstr>Historical Overview</vt:lpstr>
      <vt:lpstr>Historical Overview</vt:lpstr>
      <vt:lpstr>What is Distributional Semantics for?</vt:lpstr>
      <vt:lpstr>What is Distributional Semantics for?</vt:lpstr>
      <vt:lpstr>What Is It Not For?</vt:lpstr>
      <vt:lpstr>What Is It Not For?</vt:lpstr>
      <vt:lpstr>What Is It Not For?</vt:lpstr>
      <vt:lpstr>Technical Implementation: Term Matrix</vt:lpstr>
      <vt:lpstr>TF-IDF</vt:lpstr>
      <vt:lpstr>Technical Implementation: SVD</vt:lpstr>
      <vt:lpstr>Technical Implementation: LSA</vt:lpstr>
      <vt:lpstr>word2vec</vt:lpstr>
      <vt:lpstr>word2vec</vt:lpstr>
      <vt:lpstr>GloVe</vt:lpstr>
      <vt:lpstr>fastText</vt:lpstr>
      <vt:lpstr>Comparison of the Main Approaches</vt:lpstr>
      <vt:lpstr>Ways to Get Word Vectors</vt:lpstr>
      <vt:lpstr>Sentence and Text Vectors</vt:lpstr>
      <vt:lpstr>Sentence Transformers</vt:lpstr>
      <vt:lpstr>Sentence Transformers</vt:lpstr>
      <vt:lpstr>Vector Databases and RAG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Distributional Semantics</dc:title>
  <dc:creator>Anonim</dc:creator>
  <cp:lastModifiedBy>Anonim</cp:lastModifiedBy>
  <cp:revision>96</cp:revision>
  <dcterms:created xsi:type="dcterms:W3CDTF">2025-11-18T12:01:16Z</dcterms:created>
  <dcterms:modified xsi:type="dcterms:W3CDTF">2025-11-28T10:13:47Z</dcterms:modified>
</cp:coreProperties>
</file>