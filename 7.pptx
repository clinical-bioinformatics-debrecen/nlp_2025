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  <p:sldId id="262" r:id="rId7"/>
    <p:sldId id="263" r:id="rId8"/>
    <p:sldId id="264" r:id="rId9"/>
    <p:sldId id="267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-1018" y="-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Alcím mintájának szerkesztése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497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1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309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1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8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917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795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953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19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543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55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8F881-5088-4687-AB6A-7968DC3F49CA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3091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uggingface/transformer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docs/transformers" TargetMode="External"/><Relationship Id="rId2" Type="http://schemas.openxmlformats.org/officeDocument/2006/relationships/hyperlink" Target="https://huggingface.co/learn/llm-course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/>
            </a:r>
            <a:br>
              <a:rPr lang="hu-HU" dirty="0" smtClean="0"/>
            </a:br>
            <a:r>
              <a:rPr lang="hu-HU" sz="3200" i="1" dirty="0" err="1" smtClean="0"/>
              <a:t>BERT</a:t>
            </a:r>
            <a:r>
              <a:rPr lang="hu-HU" sz="3200" i="1" dirty="0" smtClean="0"/>
              <a:t> and </a:t>
            </a:r>
            <a:r>
              <a:rPr lang="hu-HU" sz="3200" i="1" dirty="0" err="1" smtClean="0"/>
              <a:t>Encoder</a:t>
            </a:r>
            <a:r>
              <a:rPr lang="hu-HU" sz="3200" i="1" dirty="0" smtClean="0"/>
              <a:t> </a:t>
            </a:r>
            <a:r>
              <a:rPr lang="hu-HU" sz="3200" i="1" dirty="0" err="1" smtClean="0"/>
              <a:t>Transformers</a:t>
            </a:r>
            <a:endParaRPr lang="en-GB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smtClean="0"/>
              <a:t>Pethő Gergely</a:t>
            </a:r>
          </a:p>
          <a:p>
            <a:r>
              <a:rPr lang="hu-HU" dirty="0" smtClean="0"/>
              <a:t>December 2, 2025</a:t>
            </a:r>
          </a:p>
          <a:p>
            <a:r>
              <a:rPr lang="hu-HU" dirty="0" err="1" smtClean="0"/>
              <a:t>UD</a:t>
            </a:r>
            <a:r>
              <a:rPr lang="hu-HU" dirty="0" smtClean="0"/>
              <a:t> </a:t>
            </a:r>
            <a:r>
              <a:rPr lang="hu-HU" dirty="0" err="1" smtClean="0"/>
              <a:t>Faculty</a:t>
            </a:r>
            <a:r>
              <a:rPr lang="hu-HU" dirty="0" smtClean="0"/>
              <a:t> of Health Science,</a:t>
            </a:r>
          </a:p>
          <a:p>
            <a:r>
              <a:rPr lang="hu-HU" dirty="0" err="1" smtClean="0"/>
              <a:t>Department</a:t>
            </a:r>
            <a:r>
              <a:rPr lang="hu-HU" dirty="0" smtClean="0"/>
              <a:t> of </a:t>
            </a:r>
            <a:r>
              <a:rPr lang="hu-HU" dirty="0" err="1" smtClean="0"/>
              <a:t>Bioinformatics</a:t>
            </a:r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2778592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Transformer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transformer</a:t>
            </a:r>
            <a:r>
              <a:rPr lang="hu-HU" dirty="0" smtClean="0"/>
              <a:t> is a </a:t>
            </a:r>
            <a:r>
              <a:rPr lang="hu-HU" dirty="0" err="1" smtClean="0"/>
              <a:t>type</a:t>
            </a:r>
            <a:r>
              <a:rPr lang="hu-HU" dirty="0" smtClean="0"/>
              <a:t> of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</a:t>
            </a:r>
            <a:r>
              <a:rPr lang="hu-HU" b="1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invented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2017.</a:t>
            </a:r>
          </a:p>
          <a:p>
            <a:pPr lvl="1"/>
            <a:r>
              <a:rPr lang="hu-HU" dirty="0" smtClean="0"/>
              <a:t>I</a:t>
            </a:r>
            <a:r>
              <a:rPr lang="en-GB" dirty="0" err="1" smtClean="0"/>
              <a:t>ntroduced</a:t>
            </a:r>
            <a:r>
              <a:rPr lang="en-GB" dirty="0" smtClean="0"/>
              <a:t> by </a:t>
            </a:r>
            <a:r>
              <a:rPr lang="en-GB" dirty="0" err="1" smtClean="0"/>
              <a:t>Vaswani</a:t>
            </a:r>
            <a:r>
              <a:rPr lang="en-GB" dirty="0" smtClean="0"/>
              <a:t> et al. in </a:t>
            </a:r>
            <a:r>
              <a:rPr lang="hu-HU" dirty="0" smtClean="0"/>
              <a:t>a </a:t>
            </a:r>
            <a:r>
              <a:rPr lang="hu-HU" dirty="0" err="1" smtClean="0"/>
              <a:t>paper</a:t>
            </a:r>
            <a:r>
              <a:rPr lang="hu-HU" dirty="0" smtClean="0"/>
              <a:t> </a:t>
            </a:r>
            <a:r>
              <a:rPr lang="en-GB" dirty="0" smtClean="0"/>
              <a:t>titled </a:t>
            </a:r>
            <a:r>
              <a:rPr lang="hu-HU" i="1" dirty="0" err="1" smtClean="0">
                <a:hlinkClick r:id="rId2"/>
              </a:rPr>
              <a:t>Attention</a:t>
            </a:r>
            <a:r>
              <a:rPr lang="hu-HU" i="1" dirty="0" smtClean="0">
                <a:hlinkClick r:id="rId2"/>
              </a:rPr>
              <a:t> is </a:t>
            </a:r>
            <a:r>
              <a:rPr lang="hu-HU" i="1" dirty="0" err="1" smtClean="0">
                <a:hlinkClick r:id="rId2"/>
              </a:rPr>
              <a:t>All</a:t>
            </a:r>
            <a:r>
              <a:rPr lang="hu-HU" i="1" dirty="0" smtClean="0">
                <a:hlinkClick r:id="rId2"/>
              </a:rPr>
              <a:t> </a:t>
            </a:r>
            <a:r>
              <a:rPr lang="hu-HU" i="1" dirty="0" err="1" smtClean="0">
                <a:hlinkClick r:id="rId2"/>
              </a:rPr>
              <a:t>You</a:t>
            </a:r>
            <a:r>
              <a:rPr lang="hu-HU" i="1" dirty="0" smtClean="0">
                <a:hlinkClick r:id="rId2"/>
              </a:rPr>
              <a:t> </a:t>
            </a:r>
            <a:r>
              <a:rPr lang="hu-HU" i="1" dirty="0" err="1" smtClean="0">
                <a:hlinkClick r:id="rId2"/>
              </a:rPr>
              <a:t>Need</a:t>
            </a:r>
            <a:r>
              <a:rPr lang="en-GB" dirty="0" smtClean="0"/>
              <a:t>.</a:t>
            </a:r>
            <a:endParaRPr lang="hu-HU" dirty="0" smtClean="0"/>
          </a:p>
          <a:p>
            <a:pPr lvl="1"/>
            <a:r>
              <a:rPr lang="hu-HU" dirty="0" err="1" smtClean="0"/>
              <a:t>Became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2020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dominant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tool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b="1" dirty="0" err="1" smtClean="0"/>
              <a:t>encoder</a:t>
            </a:r>
            <a:r>
              <a:rPr lang="hu-HU" dirty="0" smtClean="0"/>
              <a:t> and </a:t>
            </a:r>
            <a:r>
              <a:rPr lang="hu-HU" b="1" dirty="0" err="1" smtClean="0"/>
              <a:t>generator</a:t>
            </a:r>
            <a:r>
              <a:rPr lang="hu-HU" b="1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endParaRPr lang="hu-HU" dirty="0"/>
          </a:p>
          <a:p>
            <a:pPr lvl="2"/>
            <a:r>
              <a:rPr lang="hu-HU" dirty="0" err="1" smtClean="0"/>
              <a:t>encoder</a:t>
            </a:r>
            <a:r>
              <a:rPr lang="hu-HU" dirty="0" smtClean="0"/>
              <a:t>: </a:t>
            </a:r>
            <a:r>
              <a:rPr lang="hu-HU" dirty="0" err="1" smtClean="0"/>
              <a:t>calculates</a:t>
            </a:r>
            <a:r>
              <a:rPr lang="hu-HU" dirty="0" smtClean="0"/>
              <a:t> a </a:t>
            </a:r>
            <a:r>
              <a:rPr lang="hu-HU" dirty="0" err="1" smtClean="0"/>
              <a:t>vector</a:t>
            </a:r>
            <a:r>
              <a:rPr lang="hu-HU" dirty="0" smtClean="0"/>
              <a:t> (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)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an input </a:t>
            </a:r>
            <a:r>
              <a:rPr lang="hu-HU" dirty="0" err="1" smtClean="0"/>
              <a:t>sequence</a:t>
            </a:r>
            <a:r>
              <a:rPr lang="hu-HU" dirty="0" smtClean="0"/>
              <a:t>, </a:t>
            </a:r>
            <a:r>
              <a:rPr lang="hu-HU" dirty="0" err="1" smtClean="0"/>
              <a:t>primarily</a:t>
            </a:r>
            <a:r>
              <a:rPr lang="hu-HU" dirty="0" smtClean="0"/>
              <a:t> a text </a:t>
            </a:r>
            <a:r>
              <a:rPr lang="hu-HU" dirty="0" err="1" smtClean="0"/>
              <a:t>or</a:t>
            </a:r>
            <a:r>
              <a:rPr lang="hu-HU" dirty="0" smtClean="0"/>
              <a:t> an image</a:t>
            </a:r>
          </a:p>
          <a:p>
            <a:pPr lvl="2"/>
            <a:r>
              <a:rPr lang="hu-HU" dirty="0" err="1" smtClean="0"/>
              <a:t>generator</a:t>
            </a:r>
            <a:r>
              <a:rPr lang="hu-HU" dirty="0" smtClean="0"/>
              <a:t>: </a:t>
            </a:r>
            <a:r>
              <a:rPr lang="hu-HU" dirty="0" err="1" smtClean="0"/>
              <a:t>generates</a:t>
            </a:r>
            <a:r>
              <a:rPr lang="hu-HU" dirty="0" smtClean="0"/>
              <a:t> a text (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)</a:t>
            </a:r>
          </a:p>
          <a:p>
            <a:pPr lvl="2"/>
            <a:r>
              <a:rPr lang="hu-HU" dirty="0" err="1" smtClean="0"/>
              <a:t>encoder-decoder</a:t>
            </a:r>
            <a:r>
              <a:rPr lang="hu-HU" dirty="0" smtClean="0"/>
              <a:t>: </a:t>
            </a:r>
            <a:r>
              <a:rPr lang="hu-HU" dirty="0" err="1" smtClean="0"/>
              <a:t>combines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two</a:t>
            </a:r>
            <a:r>
              <a:rPr lang="hu-HU" dirty="0" smtClean="0"/>
              <a:t>, </a:t>
            </a:r>
            <a:r>
              <a:rPr lang="hu-HU" dirty="0" err="1" smtClean="0"/>
              <a:t>transforms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dirty="0" err="1" smtClean="0"/>
              <a:t>matrix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,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decodes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text, </a:t>
            </a:r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translation</a:t>
            </a:r>
            <a:endParaRPr lang="hu-HU" dirty="0" smtClean="0"/>
          </a:p>
          <a:p>
            <a:pPr lvl="1"/>
            <a:r>
              <a:rPr lang="hu-HU" b="1" dirty="0" smtClean="0"/>
              <a:t>Input </a:t>
            </a:r>
            <a:r>
              <a:rPr lang="hu-HU" dirty="0" smtClean="0"/>
              <a:t>is </a:t>
            </a:r>
            <a:r>
              <a:rPr lang="hu-HU" dirty="0" err="1" smtClean="0"/>
              <a:t>always</a:t>
            </a:r>
            <a:r>
              <a:rPr lang="hu-HU" dirty="0" smtClean="0"/>
              <a:t> a </a:t>
            </a:r>
            <a:r>
              <a:rPr lang="hu-HU" b="1" dirty="0" err="1" smtClean="0"/>
              <a:t>matrix</a:t>
            </a:r>
            <a:r>
              <a:rPr lang="hu-HU" b="1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consists</a:t>
            </a:r>
            <a:r>
              <a:rPr lang="hu-HU" dirty="0" smtClean="0"/>
              <a:t> of </a:t>
            </a:r>
            <a:r>
              <a:rPr lang="hu-HU" i="1" dirty="0" smtClean="0"/>
              <a:t>n </a:t>
            </a:r>
            <a:r>
              <a:rPr lang="hu-HU" dirty="0" err="1" smtClean="0"/>
              <a:t>vectors</a:t>
            </a:r>
            <a:r>
              <a:rPr lang="hu-HU" dirty="0" smtClean="0"/>
              <a:t>,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i="1" dirty="0" err="1" smtClean="0"/>
              <a:t>k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endParaRPr lang="hu-HU" dirty="0"/>
          </a:p>
          <a:p>
            <a:pPr lvl="2"/>
            <a:r>
              <a:rPr lang="hu-HU" i="1" dirty="0" smtClean="0"/>
              <a:t>k </a:t>
            </a:r>
            <a:r>
              <a:rPr lang="hu-HU" dirty="0" smtClean="0"/>
              <a:t>is a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number</a:t>
            </a:r>
            <a:r>
              <a:rPr lang="hu-HU" dirty="0" smtClean="0"/>
              <a:t>,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property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, </a:t>
            </a:r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roughly</a:t>
            </a:r>
            <a:r>
              <a:rPr lang="hu-HU" dirty="0" smtClean="0"/>
              <a:t> 1,000</a:t>
            </a:r>
          </a:p>
          <a:p>
            <a:pPr lvl="2"/>
            <a:r>
              <a:rPr lang="hu-HU" i="1" dirty="0" smtClean="0"/>
              <a:t>n </a:t>
            </a:r>
            <a:r>
              <a:rPr lang="hu-HU" dirty="0" smtClean="0"/>
              <a:t>is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length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number</a:t>
            </a:r>
            <a:r>
              <a:rPr lang="hu-HU" dirty="0" smtClean="0"/>
              <a:t> of </a:t>
            </a:r>
            <a:r>
              <a:rPr lang="hu-HU" dirty="0" err="1" smtClean="0"/>
              <a:t>subword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passed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endParaRPr lang="hu-HU" dirty="0" smtClean="0"/>
          </a:p>
          <a:p>
            <a:pPr lvl="3"/>
            <a:r>
              <a:rPr lang="hu-HU" dirty="0" err="1" smtClean="0"/>
              <a:t>encoder</a:t>
            </a:r>
            <a:r>
              <a:rPr lang="hu-HU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encoder-decoder</a:t>
            </a:r>
            <a:r>
              <a:rPr lang="hu-HU" dirty="0" smtClean="0"/>
              <a:t>: </a:t>
            </a:r>
            <a:r>
              <a:rPr lang="hu-HU" dirty="0" err="1" smtClean="0"/>
              <a:t>tokens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text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encoded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translated</a:t>
            </a:r>
            <a:endParaRPr lang="hu-HU" dirty="0" smtClean="0"/>
          </a:p>
          <a:p>
            <a:pPr lvl="3"/>
            <a:r>
              <a:rPr lang="hu-HU" dirty="0" err="1" smtClean="0"/>
              <a:t>generator</a:t>
            </a:r>
            <a:r>
              <a:rPr lang="hu-HU" dirty="0" smtClean="0"/>
              <a:t>: </a:t>
            </a:r>
            <a:r>
              <a:rPr lang="hu-HU" dirty="0" err="1" smtClean="0"/>
              <a:t>user-supplied</a:t>
            </a:r>
            <a:r>
              <a:rPr lang="hu-HU" dirty="0" smtClean="0"/>
              <a:t> text, i.e. prompt, </a:t>
            </a:r>
            <a:r>
              <a:rPr lang="hu-HU" dirty="0" err="1" smtClean="0"/>
              <a:t>followed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generated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far</a:t>
            </a:r>
          </a:p>
        </p:txBody>
      </p:sp>
    </p:spTree>
    <p:extLst>
      <p:ext uri="{BB962C8B-B14F-4D97-AF65-F5344CB8AC3E}">
        <p14:creationId xmlns:p14="http://schemas.microsoft.com/office/powerpoint/2010/main" val="3381956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How</a:t>
            </a:r>
            <a:r>
              <a:rPr lang="hu-HU" dirty="0" smtClean="0"/>
              <a:t> </a:t>
            </a:r>
            <a:r>
              <a:rPr lang="hu-HU" dirty="0" err="1"/>
              <a:t>D</a:t>
            </a:r>
            <a:r>
              <a:rPr lang="hu-HU" dirty="0" err="1" smtClean="0"/>
              <a:t>o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Work</a:t>
            </a:r>
            <a:r>
              <a:rPr lang="hu-HU" dirty="0" smtClean="0"/>
              <a:t>?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46856" y="1600200"/>
            <a:ext cx="8301608" cy="4781128"/>
          </a:xfrm>
        </p:spPr>
        <p:txBody>
          <a:bodyPr>
            <a:normAutofit fontScale="55000" lnSpcReduction="20000"/>
          </a:bodyPr>
          <a:lstStyle/>
          <a:p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each</a:t>
            </a:r>
            <a:r>
              <a:rPr lang="hu-HU" b="1" dirty="0" smtClean="0"/>
              <a:t> input </a:t>
            </a:r>
            <a:r>
              <a:rPr lang="hu-HU" b="1" dirty="0" err="1" smtClean="0"/>
              <a:t>token</a:t>
            </a:r>
            <a:r>
              <a:rPr lang="hu-HU" dirty="0" smtClean="0"/>
              <a:t>, a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calculates</a:t>
            </a:r>
            <a:r>
              <a:rPr lang="hu-HU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linear</a:t>
            </a:r>
            <a:r>
              <a:rPr lang="hu-HU" b="1" dirty="0" smtClean="0"/>
              <a:t> </a:t>
            </a:r>
            <a:r>
              <a:rPr lang="hu-HU" b="1" dirty="0" err="1" smtClean="0"/>
              <a:t>combination</a:t>
            </a:r>
            <a:r>
              <a:rPr lang="hu-HU" b="1" dirty="0" smtClean="0"/>
              <a:t> of </a:t>
            </a:r>
            <a:r>
              <a:rPr lang="hu-HU" b="1" dirty="0" err="1" smtClean="0"/>
              <a:t>every</a:t>
            </a:r>
            <a:r>
              <a:rPr lang="hu-HU" b="1" dirty="0" smtClean="0"/>
              <a:t> input </a:t>
            </a:r>
            <a:r>
              <a:rPr lang="hu-HU" b="1" dirty="0" err="1" smtClean="0"/>
              <a:t>token</a:t>
            </a:r>
            <a:r>
              <a:rPr lang="hu-HU" dirty="0" smtClean="0"/>
              <a:t>, </a:t>
            </a:r>
            <a:r>
              <a:rPr lang="hu-HU" b="1" dirty="0" err="1" smtClean="0"/>
              <a:t>weighted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</a:t>
            </a:r>
            <a:r>
              <a:rPr lang="hu-HU" b="1" dirty="0" err="1" smtClean="0"/>
              <a:t>how</a:t>
            </a:r>
            <a:r>
              <a:rPr lang="hu-HU" b="1" dirty="0" smtClean="0"/>
              <a:t> </a:t>
            </a:r>
            <a:r>
              <a:rPr lang="hu-HU" b="1" dirty="0" err="1" smtClean="0"/>
              <a:t>similar</a:t>
            </a:r>
            <a:r>
              <a:rPr lang="hu-HU" b="1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given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is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terms</a:t>
            </a:r>
            <a:r>
              <a:rPr lang="hu-HU" dirty="0" smtClean="0"/>
              <a:t> of </a:t>
            </a:r>
            <a:r>
              <a:rPr lang="hu-HU" dirty="0" err="1" smtClean="0"/>
              <a:t>cosine</a:t>
            </a:r>
            <a:r>
              <a:rPr lang="hu-HU" dirty="0" smtClean="0"/>
              <a:t> </a:t>
            </a:r>
            <a:r>
              <a:rPr lang="hu-HU" dirty="0" err="1" smtClean="0"/>
              <a:t>similarity</a:t>
            </a:r>
            <a:endParaRPr lang="hu-HU" dirty="0" smtClean="0"/>
          </a:p>
          <a:p>
            <a:pPr lvl="1"/>
            <a:r>
              <a:rPr lang="hu-HU" dirty="0" err="1"/>
              <a:t>T</a:t>
            </a:r>
            <a:r>
              <a:rPr lang="hu-HU" dirty="0" err="1" smtClean="0"/>
              <a:t>his</a:t>
            </a:r>
            <a:r>
              <a:rPr lang="hu-HU" dirty="0" smtClean="0"/>
              <a:t> </a:t>
            </a:r>
            <a:r>
              <a:rPr lang="hu-HU" dirty="0" err="1" smtClean="0"/>
              <a:t>weighting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similarity</a:t>
            </a:r>
            <a:r>
              <a:rPr lang="hu-HU" dirty="0" smtClean="0"/>
              <a:t> is </a:t>
            </a:r>
            <a:r>
              <a:rPr lang="hu-HU" dirty="0" err="1" smtClean="0"/>
              <a:t>referred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b="1" dirty="0" err="1" smtClean="0"/>
              <a:t>attention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literature</a:t>
            </a:r>
            <a:endParaRPr lang="hu-HU" dirty="0" smtClean="0"/>
          </a:p>
          <a:p>
            <a:pPr lvl="1"/>
            <a:r>
              <a:rPr lang="hu-HU" dirty="0" err="1"/>
              <a:t>W</a:t>
            </a:r>
            <a:r>
              <a:rPr lang="hu-HU" dirty="0" err="1" smtClean="0"/>
              <a:t>hen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elements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compared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elements</a:t>
            </a:r>
            <a:r>
              <a:rPr lang="hu-HU" b="1" dirty="0" smtClean="0"/>
              <a:t> </a:t>
            </a:r>
            <a:r>
              <a:rPr lang="hu-HU" b="1" dirty="0" err="1" smtClean="0"/>
              <a:t>of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same</a:t>
            </a:r>
            <a:r>
              <a:rPr lang="hu-HU" b="1" dirty="0" smtClean="0"/>
              <a:t> </a:t>
            </a:r>
            <a:r>
              <a:rPr lang="hu-HU" b="1" dirty="0" err="1" smtClean="0"/>
              <a:t>sequence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is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b="1" dirty="0" err="1" smtClean="0"/>
              <a:t>self-attention</a:t>
            </a:r>
            <a:endParaRPr lang="hu-HU" b="1" dirty="0" smtClean="0"/>
          </a:p>
          <a:p>
            <a:pPr lvl="1"/>
            <a:r>
              <a:rPr lang="hu-HU" dirty="0"/>
              <a:t>T</a:t>
            </a:r>
            <a:r>
              <a:rPr lang="hu-HU" dirty="0" smtClean="0"/>
              <a:t>he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hu-HU" dirty="0" smtClean="0"/>
              <a:t> </a:t>
            </a:r>
            <a:r>
              <a:rPr lang="hu-HU" dirty="0" err="1" smtClean="0"/>
              <a:t>consist</a:t>
            </a:r>
            <a:r>
              <a:rPr lang="hu-HU" dirty="0" smtClean="0"/>
              <a:t> of </a:t>
            </a:r>
            <a:r>
              <a:rPr lang="hu-HU" dirty="0" err="1" smtClean="0"/>
              <a:t>two</a:t>
            </a:r>
            <a:r>
              <a:rPr lang="hu-HU" dirty="0" smtClean="0"/>
              <a:t> </a:t>
            </a:r>
            <a:r>
              <a:rPr lang="hu-HU" dirty="0" err="1" smtClean="0"/>
              <a:t>components</a:t>
            </a:r>
            <a:r>
              <a:rPr lang="hu-HU" dirty="0" smtClean="0"/>
              <a:t>:</a:t>
            </a:r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, </a:t>
            </a:r>
            <a:r>
              <a:rPr lang="hu-HU" dirty="0" err="1" smtClean="0"/>
              <a:t>essentially</a:t>
            </a:r>
            <a:r>
              <a:rPr lang="hu-HU" dirty="0" smtClean="0"/>
              <a:t> a </a:t>
            </a:r>
            <a:r>
              <a:rPr lang="hu-HU" b="1" dirty="0" err="1" smtClean="0"/>
              <a:t>context-independent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embedding</a:t>
            </a:r>
            <a:endParaRPr lang="hu-HU" b="1" dirty="0" smtClean="0"/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relative</a:t>
            </a:r>
            <a:r>
              <a:rPr lang="hu-HU" b="1" dirty="0" smtClean="0"/>
              <a:t> </a:t>
            </a:r>
            <a:r>
              <a:rPr lang="hu-HU" b="1" dirty="0" err="1" smtClean="0"/>
              <a:t>position</a:t>
            </a:r>
            <a:r>
              <a:rPr lang="hu-HU" b="1" dirty="0" smtClean="0"/>
              <a:t> </a:t>
            </a:r>
            <a:r>
              <a:rPr lang="hu-HU" b="1" dirty="0" err="1" smtClean="0"/>
              <a:t>of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endParaRPr lang="hu-HU" dirty="0"/>
          </a:p>
          <a:p>
            <a:pPr lvl="2"/>
            <a:r>
              <a:rPr lang="hu-HU" dirty="0" err="1" smtClean="0"/>
              <a:t>thus</a:t>
            </a:r>
            <a:r>
              <a:rPr lang="hu-HU" dirty="0" smtClean="0"/>
              <a:t> a </a:t>
            </a:r>
            <a:r>
              <a:rPr lang="hu-HU" dirty="0" err="1" smtClean="0"/>
              <a:t>token</a:t>
            </a:r>
            <a:r>
              <a:rPr lang="hu-HU" dirty="0" smtClean="0"/>
              <a:t>’s </a:t>
            </a:r>
            <a:r>
              <a:rPr lang="hu-HU" dirty="0" err="1" smtClean="0"/>
              <a:t>similarity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another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evaluated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, </a:t>
            </a:r>
            <a:r>
              <a:rPr lang="hu-HU" dirty="0" err="1" smtClean="0"/>
              <a:t>refers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b="1" dirty="0" err="1" smtClean="0"/>
              <a:t>similarity</a:t>
            </a:r>
            <a:r>
              <a:rPr lang="hu-HU" b="1" dirty="0" smtClean="0"/>
              <a:t> of </a:t>
            </a:r>
            <a:r>
              <a:rPr lang="hu-HU" b="1" dirty="0" err="1" smtClean="0"/>
              <a:t>position</a:t>
            </a:r>
            <a:r>
              <a:rPr lang="hu-HU" b="1" dirty="0" smtClean="0"/>
              <a:t> and of </a:t>
            </a:r>
            <a:r>
              <a:rPr lang="hu-HU" b="1" dirty="0" err="1" smtClean="0"/>
              <a:t>meaning</a:t>
            </a:r>
            <a:endParaRPr lang="hu-HU" b="1" dirty="0" smtClean="0"/>
          </a:p>
          <a:p>
            <a:pPr lvl="1"/>
            <a:r>
              <a:rPr lang="hu-HU" dirty="0" smtClean="0"/>
              <a:t>The </a:t>
            </a:r>
            <a:r>
              <a:rPr lang="hu-HU" dirty="0" err="1" smtClean="0"/>
              <a:t>linear</a:t>
            </a:r>
            <a:r>
              <a:rPr lang="hu-HU" dirty="0" smtClean="0"/>
              <a:t> </a:t>
            </a:r>
            <a:r>
              <a:rPr lang="hu-HU" dirty="0" err="1" smtClean="0"/>
              <a:t>combinations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calculated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learned</a:t>
            </a:r>
            <a:r>
              <a:rPr lang="hu-HU" dirty="0" smtClean="0"/>
              <a:t> </a:t>
            </a:r>
            <a:r>
              <a:rPr lang="hu-HU" dirty="0" err="1" smtClean="0"/>
              <a:t>weight</a:t>
            </a:r>
            <a:r>
              <a:rPr lang="hu-HU" dirty="0" smtClean="0"/>
              <a:t> </a:t>
            </a:r>
            <a:r>
              <a:rPr lang="hu-HU" dirty="0" err="1" smtClean="0"/>
              <a:t>matrices</a:t>
            </a:r>
            <a:endParaRPr lang="hu-HU" dirty="0" smtClean="0"/>
          </a:p>
          <a:p>
            <a:pPr lvl="2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weight</a:t>
            </a:r>
            <a:r>
              <a:rPr lang="hu-HU" dirty="0" smtClean="0"/>
              <a:t> </a:t>
            </a:r>
            <a:r>
              <a:rPr lang="hu-HU" dirty="0" err="1" smtClean="0"/>
              <a:t>matrices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parameters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endParaRPr lang="hu-HU" dirty="0" smtClean="0"/>
          </a:p>
          <a:p>
            <a:r>
              <a:rPr lang="hu-HU" b="1" dirty="0" smtClean="0"/>
              <a:t>Deep </a:t>
            </a:r>
            <a:r>
              <a:rPr lang="hu-HU" dirty="0" err="1" smtClean="0"/>
              <a:t>network</a:t>
            </a:r>
            <a:r>
              <a:rPr lang="hu-HU" dirty="0" smtClean="0"/>
              <a:t>: </a:t>
            </a:r>
            <a:r>
              <a:rPr lang="hu-HU" b="1" dirty="0" err="1" smtClean="0"/>
              <a:t>Several</a:t>
            </a:r>
            <a:r>
              <a:rPr lang="hu-HU" b="1" dirty="0" smtClean="0"/>
              <a:t> </a:t>
            </a:r>
            <a:r>
              <a:rPr lang="hu-HU" b="1" dirty="0" err="1" smtClean="0"/>
              <a:t>transformer</a:t>
            </a:r>
            <a:r>
              <a:rPr lang="hu-HU" b="1" dirty="0" smtClean="0"/>
              <a:t> </a:t>
            </a:r>
            <a:r>
              <a:rPr lang="hu-HU" b="1" dirty="0" err="1" smtClean="0"/>
              <a:t>blocks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consisting</a:t>
            </a:r>
            <a:r>
              <a:rPr lang="hu-HU" dirty="0" smtClean="0"/>
              <a:t> of </a:t>
            </a:r>
            <a:r>
              <a:rPr lang="hu-HU" dirty="0" err="1" smtClean="0"/>
              <a:t>self-attention</a:t>
            </a:r>
            <a:r>
              <a:rPr lang="hu-HU" dirty="0" smtClean="0"/>
              <a:t> </a:t>
            </a:r>
            <a:r>
              <a:rPr lang="hu-HU" dirty="0" err="1" smtClean="0"/>
              <a:t>layers</a:t>
            </a:r>
            <a:r>
              <a:rPr lang="hu-HU" dirty="0" smtClean="0"/>
              <a:t> and </a:t>
            </a:r>
            <a:r>
              <a:rPr lang="hu-HU" dirty="0" err="1" smtClean="0"/>
              <a:t>dense</a:t>
            </a:r>
            <a:r>
              <a:rPr lang="hu-HU" dirty="0" smtClean="0"/>
              <a:t> / </a:t>
            </a:r>
            <a:r>
              <a:rPr lang="hu-HU" dirty="0" err="1" smtClean="0"/>
              <a:t>feed-forward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layers</a:t>
            </a:r>
            <a:r>
              <a:rPr lang="hu-HU" dirty="0" smtClean="0"/>
              <a:t>)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stacked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transformer</a:t>
            </a:r>
            <a:endParaRPr lang="hu-HU" dirty="0"/>
          </a:p>
          <a:p>
            <a:pPr lvl="1"/>
            <a:r>
              <a:rPr lang="hu-HU" dirty="0" err="1" smtClean="0"/>
              <a:t>vector</a:t>
            </a:r>
            <a:r>
              <a:rPr lang="hu-HU" dirty="0" smtClean="0"/>
              <a:t> and </a:t>
            </a:r>
            <a:r>
              <a:rPr lang="hu-HU" dirty="0" err="1" smtClean="0"/>
              <a:t>positions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input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processed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block</a:t>
            </a:r>
            <a:endParaRPr lang="hu-HU" dirty="0" smtClean="0"/>
          </a:p>
          <a:p>
            <a:pPr lvl="1"/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computes</a:t>
            </a:r>
            <a:r>
              <a:rPr lang="hu-HU" dirty="0" smtClean="0"/>
              <a:t> and </a:t>
            </a:r>
            <a:r>
              <a:rPr lang="hu-HU" dirty="0" err="1" smtClean="0"/>
              <a:t>outputs</a:t>
            </a:r>
            <a:r>
              <a:rPr lang="hu-HU" dirty="0" smtClean="0"/>
              <a:t> a </a:t>
            </a:r>
            <a:r>
              <a:rPr lang="hu-HU" i="1" dirty="0" smtClean="0"/>
              <a:t>k </a:t>
            </a:r>
            <a:r>
              <a:rPr lang="hu-HU" dirty="0" smtClean="0"/>
              <a:t>x </a:t>
            </a:r>
            <a:r>
              <a:rPr lang="hu-HU" i="1" dirty="0" smtClean="0"/>
              <a:t>n </a:t>
            </a:r>
            <a:r>
              <a:rPr lang="hu-HU" dirty="0" err="1" smtClean="0"/>
              <a:t>matrix</a:t>
            </a:r>
            <a:r>
              <a:rPr lang="hu-HU" dirty="0" smtClean="0"/>
              <a:t> of </a:t>
            </a:r>
            <a:r>
              <a:rPr lang="hu-HU" dirty="0" err="1" smtClean="0"/>
              <a:t>weighted</a:t>
            </a:r>
            <a:r>
              <a:rPr lang="hu-HU" dirty="0" smtClean="0"/>
              <a:t> </a:t>
            </a:r>
            <a:r>
              <a:rPr lang="hu-HU" dirty="0" err="1" smtClean="0"/>
              <a:t>linear</a:t>
            </a:r>
            <a:r>
              <a:rPr lang="hu-HU" dirty="0" smtClean="0"/>
              <a:t> </a:t>
            </a:r>
            <a:r>
              <a:rPr lang="hu-HU" dirty="0" err="1" smtClean="0"/>
              <a:t>combinations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endParaRPr lang="hu-HU" dirty="0" smtClean="0"/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input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second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computes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output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endParaRPr lang="hu-HU" dirty="0" smtClean="0"/>
          </a:p>
          <a:p>
            <a:pPr lvl="1"/>
            <a:r>
              <a:rPr lang="hu-HU" dirty="0" smtClean="0"/>
              <a:t>and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; </a:t>
            </a:r>
            <a:r>
              <a:rPr lang="hu-HU" b="1" dirty="0" err="1" smtClean="0"/>
              <a:t>each</a:t>
            </a:r>
            <a:r>
              <a:rPr lang="hu-HU" b="1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b="1" dirty="0" err="1" smtClean="0"/>
              <a:t>transformer</a:t>
            </a:r>
            <a:r>
              <a:rPr lang="hu-HU" b="1" dirty="0" smtClean="0"/>
              <a:t> </a:t>
            </a:r>
            <a:r>
              <a:rPr lang="hu-HU" b="1" dirty="0" err="1" smtClean="0"/>
              <a:t>block</a:t>
            </a:r>
            <a:r>
              <a:rPr lang="hu-HU" b="1" dirty="0" smtClean="0"/>
              <a:t> has a </a:t>
            </a:r>
            <a:r>
              <a:rPr lang="hu-HU" b="1" dirty="0" err="1" smtClean="0"/>
              <a:t>different</a:t>
            </a:r>
            <a:r>
              <a:rPr lang="hu-HU" b="1" dirty="0" smtClean="0"/>
              <a:t> </a:t>
            </a:r>
            <a:r>
              <a:rPr lang="hu-HU" b="1" dirty="0" err="1" smtClean="0"/>
              <a:t>set</a:t>
            </a:r>
            <a:r>
              <a:rPr lang="hu-HU" b="1" dirty="0" smtClean="0"/>
              <a:t> of </a:t>
            </a:r>
            <a:r>
              <a:rPr lang="hu-HU" b="1" dirty="0" err="1" smtClean="0"/>
              <a:t>weight</a:t>
            </a:r>
            <a:r>
              <a:rPr lang="hu-HU" b="1" dirty="0" smtClean="0"/>
              <a:t> </a:t>
            </a:r>
            <a:r>
              <a:rPr lang="hu-HU" b="1" dirty="0" err="1" smtClean="0"/>
              <a:t>matrices</a:t>
            </a:r>
            <a:r>
              <a:rPr lang="hu-HU" b="1" dirty="0" smtClean="0"/>
              <a:t> (</a:t>
            </a:r>
            <a:r>
              <a:rPr lang="hu-HU" b="1" dirty="0" err="1" smtClean="0"/>
              <a:t>parameters</a:t>
            </a:r>
            <a:r>
              <a:rPr lang="hu-HU" b="1" dirty="0" smtClean="0"/>
              <a:t>)</a:t>
            </a:r>
          </a:p>
          <a:p>
            <a:r>
              <a:rPr lang="hu-HU" dirty="0" err="1" smtClean="0"/>
              <a:t>Eventually</a:t>
            </a:r>
            <a:r>
              <a:rPr lang="hu-HU" dirty="0" smtClean="0"/>
              <a:t>, </a:t>
            </a:r>
            <a:r>
              <a:rPr lang="hu-HU" dirty="0" err="1" smtClean="0"/>
              <a:t>calculation</a:t>
            </a:r>
            <a:r>
              <a:rPr lang="hu-HU" dirty="0" smtClean="0"/>
              <a:t> </a:t>
            </a:r>
            <a:r>
              <a:rPr lang="hu-HU" dirty="0" err="1" smtClean="0"/>
              <a:t>passes</a:t>
            </a:r>
            <a:r>
              <a:rPr lang="hu-HU" dirty="0" smtClean="0"/>
              <a:t> </a:t>
            </a:r>
            <a:r>
              <a:rPr lang="hu-HU" dirty="0" err="1" smtClean="0"/>
              <a:t>through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last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, a </a:t>
            </a:r>
            <a:r>
              <a:rPr lang="hu-HU" dirty="0" err="1" smtClean="0"/>
              <a:t>final</a:t>
            </a:r>
            <a:r>
              <a:rPr lang="hu-HU" dirty="0" smtClean="0"/>
              <a:t> </a:t>
            </a:r>
            <a:r>
              <a:rPr lang="hu-HU" i="1" dirty="0" smtClean="0"/>
              <a:t>k </a:t>
            </a:r>
            <a:r>
              <a:rPr lang="hu-HU" dirty="0" smtClean="0"/>
              <a:t>x </a:t>
            </a:r>
            <a:r>
              <a:rPr lang="hu-HU" i="1" dirty="0" smtClean="0"/>
              <a:t>n </a:t>
            </a:r>
            <a:r>
              <a:rPr lang="hu-HU" dirty="0" smtClean="0"/>
              <a:t>output is </a:t>
            </a:r>
            <a:r>
              <a:rPr lang="hu-HU" dirty="0" err="1" smtClean="0"/>
              <a:t>produced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951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Performance </a:t>
            </a:r>
            <a:r>
              <a:rPr lang="hu-HU" dirty="0" err="1" smtClean="0"/>
              <a:t>Characteristics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properly</a:t>
            </a:r>
            <a:r>
              <a:rPr lang="hu-HU" dirty="0" smtClean="0"/>
              <a:t>,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good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b="1" dirty="0" err="1" smtClean="0"/>
              <a:t>calculating</a:t>
            </a:r>
            <a:r>
              <a:rPr lang="hu-HU" b="1" dirty="0" smtClean="0"/>
              <a:t> </a:t>
            </a:r>
            <a:r>
              <a:rPr lang="hu-HU" b="1" dirty="0" err="1" smtClean="0"/>
              <a:t>useful</a:t>
            </a:r>
            <a:r>
              <a:rPr lang="hu-HU" b="1" dirty="0" smtClean="0"/>
              <a:t> </a:t>
            </a:r>
            <a:r>
              <a:rPr lang="hu-HU" b="1" dirty="0" err="1" smtClean="0"/>
              <a:t>semantic</a:t>
            </a:r>
            <a:r>
              <a:rPr lang="hu-HU" b="1" dirty="0" smtClean="0"/>
              <a:t> </a:t>
            </a:r>
            <a:r>
              <a:rPr lang="hu-HU" b="1" dirty="0" err="1" smtClean="0"/>
              <a:t>representations</a:t>
            </a:r>
            <a:r>
              <a:rPr lang="hu-HU" b="1" dirty="0" smtClean="0"/>
              <a:t> </a:t>
            </a:r>
            <a:r>
              <a:rPr lang="hu-HU" dirty="0" smtClean="0"/>
              <a:t>of text input and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useful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applications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involve</a:t>
            </a:r>
            <a:r>
              <a:rPr lang="hu-HU" dirty="0" smtClean="0"/>
              <a:t> </a:t>
            </a:r>
            <a:r>
              <a:rPr lang="hu-HU" b="1" dirty="0" err="1" smtClean="0"/>
              <a:t>natural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</a:t>
            </a:r>
            <a:r>
              <a:rPr lang="hu-HU" b="1" dirty="0" err="1" smtClean="0"/>
              <a:t>understanding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Applied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text input, </a:t>
            </a:r>
            <a:r>
              <a:rPr lang="hu-HU" dirty="0" err="1" smtClean="0"/>
              <a:t>transformer-based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applications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b="1" dirty="0" err="1" smtClean="0"/>
              <a:t>tend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perform</a:t>
            </a:r>
            <a:r>
              <a:rPr lang="hu-HU" b="1" dirty="0" smtClean="0"/>
              <a:t> </a:t>
            </a:r>
            <a:r>
              <a:rPr lang="hu-HU" b="1" dirty="0" err="1" smtClean="0"/>
              <a:t>much</a:t>
            </a:r>
            <a:r>
              <a:rPr lang="hu-HU" b="1" dirty="0" smtClean="0"/>
              <a:t> more </a:t>
            </a:r>
            <a:r>
              <a:rPr lang="hu-HU" b="1" dirty="0" err="1" smtClean="0"/>
              <a:t>accurately</a:t>
            </a:r>
            <a:r>
              <a:rPr lang="hu-HU" b="1" dirty="0" smtClean="0"/>
              <a:t>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other</a:t>
            </a:r>
            <a:r>
              <a:rPr lang="hu-HU" b="1" dirty="0" smtClean="0"/>
              <a:t> </a:t>
            </a:r>
            <a:r>
              <a:rPr lang="hu-HU" b="1" dirty="0" err="1" smtClean="0"/>
              <a:t>solutions</a:t>
            </a:r>
            <a:r>
              <a:rPr lang="hu-HU" dirty="0" smtClean="0"/>
              <a:t>,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traditional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classifiers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bag</a:t>
            </a:r>
            <a:r>
              <a:rPr lang="hu-HU" dirty="0" smtClean="0"/>
              <a:t> of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tf-idf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hu-HU" dirty="0" smtClean="0"/>
              <a:t> (</a:t>
            </a:r>
            <a:r>
              <a:rPr lang="hu-HU" dirty="0" err="1" smtClean="0"/>
              <a:t>logistic</a:t>
            </a:r>
            <a:r>
              <a:rPr lang="hu-HU" dirty="0" smtClean="0"/>
              <a:t> </a:t>
            </a:r>
            <a:r>
              <a:rPr lang="hu-HU" dirty="0" err="1" smtClean="0"/>
              <a:t>regression</a:t>
            </a:r>
            <a:r>
              <a:rPr lang="hu-HU" dirty="0" smtClean="0"/>
              <a:t>, k </a:t>
            </a:r>
            <a:r>
              <a:rPr lang="hu-HU" dirty="0" err="1" smtClean="0"/>
              <a:t>nearest</a:t>
            </a:r>
            <a:r>
              <a:rPr lang="hu-HU" dirty="0" smtClean="0"/>
              <a:t> </a:t>
            </a:r>
            <a:r>
              <a:rPr lang="hu-HU" dirty="0" err="1" smtClean="0"/>
              <a:t>neighbors</a:t>
            </a:r>
            <a:r>
              <a:rPr lang="hu-HU" dirty="0" smtClean="0"/>
              <a:t>, </a:t>
            </a:r>
            <a:r>
              <a:rPr lang="hu-HU" dirty="0" err="1" smtClean="0"/>
              <a:t>naïve</a:t>
            </a:r>
            <a:r>
              <a:rPr lang="hu-HU" dirty="0" smtClean="0"/>
              <a:t> </a:t>
            </a:r>
            <a:r>
              <a:rPr lang="hu-HU" dirty="0" err="1" smtClean="0"/>
              <a:t>Bayes</a:t>
            </a:r>
            <a:r>
              <a:rPr lang="hu-HU" dirty="0" smtClean="0"/>
              <a:t>, </a:t>
            </a:r>
            <a:r>
              <a:rPr lang="hu-HU" dirty="0" err="1" smtClean="0"/>
              <a:t>support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machines</a:t>
            </a:r>
            <a:r>
              <a:rPr lang="hu-HU" dirty="0" smtClean="0"/>
              <a:t>, etc.).</a:t>
            </a:r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bag</a:t>
            </a:r>
            <a:r>
              <a:rPr lang="hu-HU" b="1" dirty="0" smtClean="0"/>
              <a:t> of </a:t>
            </a:r>
            <a:r>
              <a:rPr lang="hu-HU" b="1" dirty="0" err="1" smtClean="0"/>
              <a:t>words</a:t>
            </a:r>
            <a:r>
              <a:rPr lang="hu-HU" b="1" dirty="0" smtClean="0"/>
              <a:t> </a:t>
            </a:r>
            <a:r>
              <a:rPr lang="hu-HU" dirty="0" smtClean="0"/>
              <a:t>is 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containing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occurrence</a:t>
            </a:r>
            <a:r>
              <a:rPr lang="hu-HU" dirty="0" smtClean="0"/>
              <a:t> </a:t>
            </a:r>
            <a:r>
              <a:rPr lang="hu-HU" dirty="0" err="1" smtClean="0"/>
              <a:t>counts</a:t>
            </a:r>
            <a:r>
              <a:rPr lang="hu-HU" dirty="0" smtClean="0"/>
              <a:t> </a:t>
            </a:r>
            <a:r>
              <a:rPr lang="hu-HU" dirty="0" err="1" smtClean="0"/>
              <a:t>within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document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parallelised</a:t>
            </a:r>
            <a:r>
              <a:rPr lang="hu-HU" b="1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multiprocessor</a:t>
            </a:r>
            <a:r>
              <a:rPr lang="hu-HU" dirty="0" smtClean="0"/>
              <a:t> </a:t>
            </a:r>
            <a:r>
              <a:rPr lang="hu-HU" dirty="0" err="1" smtClean="0"/>
              <a:t>machines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b="1" dirty="0" err="1" smtClean="0"/>
              <a:t>GPUs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scale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 </a:t>
            </a:r>
            <a:r>
              <a:rPr lang="hu-HU" dirty="0" err="1" smtClean="0"/>
              <a:t>increases</a:t>
            </a:r>
            <a:r>
              <a:rPr lang="hu-HU" dirty="0" smtClean="0"/>
              <a:t> </a:t>
            </a:r>
            <a:r>
              <a:rPr lang="hu-HU" dirty="0" err="1" smtClean="0"/>
              <a:t>linearly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lot</a:t>
            </a:r>
            <a:r>
              <a:rPr lang="hu-HU" dirty="0" smtClean="0"/>
              <a:t> of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increases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</a:t>
            </a:r>
            <a:r>
              <a:rPr lang="hu-HU" dirty="0" err="1" smtClean="0"/>
              <a:t>accuracy</a:t>
            </a:r>
            <a:r>
              <a:rPr lang="hu-HU" dirty="0" smtClean="0"/>
              <a:t> </a:t>
            </a:r>
            <a:r>
              <a:rPr lang="hu-HU" dirty="0" err="1" smtClean="0"/>
              <a:t>considerably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However</a:t>
            </a:r>
            <a:r>
              <a:rPr lang="hu-HU" dirty="0" smtClean="0"/>
              <a:t>,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huge</a:t>
            </a:r>
            <a:r>
              <a:rPr lang="hu-HU" dirty="0" smtClean="0"/>
              <a:t> and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costly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terms</a:t>
            </a:r>
            <a:r>
              <a:rPr lang="hu-HU" dirty="0" smtClean="0"/>
              <a:t> of </a:t>
            </a:r>
            <a:r>
              <a:rPr lang="hu-HU" dirty="0" err="1" smtClean="0"/>
              <a:t>computation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even</a:t>
            </a:r>
            <a:r>
              <a:rPr lang="hu-HU" dirty="0" smtClean="0"/>
              <a:t> a </a:t>
            </a:r>
            <a:r>
              <a:rPr lang="hu-HU" dirty="0" err="1" smtClean="0"/>
              <a:t>relatively</a:t>
            </a:r>
            <a:r>
              <a:rPr lang="hu-HU" dirty="0" smtClean="0"/>
              <a:t> </a:t>
            </a:r>
            <a:r>
              <a:rPr lang="hu-HU" dirty="0" err="1" smtClean="0"/>
              <a:t>small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corpus of limited </a:t>
            </a:r>
            <a:r>
              <a:rPr lang="hu-HU" dirty="0" err="1" smtClean="0"/>
              <a:t>size</a:t>
            </a:r>
            <a:r>
              <a:rPr lang="hu-HU" dirty="0" smtClean="0"/>
              <a:t> (a </a:t>
            </a:r>
            <a:r>
              <a:rPr lang="hu-HU" dirty="0" err="1" smtClean="0"/>
              <a:t>few</a:t>
            </a:r>
            <a:r>
              <a:rPr lang="hu-HU" dirty="0" smtClean="0"/>
              <a:t> </a:t>
            </a:r>
            <a:r>
              <a:rPr lang="hu-HU" dirty="0" err="1" smtClean="0"/>
              <a:t>billion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) </a:t>
            </a:r>
            <a:r>
              <a:rPr lang="hu-HU" dirty="0" err="1" smtClean="0"/>
              <a:t>takes</a:t>
            </a:r>
            <a:r>
              <a:rPr lang="hu-HU" dirty="0" smtClean="0"/>
              <a:t> </a:t>
            </a:r>
            <a:r>
              <a:rPr lang="hu-HU" dirty="0" err="1" smtClean="0"/>
              <a:t>weeks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single</a:t>
            </a:r>
            <a:r>
              <a:rPr lang="hu-HU" dirty="0" smtClean="0"/>
              <a:t> </a:t>
            </a:r>
            <a:r>
              <a:rPr lang="hu-HU" dirty="0" err="1" smtClean="0"/>
              <a:t>desktop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Therefore</a:t>
            </a:r>
            <a:r>
              <a:rPr lang="hu-HU" dirty="0" smtClean="0"/>
              <a:t>, </a:t>
            </a:r>
            <a:r>
              <a:rPr lang="hu-HU" b="1" dirty="0" err="1" smtClean="0"/>
              <a:t>transfer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dirty="0" smtClean="0"/>
              <a:t>is </a:t>
            </a:r>
            <a:r>
              <a:rPr lang="hu-HU" dirty="0" err="1" smtClean="0"/>
              <a:t>crucial</a:t>
            </a:r>
            <a:r>
              <a:rPr lang="hu-HU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working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pre-trained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a </a:t>
            </a:r>
            <a:r>
              <a:rPr lang="hu-HU" b="1" dirty="0" err="1" smtClean="0"/>
              <a:t>large</a:t>
            </a:r>
            <a:r>
              <a:rPr lang="hu-HU" b="1" dirty="0" smtClean="0"/>
              <a:t> corpus </a:t>
            </a:r>
            <a:r>
              <a:rPr lang="hu-HU" dirty="0" smtClean="0"/>
              <a:t>(</a:t>
            </a:r>
            <a:r>
              <a:rPr lang="hu-HU" dirty="0" err="1" smtClean="0"/>
              <a:t>billions</a:t>
            </a:r>
            <a:r>
              <a:rPr lang="hu-HU" dirty="0" smtClean="0"/>
              <a:t> of </a:t>
            </a:r>
            <a:r>
              <a:rPr lang="hu-HU" dirty="0" err="1" smtClean="0"/>
              <a:t>tokens</a:t>
            </a:r>
            <a:r>
              <a:rPr lang="hu-HU" dirty="0" smtClean="0"/>
              <a:t>)</a:t>
            </a:r>
            <a:r>
              <a:rPr lang="hu-HU" b="1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dirty="0" err="1" smtClean="0"/>
              <a:t>general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(</a:t>
            </a:r>
            <a:r>
              <a:rPr lang="hu-HU" dirty="0" err="1" smtClean="0"/>
              <a:t>language</a:t>
            </a:r>
            <a:r>
              <a:rPr lang="hu-HU" dirty="0" smtClean="0"/>
              <a:t> modelling);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takes</a:t>
            </a:r>
            <a:r>
              <a:rPr lang="hu-HU" dirty="0" smtClean="0"/>
              <a:t> </a:t>
            </a:r>
            <a:r>
              <a:rPr lang="hu-HU" dirty="0" err="1" smtClean="0"/>
              <a:t>weeks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pre-trained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is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itself</a:t>
            </a:r>
            <a:r>
              <a:rPr lang="hu-HU" dirty="0" smtClean="0"/>
              <a:t> </a:t>
            </a:r>
            <a:r>
              <a:rPr lang="hu-HU" b="1" dirty="0" err="1" smtClean="0"/>
              <a:t>incapable</a:t>
            </a:r>
            <a:r>
              <a:rPr lang="hu-HU" b="1" dirty="0" smtClean="0"/>
              <a:t> of </a:t>
            </a:r>
            <a:r>
              <a:rPr lang="hu-HU" b="1" dirty="0" err="1" smtClean="0"/>
              <a:t>performing</a:t>
            </a:r>
            <a:r>
              <a:rPr lang="hu-HU" b="1" dirty="0" smtClean="0"/>
              <a:t> </a:t>
            </a:r>
            <a:r>
              <a:rPr lang="hu-HU" b="1" dirty="0" err="1" smtClean="0"/>
              <a:t>specific</a:t>
            </a:r>
            <a:r>
              <a:rPr lang="hu-HU" b="1" dirty="0" smtClean="0"/>
              <a:t> </a:t>
            </a:r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tasks</a:t>
            </a:r>
            <a:r>
              <a:rPr lang="hu-HU" b="1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fine-tuned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many</a:t>
            </a:r>
            <a:r>
              <a:rPr lang="hu-HU" b="1" dirty="0" smtClean="0"/>
              <a:t> </a:t>
            </a:r>
            <a:r>
              <a:rPr lang="hu-HU" b="1" dirty="0" err="1" smtClean="0"/>
              <a:t>specific</a:t>
            </a:r>
            <a:r>
              <a:rPr lang="hu-HU" b="1" dirty="0" smtClean="0"/>
              <a:t> </a:t>
            </a:r>
            <a:r>
              <a:rPr lang="hu-HU" b="1" dirty="0" err="1" smtClean="0"/>
              <a:t>tasks</a:t>
            </a:r>
            <a:r>
              <a:rPr lang="hu-HU" b="1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limited </a:t>
            </a:r>
            <a:r>
              <a:rPr lang="hu-HU" dirty="0" err="1" smtClean="0"/>
              <a:t>amounts</a:t>
            </a:r>
            <a:r>
              <a:rPr lang="hu-HU" dirty="0" smtClean="0"/>
              <a:t> of </a:t>
            </a:r>
            <a:r>
              <a:rPr lang="hu-HU" dirty="0" err="1" smtClean="0"/>
              <a:t>data</a:t>
            </a:r>
            <a:r>
              <a:rPr lang="hu-HU" dirty="0" smtClean="0"/>
              <a:t> (a </a:t>
            </a:r>
            <a:r>
              <a:rPr lang="hu-HU" dirty="0" err="1" smtClean="0"/>
              <a:t>few</a:t>
            </a:r>
            <a:r>
              <a:rPr lang="hu-HU" dirty="0" smtClean="0"/>
              <a:t> </a:t>
            </a:r>
            <a:r>
              <a:rPr lang="hu-HU" dirty="0" err="1" smtClean="0"/>
              <a:t>thousand</a:t>
            </a:r>
            <a:r>
              <a:rPr lang="hu-HU" dirty="0" smtClean="0"/>
              <a:t>, </a:t>
            </a:r>
            <a:r>
              <a:rPr lang="hu-HU" dirty="0" err="1" smtClean="0"/>
              <a:t>tens</a:t>
            </a:r>
            <a:r>
              <a:rPr lang="hu-HU" dirty="0" smtClean="0"/>
              <a:t> of </a:t>
            </a:r>
            <a:r>
              <a:rPr lang="hu-HU" dirty="0" err="1" smtClean="0"/>
              <a:t>thousands</a:t>
            </a:r>
            <a:r>
              <a:rPr lang="hu-HU" dirty="0" smtClean="0"/>
              <a:t>, etc.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r>
              <a:rPr lang="hu-HU" dirty="0" smtClean="0"/>
              <a:t>), </a:t>
            </a:r>
            <a:r>
              <a:rPr lang="hu-HU" dirty="0" err="1" smtClean="0"/>
              <a:t>resulting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modified</a:t>
            </a:r>
            <a:r>
              <a:rPr lang="hu-HU" dirty="0" smtClean="0"/>
              <a:t> </a:t>
            </a:r>
            <a:r>
              <a:rPr lang="hu-HU" dirty="0" err="1" smtClean="0"/>
              <a:t>versions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,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which</a:t>
            </a:r>
            <a:r>
              <a:rPr lang="hu-HU" dirty="0" smtClean="0"/>
              <a:t> is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good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fine-tuned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69351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Performance </a:t>
            </a:r>
            <a:r>
              <a:rPr lang="hu-HU" dirty="0" err="1" smtClean="0"/>
              <a:t>Characteristics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rmAutofit fontScale="62500" lnSpcReduction="20000"/>
          </a:bodyPr>
          <a:lstStyle/>
          <a:p>
            <a:r>
              <a:rPr lang="hu-HU" dirty="0" err="1" smtClean="0"/>
              <a:t>However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of a </a:t>
            </a:r>
            <a:r>
              <a:rPr lang="hu-HU" dirty="0" err="1" smtClean="0"/>
              <a:t>transformer</a:t>
            </a:r>
            <a:r>
              <a:rPr lang="hu-HU" dirty="0" smtClean="0"/>
              <a:t> is </a:t>
            </a:r>
            <a:r>
              <a:rPr lang="hu-HU" dirty="0" err="1" smtClean="0"/>
              <a:t>costly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b="1" dirty="0" err="1" smtClean="0"/>
              <a:t>running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r>
              <a:rPr lang="hu-HU" dirty="0" smtClean="0"/>
              <a:t>.</a:t>
            </a:r>
          </a:p>
          <a:p>
            <a:pPr lvl="1"/>
            <a:r>
              <a:rPr lang="hu-HU" b="1" dirty="0" err="1" smtClean="0"/>
              <a:t>Memory</a:t>
            </a:r>
            <a:r>
              <a:rPr lang="hu-HU" b="1" dirty="0" smtClean="0"/>
              <a:t> </a:t>
            </a:r>
            <a:r>
              <a:rPr lang="hu-HU" b="1" dirty="0" err="1" smtClean="0"/>
              <a:t>requirements</a:t>
            </a:r>
            <a:r>
              <a:rPr lang="hu-HU" b="1" dirty="0" smtClean="0"/>
              <a:t> </a:t>
            </a:r>
            <a:r>
              <a:rPr lang="hu-HU" dirty="0" err="1" smtClean="0"/>
              <a:t>range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hundreds</a:t>
            </a:r>
            <a:r>
              <a:rPr lang="hu-HU" dirty="0" smtClean="0"/>
              <a:t> of MB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least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GB of RAM.</a:t>
            </a:r>
          </a:p>
          <a:p>
            <a:pPr lvl="2"/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executing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, </a:t>
            </a:r>
            <a:r>
              <a:rPr lang="hu-HU" b="1" dirty="0" err="1" smtClean="0"/>
              <a:t>this</a:t>
            </a:r>
            <a:r>
              <a:rPr lang="hu-HU" b="1" dirty="0" smtClean="0"/>
              <a:t> </a:t>
            </a:r>
            <a:r>
              <a:rPr lang="hu-HU" b="1" dirty="0" err="1" smtClean="0"/>
              <a:t>needs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be </a:t>
            </a:r>
            <a:r>
              <a:rPr lang="hu-HU" b="1" dirty="0" err="1" smtClean="0"/>
              <a:t>GPU</a:t>
            </a:r>
            <a:r>
              <a:rPr lang="hu-HU" b="1" dirty="0" smtClean="0"/>
              <a:t> RAM</a:t>
            </a:r>
            <a:r>
              <a:rPr lang="hu-HU" dirty="0" smtClean="0"/>
              <a:t>,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RAM</a:t>
            </a:r>
            <a:r>
              <a:rPr lang="hu-HU" dirty="0" smtClean="0"/>
              <a:t> is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shared</a:t>
            </a:r>
            <a:r>
              <a:rPr lang="hu-HU" dirty="0" smtClean="0"/>
              <a:t> </a:t>
            </a:r>
            <a:r>
              <a:rPr lang="hu-HU" dirty="0" err="1" smtClean="0"/>
              <a:t>generally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 and </a:t>
            </a:r>
            <a:r>
              <a:rPr lang="hu-HU" dirty="0" err="1" smtClean="0"/>
              <a:t>the</a:t>
            </a:r>
            <a:r>
              <a:rPr lang="hu-HU" dirty="0" smtClean="0"/>
              <a:t> CPU</a:t>
            </a:r>
          </a:p>
          <a:p>
            <a:pPr lvl="2"/>
            <a:r>
              <a:rPr lang="hu-HU" dirty="0" err="1" smtClean="0"/>
              <a:t>except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rare</a:t>
            </a:r>
            <a:r>
              <a:rPr lang="hu-HU" dirty="0" smtClean="0"/>
              <a:t> </a:t>
            </a:r>
            <a:r>
              <a:rPr lang="hu-HU" dirty="0" err="1" smtClean="0"/>
              <a:t>cases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unified</a:t>
            </a:r>
            <a:r>
              <a:rPr lang="hu-HU" dirty="0" smtClean="0"/>
              <a:t> </a:t>
            </a:r>
            <a:r>
              <a:rPr lang="hu-HU" dirty="0" err="1" smtClean="0"/>
              <a:t>memory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Apple’s M series </a:t>
            </a:r>
            <a:r>
              <a:rPr lang="hu-HU" dirty="0" err="1" smtClean="0"/>
              <a:t>Macs</a:t>
            </a:r>
            <a:endParaRPr lang="hu-HU" dirty="0"/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mid-range</a:t>
            </a:r>
            <a:r>
              <a:rPr lang="hu-HU" dirty="0" smtClean="0"/>
              <a:t> </a:t>
            </a:r>
            <a:r>
              <a:rPr lang="hu-HU" dirty="0" err="1" smtClean="0"/>
              <a:t>consumer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 </a:t>
            </a:r>
            <a:r>
              <a:rPr lang="hu-HU" dirty="0" err="1" smtClean="0"/>
              <a:t>card</a:t>
            </a:r>
            <a:r>
              <a:rPr lang="hu-HU" dirty="0" smtClean="0"/>
              <a:t> </a:t>
            </a:r>
            <a:r>
              <a:rPr lang="hu-HU" dirty="0" err="1" smtClean="0"/>
              <a:t>today</a:t>
            </a:r>
            <a:r>
              <a:rPr lang="hu-HU" dirty="0" smtClean="0"/>
              <a:t> has </a:t>
            </a:r>
            <a:r>
              <a:rPr lang="hu-HU" dirty="0" err="1" smtClean="0"/>
              <a:t>between</a:t>
            </a:r>
            <a:r>
              <a:rPr lang="hu-HU" dirty="0" smtClean="0"/>
              <a:t> 8 and 16 GB RAM.</a:t>
            </a:r>
          </a:p>
          <a:p>
            <a:pPr lvl="2"/>
            <a:r>
              <a:rPr lang="hu-HU" dirty="0" err="1" smtClean="0"/>
              <a:t>Swapping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CPU and </a:t>
            </a:r>
            <a:r>
              <a:rPr lang="hu-HU" dirty="0" err="1" smtClean="0"/>
              <a:t>GPU</a:t>
            </a:r>
            <a:r>
              <a:rPr lang="hu-HU" dirty="0" smtClean="0"/>
              <a:t> RAM is </a:t>
            </a:r>
            <a:r>
              <a:rPr lang="hu-HU" dirty="0" err="1" smtClean="0"/>
              <a:t>technically</a:t>
            </a:r>
            <a:r>
              <a:rPr lang="hu-HU" dirty="0" smtClean="0"/>
              <a:t> </a:t>
            </a:r>
            <a:r>
              <a:rPr lang="hu-HU" dirty="0" err="1" smtClean="0"/>
              <a:t>possible</a:t>
            </a:r>
            <a:r>
              <a:rPr lang="hu-HU" dirty="0" smtClean="0"/>
              <a:t>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rather</a:t>
            </a:r>
            <a:r>
              <a:rPr lang="hu-HU" dirty="0" smtClean="0"/>
              <a:t> </a:t>
            </a:r>
            <a:r>
              <a:rPr lang="hu-HU" dirty="0" err="1" smtClean="0"/>
              <a:t>slow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calculate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needs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/>
              <a:t> </a:t>
            </a:r>
            <a:r>
              <a:rPr lang="hu-HU" dirty="0" err="1" smtClean="0"/>
              <a:t>perform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least</a:t>
            </a:r>
            <a:r>
              <a:rPr lang="hu-HU" dirty="0" smtClean="0"/>
              <a:t> </a:t>
            </a:r>
            <a:r>
              <a:rPr lang="hu-HU" dirty="0" err="1" smtClean="0"/>
              <a:t>hundreds</a:t>
            </a:r>
            <a:r>
              <a:rPr lang="hu-HU" dirty="0" smtClean="0"/>
              <a:t> of </a:t>
            </a:r>
            <a:r>
              <a:rPr lang="hu-HU" dirty="0" err="1" smtClean="0"/>
              <a:t>millions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multiplications</a:t>
            </a:r>
            <a:r>
              <a:rPr lang="hu-HU" dirty="0" smtClean="0"/>
              <a:t> and </a:t>
            </a:r>
            <a:r>
              <a:rPr lang="hu-HU" dirty="0" err="1" smtClean="0"/>
              <a:t>additions</a:t>
            </a:r>
            <a:r>
              <a:rPr lang="hu-HU" dirty="0" smtClean="0"/>
              <a:t>.</a:t>
            </a:r>
          </a:p>
          <a:p>
            <a:pPr lvl="2"/>
            <a:r>
              <a:rPr lang="hu-HU" dirty="0" err="1" smtClean="0"/>
              <a:t>Thus</a:t>
            </a:r>
            <a:r>
              <a:rPr lang="hu-HU" dirty="0" smtClean="0"/>
              <a:t> Stanza and </a:t>
            </a:r>
            <a:r>
              <a:rPr lang="hu-HU" dirty="0" err="1" smtClean="0"/>
              <a:t>spaCy</a:t>
            </a:r>
            <a:r>
              <a:rPr lang="hu-HU" dirty="0" smtClean="0"/>
              <a:t>’s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run</a:t>
            </a:r>
            <a:r>
              <a:rPr lang="hu-HU" dirty="0" smtClean="0"/>
              <a:t> </a:t>
            </a:r>
            <a:r>
              <a:rPr lang="hu-HU" dirty="0" err="1" smtClean="0"/>
              <a:t>unbearably</a:t>
            </a:r>
            <a:r>
              <a:rPr lang="hu-HU" dirty="0" smtClean="0"/>
              <a:t> </a:t>
            </a:r>
            <a:r>
              <a:rPr lang="hu-HU" dirty="0" err="1" smtClean="0"/>
              <a:t>slow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CPU and </a:t>
            </a:r>
            <a:r>
              <a:rPr lang="hu-HU" dirty="0" err="1" smtClean="0"/>
              <a:t>still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slow</a:t>
            </a:r>
            <a:r>
              <a:rPr lang="hu-HU" dirty="0" smtClean="0"/>
              <a:t> </a:t>
            </a:r>
            <a:r>
              <a:rPr lang="hu-HU" dirty="0" err="1" smtClean="0"/>
              <a:t>compared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plain</a:t>
            </a:r>
            <a:r>
              <a:rPr lang="hu-HU" dirty="0" smtClean="0"/>
              <a:t>, </a:t>
            </a:r>
            <a:r>
              <a:rPr lang="hu-HU" dirty="0" err="1" smtClean="0"/>
              <a:t>CNN-based</a:t>
            </a:r>
            <a:r>
              <a:rPr lang="hu-HU" dirty="0" smtClean="0"/>
              <a:t> </a:t>
            </a:r>
            <a:r>
              <a:rPr lang="hu-HU" dirty="0" err="1" smtClean="0"/>
              <a:t>spaCy</a:t>
            </a:r>
            <a:r>
              <a:rPr lang="hu-HU" dirty="0" smtClean="0"/>
              <a:t> </a:t>
            </a:r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endParaRPr lang="hu-HU" dirty="0" smtClean="0"/>
          </a:p>
          <a:p>
            <a:r>
              <a:rPr lang="hu-HU" dirty="0" err="1" smtClean="0"/>
              <a:t>Processing</a:t>
            </a:r>
            <a:r>
              <a:rPr lang="hu-HU" dirty="0" smtClean="0"/>
              <a:t> a corpus of </a:t>
            </a:r>
            <a:r>
              <a:rPr lang="hu-HU" dirty="0" err="1" smtClean="0"/>
              <a:t>substantial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consumes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significant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electricity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region</a:t>
            </a:r>
            <a:r>
              <a:rPr lang="hu-HU" dirty="0" smtClean="0"/>
              <a:t> of </a:t>
            </a:r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200-300 W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dirty="0" err="1" smtClean="0"/>
              <a:t>typical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 </a:t>
            </a:r>
            <a:r>
              <a:rPr lang="hu-HU" dirty="0" err="1" smtClean="0"/>
              <a:t>card</a:t>
            </a:r>
            <a:endParaRPr lang="hu-HU" dirty="0" smtClean="0"/>
          </a:p>
          <a:p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b="1" dirty="0" err="1" smtClean="0"/>
              <a:t>complexity</a:t>
            </a:r>
            <a:r>
              <a:rPr lang="hu-HU" b="1" dirty="0" smtClean="0"/>
              <a:t> </a:t>
            </a:r>
            <a:r>
              <a:rPr lang="hu-HU" dirty="0" smtClean="0"/>
              <a:t>of a </a:t>
            </a:r>
            <a:r>
              <a:rPr lang="hu-HU" dirty="0" err="1" smtClean="0"/>
              <a:t>transformer</a:t>
            </a:r>
            <a:r>
              <a:rPr lang="hu-HU" dirty="0" smtClean="0"/>
              <a:t> is </a:t>
            </a:r>
            <a:r>
              <a:rPr lang="hu-HU" b="1" dirty="0" err="1" smtClean="0"/>
              <a:t>quadratic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w.r.t</a:t>
            </a:r>
            <a:r>
              <a:rPr lang="hu-HU" dirty="0" smtClean="0"/>
              <a:t>.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 and </a:t>
            </a:r>
            <a:r>
              <a:rPr lang="hu-HU" dirty="0" err="1" smtClean="0"/>
              <a:t>memory</a:t>
            </a:r>
            <a:r>
              <a:rPr lang="hu-HU" dirty="0" smtClean="0"/>
              <a:t>) </a:t>
            </a:r>
            <a:r>
              <a:rPr lang="hu-HU" dirty="0" err="1" smtClean="0"/>
              <a:t>relative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length</a:t>
            </a:r>
            <a:endParaRPr lang="hu-HU" dirty="0" smtClean="0"/>
          </a:p>
          <a:p>
            <a:pPr lvl="1"/>
            <a:r>
              <a:rPr lang="hu-HU" b="1" dirty="0" err="1" smtClean="0"/>
              <a:t>self-attention</a:t>
            </a:r>
            <a:r>
              <a:rPr lang="hu-HU" dirty="0" smtClean="0"/>
              <a:t>: </a:t>
            </a:r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</a:t>
            </a:r>
            <a:r>
              <a:rPr lang="hu-HU" dirty="0" err="1" smtClean="0"/>
              <a:t>attends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296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,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almost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pre-trained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i.e.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predict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Two</a:t>
            </a:r>
            <a:r>
              <a:rPr lang="hu-HU" dirty="0" smtClean="0"/>
              <a:t> </a:t>
            </a:r>
            <a:r>
              <a:rPr lang="hu-HU" dirty="0" err="1" smtClean="0"/>
              <a:t>essential</a:t>
            </a:r>
            <a:r>
              <a:rPr lang="hu-HU" dirty="0" smtClean="0"/>
              <a:t> </a:t>
            </a:r>
            <a:r>
              <a:rPr lang="hu-HU" dirty="0" err="1" smtClean="0"/>
              <a:t>variants</a:t>
            </a:r>
            <a:r>
              <a:rPr lang="hu-HU" dirty="0" smtClean="0"/>
              <a:t>:</a:t>
            </a:r>
          </a:p>
          <a:p>
            <a:pPr lvl="1"/>
            <a:r>
              <a:rPr lang="hu-HU" b="1" dirty="0" err="1" smtClean="0"/>
              <a:t>encoder</a:t>
            </a:r>
            <a:r>
              <a:rPr lang="hu-HU" dirty="0" smtClean="0"/>
              <a:t>: input is an </a:t>
            </a:r>
            <a:r>
              <a:rPr lang="hu-HU" dirty="0" err="1" smtClean="0"/>
              <a:t>entire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text;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middle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masked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covered</a:t>
            </a:r>
            <a:r>
              <a:rPr lang="hu-HU" dirty="0" smtClean="0"/>
              <a:t>), </a:t>
            </a:r>
            <a:r>
              <a:rPr lang="hu-HU" dirty="0" err="1" smtClean="0"/>
              <a:t>omitted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cloze</a:t>
            </a:r>
            <a:r>
              <a:rPr lang="hu-HU" dirty="0" smtClean="0"/>
              <a:t> test</a:t>
            </a:r>
          </a:p>
          <a:p>
            <a:pPr lvl="2"/>
            <a:r>
              <a:rPr lang="hu-HU" b="1" dirty="0" err="1" smtClean="0"/>
              <a:t>masked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modelling </a:t>
            </a:r>
            <a:r>
              <a:rPr lang="hu-HU" dirty="0" smtClean="0"/>
              <a:t>(</a:t>
            </a:r>
            <a:r>
              <a:rPr lang="hu-HU" dirty="0" err="1" smtClean="0"/>
              <a:t>MLM</a:t>
            </a:r>
            <a:r>
              <a:rPr lang="hu-HU" dirty="0" smtClean="0"/>
              <a:t>)</a:t>
            </a:r>
          </a:p>
          <a:p>
            <a:pPr lvl="3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needs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guess</a:t>
            </a:r>
            <a:r>
              <a:rPr lang="hu-HU" dirty="0" smtClean="0"/>
              <a:t>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endParaRPr lang="hu-HU" dirty="0" smtClean="0"/>
          </a:p>
          <a:p>
            <a:pPr lvl="2"/>
            <a:r>
              <a:rPr lang="hu-HU" b="1" dirty="0" err="1" smtClean="0"/>
              <a:t>bi-directional</a:t>
            </a:r>
            <a:r>
              <a:rPr lang="hu-HU" dirty="0" smtClean="0"/>
              <a:t>: </a:t>
            </a:r>
            <a:r>
              <a:rPr lang="hu-HU" dirty="0" err="1" smtClean="0"/>
              <a:t>guess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rely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and right </a:t>
            </a:r>
            <a:r>
              <a:rPr lang="hu-HU" dirty="0" err="1" smtClean="0"/>
              <a:t>context</a:t>
            </a:r>
            <a:endParaRPr lang="hu-HU" dirty="0" smtClean="0"/>
          </a:p>
          <a:p>
            <a:pPr lvl="1"/>
            <a:r>
              <a:rPr lang="hu-HU" b="1" dirty="0" err="1" smtClean="0"/>
              <a:t>generator</a:t>
            </a:r>
            <a:r>
              <a:rPr lang="hu-HU" dirty="0" smtClean="0"/>
              <a:t> (</a:t>
            </a:r>
            <a:r>
              <a:rPr lang="hu-HU" dirty="0" err="1" smtClean="0"/>
              <a:t>decoder</a:t>
            </a:r>
            <a:r>
              <a:rPr lang="hu-HU" dirty="0" smtClean="0"/>
              <a:t>): input is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far, output 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endParaRPr lang="hu-HU" dirty="0" smtClean="0"/>
          </a:p>
          <a:p>
            <a:pPr lvl="2"/>
            <a:r>
              <a:rPr lang="hu-HU" b="1" dirty="0" err="1" smtClean="0"/>
              <a:t>autoregressive</a:t>
            </a:r>
            <a:r>
              <a:rPr lang="hu-HU" b="1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smtClean="0"/>
              <a:t>modelling (</a:t>
            </a:r>
            <a:r>
              <a:rPr lang="hu-HU" dirty="0" err="1" smtClean="0"/>
              <a:t>sometimes</a:t>
            </a:r>
            <a:r>
              <a:rPr lang="hu-HU" dirty="0" smtClean="0"/>
              <a:t> </a:t>
            </a:r>
            <a:r>
              <a:rPr lang="hu-HU" dirty="0" err="1" smtClean="0"/>
              <a:t>referred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causal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modelling</a:t>
            </a:r>
            <a:r>
              <a:rPr lang="hu-HU" dirty="0" smtClean="0"/>
              <a:t>)</a:t>
            </a:r>
            <a:endParaRPr lang="hu-HU" dirty="0" smtClean="0"/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cases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smtClean="0"/>
              <a:t>output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probability</a:t>
            </a:r>
            <a:r>
              <a:rPr lang="hu-HU" b="1" dirty="0" smtClean="0"/>
              <a:t> </a:t>
            </a:r>
            <a:r>
              <a:rPr lang="hu-HU" b="1" dirty="0" err="1" smtClean="0"/>
              <a:t>distribution</a:t>
            </a:r>
            <a:r>
              <a:rPr lang="hu-HU" b="1" dirty="0" smtClean="0"/>
              <a:t> </a:t>
            </a:r>
            <a:r>
              <a:rPr lang="hu-HU" b="1" dirty="0" err="1" smtClean="0"/>
              <a:t>predicted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b="1" dirty="0" err="1" smtClean="0"/>
              <a:t>given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position</a:t>
            </a:r>
            <a:endParaRPr lang="hu-HU" b="1" dirty="0" smtClean="0"/>
          </a:p>
          <a:p>
            <a:pPr lvl="1"/>
            <a:r>
              <a:rPr lang="hu-HU" dirty="0" err="1" smtClean="0"/>
              <a:t>encoder</a:t>
            </a:r>
            <a:r>
              <a:rPr lang="hu-HU" dirty="0" smtClean="0"/>
              <a:t>: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distributions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endParaRPr lang="hu-HU" dirty="0" smtClean="0"/>
          </a:p>
          <a:p>
            <a:pPr lvl="1"/>
            <a:r>
              <a:rPr lang="hu-HU" dirty="0" err="1" smtClean="0"/>
              <a:t>decoder</a:t>
            </a:r>
            <a:r>
              <a:rPr lang="hu-HU" dirty="0" smtClean="0"/>
              <a:t>: </a:t>
            </a:r>
            <a:r>
              <a:rPr lang="hu-HU" dirty="0" err="1" smtClean="0"/>
              <a:t>exactly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,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endParaRPr lang="hu-HU" dirty="0" smtClean="0"/>
          </a:p>
          <a:p>
            <a:pPr lvl="1"/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is a </a:t>
            </a:r>
            <a:r>
              <a:rPr lang="hu-HU" dirty="0" err="1" smtClean="0"/>
              <a:t>V-dimensional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(V 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),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elements</a:t>
            </a:r>
            <a:r>
              <a:rPr lang="hu-HU" dirty="0" smtClean="0"/>
              <a:t> sum </a:t>
            </a:r>
            <a:r>
              <a:rPr lang="hu-HU" dirty="0" err="1" smtClean="0"/>
              <a:t>to</a:t>
            </a:r>
            <a:r>
              <a:rPr lang="hu-HU" dirty="0" smtClean="0"/>
              <a:t> 1</a:t>
            </a:r>
          </a:p>
        </p:txBody>
      </p:sp>
    </p:spTree>
    <p:extLst>
      <p:ext uri="{BB962C8B-B14F-4D97-AF65-F5344CB8AC3E}">
        <p14:creationId xmlns:p14="http://schemas.microsoft.com/office/powerpoint/2010/main" val="2420246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BERT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Devlin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., </a:t>
            </a:r>
            <a:r>
              <a:rPr lang="en-GB" i="1" dirty="0" smtClean="0">
                <a:hlinkClick r:id="rId2"/>
              </a:rPr>
              <a:t>BERT: Pre-training of Deep Bidirectional Transformers for Language Understanding</a:t>
            </a:r>
            <a:r>
              <a:rPr lang="hu-HU" i="1" dirty="0" smtClean="0"/>
              <a:t>, </a:t>
            </a:r>
            <a:r>
              <a:rPr lang="hu-HU" dirty="0" smtClean="0"/>
              <a:t>2018</a:t>
            </a:r>
          </a:p>
          <a:p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major </a:t>
            </a:r>
            <a:r>
              <a:rPr lang="hu-HU" dirty="0" err="1" smtClean="0"/>
              <a:t>application</a:t>
            </a:r>
            <a:r>
              <a:rPr lang="hu-HU" dirty="0" smtClean="0"/>
              <a:t> of </a:t>
            </a:r>
            <a:r>
              <a:rPr lang="hu-HU" dirty="0" err="1" smtClean="0"/>
              <a:t>transformers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is a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 </a:t>
            </a:r>
            <a:r>
              <a:rPr lang="hu-HU" dirty="0" err="1" smtClean="0"/>
              <a:t>task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secondary</a:t>
            </a:r>
            <a:r>
              <a:rPr lang="hu-HU" dirty="0" smtClean="0"/>
              <a:t>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: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endParaRPr lang="hu-HU" dirty="0" smtClean="0"/>
          </a:p>
          <a:p>
            <a:pPr lvl="2"/>
            <a:r>
              <a:rPr lang="hu-HU" dirty="0" err="1" smtClean="0"/>
              <a:t>context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two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, </a:t>
            </a:r>
            <a:r>
              <a:rPr lang="hu-HU" dirty="0" err="1" smtClean="0"/>
              <a:t>separated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a </a:t>
            </a:r>
            <a:r>
              <a:rPr lang="hu-HU" dirty="0" err="1" smtClean="0"/>
              <a:t>special</a:t>
            </a:r>
            <a:r>
              <a:rPr lang="hu-HU" dirty="0" smtClean="0"/>
              <a:t> </a:t>
            </a:r>
            <a:r>
              <a:rPr lang="hu-HU" dirty="0" err="1" smtClean="0"/>
              <a:t>separator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endParaRPr lang="hu-HU" dirty="0" smtClean="0"/>
          </a:p>
          <a:p>
            <a:pPr lvl="2"/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second</a:t>
            </a:r>
            <a:r>
              <a:rPr lang="hu-HU" dirty="0" smtClean="0"/>
              <a:t>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fact</a:t>
            </a:r>
            <a:r>
              <a:rPr lang="hu-HU" dirty="0" smtClean="0"/>
              <a:t> </a:t>
            </a:r>
            <a:r>
              <a:rPr lang="hu-HU" dirty="0" err="1" smtClean="0"/>
              <a:t>come</a:t>
            </a:r>
            <a:r>
              <a:rPr lang="hu-HU" dirty="0" smtClean="0"/>
              <a:t> </a:t>
            </a:r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corpus,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randomly</a:t>
            </a:r>
            <a:r>
              <a:rPr lang="hu-HU" dirty="0" smtClean="0"/>
              <a:t> </a:t>
            </a:r>
            <a:r>
              <a:rPr lang="hu-HU" dirty="0" err="1" smtClean="0"/>
              <a:t>paired</a:t>
            </a:r>
            <a:r>
              <a:rPr lang="hu-HU" dirty="0" smtClean="0"/>
              <a:t> (</a:t>
            </a:r>
            <a:r>
              <a:rPr lang="hu-HU" dirty="0" err="1" smtClean="0"/>
              <a:t>binary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)</a:t>
            </a:r>
          </a:p>
          <a:p>
            <a:r>
              <a:rPr lang="hu-HU" dirty="0" err="1" smtClean="0"/>
              <a:t>Two</a:t>
            </a:r>
            <a:r>
              <a:rPr lang="hu-HU" dirty="0" smtClean="0"/>
              <a:t> main </a:t>
            </a:r>
            <a:r>
              <a:rPr lang="hu-HU" dirty="0" err="1" smtClean="0"/>
              <a:t>versions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BERT-base</a:t>
            </a:r>
            <a:r>
              <a:rPr lang="hu-HU" dirty="0" smtClean="0"/>
              <a:t>: </a:t>
            </a:r>
            <a:r>
              <a:rPr lang="pt-BR" dirty="0" smtClean="0"/>
              <a:t>110M </a:t>
            </a:r>
            <a:r>
              <a:rPr lang="hu-HU" dirty="0" smtClean="0"/>
              <a:t>p</a:t>
            </a:r>
            <a:r>
              <a:rPr lang="pt-BR" dirty="0" smtClean="0"/>
              <a:t>arameters</a:t>
            </a:r>
            <a:r>
              <a:rPr lang="hu-HU" dirty="0" smtClean="0"/>
              <a:t>, </a:t>
            </a:r>
            <a:r>
              <a:rPr lang="pt-BR" dirty="0" smtClean="0"/>
              <a:t>12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blocks</a:t>
            </a:r>
            <a:r>
              <a:rPr lang="pt-BR" dirty="0" smtClean="0"/>
              <a:t>, 768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pt-BR" dirty="0" smtClean="0"/>
              <a:t> </a:t>
            </a:r>
            <a:endParaRPr lang="hu-HU" dirty="0" smtClean="0"/>
          </a:p>
          <a:p>
            <a:pPr lvl="1"/>
            <a:r>
              <a:rPr lang="hu-HU" dirty="0" err="1" smtClean="0"/>
              <a:t>BERT-large</a:t>
            </a:r>
            <a:r>
              <a:rPr lang="hu-HU" dirty="0" smtClean="0"/>
              <a:t>: 340</a:t>
            </a:r>
            <a:r>
              <a:rPr lang="pt-BR" dirty="0" smtClean="0"/>
              <a:t>M </a:t>
            </a:r>
            <a:r>
              <a:rPr lang="hu-HU" dirty="0" smtClean="0"/>
              <a:t>p</a:t>
            </a:r>
            <a:r>
              <a:rPr lang="pt-BR" dirty="0" smtClean="0"/>
              <a:t>arameters</a:t>
            </a:r>
            <a:r>
              <a:rPr lang="hu-HU" dirty="0" smtClean="0"/>
              <a:t>, 24</a:t>
            </a:r>
            <a:r>
              <a:rPr lang="hu-HU" dirty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blocks</a:t>
            </a:r>
            <a:r>
              <a:rPr lang="pt-BR" dirty="0" smtClean="0"/>
              <a:t>, </a:t>
            </a:r>
            <a:r>
              <a:rPr lang="hu-HU" dirty="0" smtClean="0"/>
              <a:t>1024-dimensional</a:t>
            </a:r>
          </a:p>
          <a:p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variants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cased</a:t>
            </a:r>
            <a:r>
              <a:rPr lang="hu-HU" dirty="0" smtClean="0"/>
              <a:t> (</a:t>
            </a:r>
            <a:r>
              <a:rPr lang="hu-HU" dirty="0" err="1" smtClean="0"/>
              <a:t>distinguishes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upper</a:t>
            </a:r>
            <a:r>
              <a:rPr lang="hu-HU" dirty="0" smtClean="0"/>
              <a:t> and </a:t>
            </a:r>
            <a:r>
              <a:rPr lang="hu-HU" dirty="0" err="1" smtClean="0"/>
              <a:t>lower</a:t>
            </a:r>
            <a:r>
              <a:rPr lang="hu-HU" dirty="0" smtClean="0"/>
              <a:t> </a:t>
            </a:r>
            <a:r>
              <a:rPr lang="hu-HU" dirty="0" err="1" smtClean="0"/>
              <a:t>case</a:t>
            </a:r>
            <a:r>
              <a:rPr lang="hu-HU" dirty="0" smtClean="0"/>
              <a:t>)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uncased</a:t>
            </a:r>
            <a:endParaRPr lang="hu-HU" dirty="0" smtClean="0"/>
          </a:p>
          <a:p>
            <a:pPr lvl="1"/>
            <a:r>
              <a:rPr lang="hu-HU" dirty="0" err="1" smtClean="0"/>
              <a:t>monolingual</a:t>
            </a:r>
            <a:r>
              <a:rPr lang="hu-HU" dirty="0" smtClean="0"/>
              <a:t> </a:t>
            </a:r>
            <a:r>
              <a:rPr lang="hu-HU" dirty="0" err="1" smtClean="0"/>
              <a:t>vs</a:t>
            </a:r>
            <a:r>
              <a:rPr lang="hu-HU" dirty="0" smtClean="0"/>
              <a:t> </a:t>
            </a:r>
            <a:r>
              <a:rPr lang="hu-HU" dirty="0" err="1" smtClean="0"/>
              <a:t>multilingual</a:t>
            </a:r>
            <a:endParaRPr lang="hu-HU" dirty="0" smtClean="0"/>
          </a:p>
          <a:p>
            <a:pPr lvl="2"/>
            <a:r>
              <a:rPr lang="hu-HU" dirty="0" err="1" smtClean="0"/>
              <a:t>contrary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expectations</a:t>
            </a:r>
            <a:r>
              <a:rPr lang="hu-HU" dirty="0" smtClean="0"/>
              <a:t>, a </a:t>
            </a:r>
            <a:r>
              <a:rPr lang="hu-HU" dirty="0" err="1" smtClean="0"/>
              <a:t>multilingual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mainly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English plus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languages</a:t>
            </a:r>
            <a:r>
              <a:rPr lang="hu-HU" dirty="0" smtClean="0"/>
              <a:t> </a:t>
            </a:r>
            <a:r>
              <a:rPr lang="hu-HU" dirty="0" err="1" smtClean="0"/>
              <a:t>works</a:t>
            </a:r>
            <a:r>
              <a:rPr lang="hu-HU" dirty="0" smtClean="0"/>
              <a:t> </a:t>
            </a:r>
            <a:r>
              <a:rPr lang="hu-HU" dirty="0" err="1" smtClean="0"/>
              <a:t>better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/>
              <a:t> </a:t>
            </a:r>
            <a:r>
              <a:rPr lang="hu-HU" dirty="0" smtClean="0"/>
              <a:t>a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German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French</a:t>
            </a:r>
            <a:r>
              <a:rPr lang="hu-HU" dirty="0" smtClean="0"/>
              <a:t>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specifically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German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French</a:t>
            </a:r>
            <a:r>
              <a:rPr lang="hu-HU" dirty="0" smtClean="0"/>
              <a:t> corpus</a:t>
            </a:r>
          </a:p>
        </p:txBody>
      </p:sp>
    </p:spTree>
    <p:extLst>
      <p:ext uri="{BB962C8B-B14F-4D97-AF65-F5344CB8AC3E}">
        <p14:creationId xmlns:p14="http://schemas.microsoft.com/office/powerpoint/2010/main" val="3743101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BERT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Shortly</a:t>
            </a:r>
            <a:r>
              <a:rPr lang="hu-HU" dirty="0" smtClean="0"/>
              <a:t> </a:t>
            </a:r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,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end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decade</a:t>
            </a:r>
            <a:r>
              <a:rPr lang="hu-HU" dirty="0" smtClean="0"/>
              <a:t>,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revolutionised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way</a:t>
            </a:r>
            <a:r>
              <a:rPr lang="hu-HU" dirty="0" smtClean="0"/>
              <a:t> </a:t>
            </a:r>
            <a:r>
              <a:rPr lang="hu-HU" dirty="0" err="1" smtClean="0"/>
              <a:t>people</a:t>
            </a:r>
            <a:r>
              <a:rPr lang="hu-HU" dirty="0" smtClean="0"/>
              <a:t> </a:t>
            </a:r>
            <a:r>
              <a:rPr lang="hu-HU" dirty="0" err="1" smtClean="0"/>
              <a:t>were</a:t>
            </a:r>
            <a:r>
              <a:rPr lang="hu-HU" dirty="0" smtClean="0"/>
              <a:t> </a:t>
            </a:r>
            <a:r>
              <a:rPr lang="hu-HU" dirty="0" err="1" smtClean="0"/>
              <a:t>doing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Previously</a:t>
            </a:r>
            <a:r>
              <a:rPr lang="hu-HU" dirty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b="1" dirty="0" err="1" smtClean="0"/>
              <a:t>training</a:t>
            </a:r>
            <a:r>
              <a:rPr lang="hu-HU" b="1" dirty="0" smtClean="0"/>
              <a:t> </a:t>
            </a:r>
            <a:r>
              <a:rPr lang="hu-HU" dirty="0" smtClean="0"/>
              <a:t>a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text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sentiment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processed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documents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an </a:t>
            </a:r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pipeline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extract</a:t>
            </a:r>
            <a:r>
              <a:rPr lang="hu-HU" b="1" dirty="0" smtClean="0"/>
              <a:t> </a:t>
            </a:r>
            <a:r>
              <a:rPr lang="hu-HU" b="1" dirty="0" err="1" smtClean="0"/>
              <a:t>useful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lemmata</a:t>
            </a:r>
            <a:r>
              <a:rPr lang="hu-HU" dirty="0" smtClean="0"/>
              <a:t>, POS, </a:t>
            </a:r>
            <a:r>
              <a:rPr lang="hu-HU" dirty="0" err="1" smtClean="0"/>
              <a:t>morphological</a:t>
            </a:r>
            <a:r>
              <a:rPr lang="hu-HU" dirty="0" smtClean="0"/>
              <a:t> </a:t>
            </a:r>
            <a:r>
              <a:rPr lang="hu-HU" dirty="0" err="1" smtClean="0"/>
              <a:t>features</a:t>
            </a:r>
            <a:r>
              <a:rPr lang="hu-HU" dirty="0" smtClean="0"/>
              <a:t>, </a:t>
            </a:r>
            <a:r>
              <a:rPr lang="hu-HU" dirty="0" err="1" smtClean="0"/>
              <a:t>syntactic</a:t>
            </a:r>
            <a:r>
              <a:rPr lang="hu-HU" dirty="0" smtClean="0"/>
              <a:t> </a:t>
            </a:r>
            <a:r>
              <a:rPr lang="hu-HU" dirty="0" err="1" smtClean="0"/>
              <a:t>relationships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b="1" dirty="0" err="1" smtClean="0"/>
              <a:t>transformed</a:t>
            </a:r>
            <a:r>
              <a:rPr lang="hu-HU" b="1" dirty="0" smtClean="0"/>
              <a:t> </a:t>
            </a:r>
            <a:r>
              <a:rPr lang="hu-HU" b="1" dirty="0" err="1" smtClean="0"/>
              <a:t>these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b="1" dirty="0" err="1" smtClean="0"/>
              <a:t>into</a:t>
            </a:r>
            <a:r>
              <a:rPr lang="hu-HU" b="1" dirty="0" smtClean="0"/>
              <a:t> a </a:t>
            </a:r>
            <a:r>
              <a:rPr lang="hu-HU" b="1" dirty="0" err="1" smtClean="0"/>
              <a:t>vector</a:t>
            </a:r>
            <a:r>
              <a:rPr lang="hu-HU" b="1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text </a:t>
            </a:r>
            <a:r>
              <a:rPr lang="hu-HU" dirty="0" err="1" smtClean="0"/>
              <a:t>vectors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classifier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and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predict</a:t>
            </a:r>
            <a:r>
              <a:rPr lang="hu-HU" dirty="0" smtClean="0"/>
              <a:t> a </a:t>
            </a:r>
            <a:r>
              <a:rPr lang="hu-HU" dirty="0" err="1" smtClean="0"/>
              <a:t>class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endParaRPr lang="hu-HU" dirty="0" smtClean="0"/>
          </a:p>
          <a:p>
            <a:pPr lvl="2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approach</a:t>
            </a:r>
            <a:r>
              <a:rPr lang="hu-HU" dirty="0" smtClean="0"/>
              <a:t> </a:t>
            </a:r>
            <a:r>
              <a:rPr lang="hu-HU" b="1" dirty="0" err="1" smtClean="0"/>
              <a:t>requires</a:t>
            </a:r>
            <a:r>
              <a:rPr lang="hu-HU" b="1" dirty="0" smtClean="0"/>
              <a:t> a </a:t>
            </a:r>
            <a:r>
              <a:rPr lang="hu-HU" b="1" dirty="0" err="1" smtClean="0"/>
              <a:t>good</a:t>
            </a:r>
            <a:r>
              <a:rPr lang="hu-HU" b="1" dirty="0" smtClean="0"/>
              <a:t> </a:t>
            </a:r>
            <a:r>
              <a:rPr lang="hu-HU" b="1" dirty="0" err="1" smtClean="0"/>
              <a:t>understanding</a:t>
            </a:r>
            <a:r>
              <a:rPr lang="hu-HU" b="1" dirty="0" smtClean="0"/>
              <a:t> of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pipeline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manual</a:t>
            </a:r>
            <a:r>
              <a:rPr lang="hu-HU" b="1" dirty="0" smtClean="0"/>
              <a:t> </a:t>
            </a:r>
            <a:r>
              <a:rPr lang="hu-HU" b="1" dirty="0" err="1" smtClean="0"/>
              <a:t>feature</a:t>
            </a:r>
            <a:r>
              <a:rPr lang="hu-HU" b="1" dirty="0" smtClean="0"/>
              <a:t> </a:t>
            </a:r>
            <a:r>
              <a:rPr lang="hu-HU" b="1" dirty="0" err="1" smtClean="0"/>
              <a:t>engineering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work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endParaRPr lang="hu-HU" dirty="0" smtClean="0"/>
          </a:p>
          <a:p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pass</a:t>
            </a:r>
            <a:r>
              <a:rPr lang="hu-HU" dirty="0" smtClean="0"/>
              <a:t> </a:t>
            </a:r>
            <a:r>
              <a:rPr lang="hu-HU" b="1" dirty="0" err="1" smtClean="0"/>
              <a:t>raw</a:t>
            </a:r>
            <a:r>
              <a:rPr lang="hu-HU" b="1" dirty="0" smtClean="0"/>
              <a:t> </a:t>
            </a:r>
            <a:r>
              <a:rPr lang="hu-HU" b="1" dirty="0" err="1" smtClean="0"/>
              <a:t>documents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  <a:p>
            <a:pPr lvl="2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automatically</a:t>
            </a:r>
            <a:r>
              <a:rPr lang="hu-HU" dirty="0" smtClean="0"/>
              <a:t> </a:t>
            </a:r>
            <a:r>
              <a:rPr lang="hu-HU" dirty="0" err="1" smtClean="0"/>
              <a:t>tokenised</a:t>
            </a:r>
            <a:r>
              <a:rPr lang="hu-HU" dirty="0" smtClean="0"/>
              <a:t> and </a:t>
            </a:r>
            <a:r>
              <a:rPr lang="hu-HU" dirty="0" err="1" smtClean="0"/>
              <a:t>converted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background</a:t>
            </a:r>
            <a:endParaRPr lang="hu-HU" dirty="0" smtClean="0"/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b="1" dirty="0" err="1" smtClean="0"/>
              <a:t>select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type</a:t>
            </a:r>
            <a:r>
              <a:rPr lang="hu-HU" b="1" dirty="0" smtClean="0"/>
              <a:t> of </a:t>
            </a:r>
            <a:r>
              <a:rPr lang="hu-HU" b="1" dirty="0" err="1" smtClean="0"/>
              <a:t>task</a:t>
            </a:r>
            <a:r>
              <a:rPr lang="hu-HU" b="1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want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perform</a:t>
            </a:r>
            <a:endParaRPr lang="hu-HU" dirty="0" smtClean="0"/>
          </a:p>
          <a:p>
            <a:pPr lvl="2"/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, text </a:t>
            </a:r>
            <a:r>
              <a:rPr lang="hu-HU" dirty="0" err="1" smtClean="0"/>
              <a:t>classification</a:t>
            </a:r>
            <a:endParaRPr lang="hu-HU" dirty="0" smtClean="0"/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pass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outputs</a:t>
            </a:r>
            <a:r>
              <a:rPr lang="hu-HU" dirty="0" smtClean="0"/>
              <a:t> </a:t>
            </a:r>
            <a:r>
              <a:rPr lang="hu-HU" dirty="0" err="1" smtClean="0"/>
              <a:t>corresponding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(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document</a:t>
            </a:r>
            <a:r>
              <a:rPr lang="hu-HU" dirty="0" smtClean="0"/>
              <a:t> </a:t>
            </a:r>
            <a:r>
              <a:rPr lang="hu-HU" b="1" dirty="0" err="1" smtClean="0"/>
              <a:t>class</a:t>
            </a:r>
            <a:r>
              <a:rPr lang="hu-HU" dirty="0" smtClean="0"/>
              <a:t> </a:t>
            </a:r>
            <a:r>
              <a:rPr lang="hu-HU" b="1" dirty="0" err="1" smtClean="0"/>
              <a:t>labels</a:t>
            </a:r>
            <a:r>
              <a:rPr lang="hu-HU" dirty="0" smtClean="0"/>
              <a:t>)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671064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Family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release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architecture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an </a:t>
            </a:r>
            <a:r>
              <a:rPr lang="hu-HU" dirty="0" err="1" smtClean="0"/>
              <a:t>improved</a:t>
            </a:r>
            <a:r>
              <a:rPr lang="hu-HU" dirty="0" smtClean="0"/>
              <a:t>, more </a:t>
            </a:r>
            <a:r>
              <a:rPr lang="hu-HU" dirty="0" err="1" smtClean="0"/>
              <a:t>effective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objective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feature</a:t>
            </a:r>
            <a:r>
              <a:rPr lang="hu-HU" dirty="0" smtClean="0"/>
              <a:t> </a:t>
            </a:r>
            <a:r>
              <a:rPr lang="hu-HU" dirty="0" err="1" smtClean="0"/>
              <a:t>technical</a:t>
            </a:r>
            <a:r>
              <a:rPr lang="hu-HU" dirty="0" smtClean="0"/>
              <a:t> </a:t>
            </a:r>
            <a:r>
              <a:rPr lang="hu-HU" dirty="0" err="1" smtClean="0"/>
              <a:t>improvements</a:t>
            </a:r>
            <a:r>
              <a:rPr lang="hu-HU" dirty="0" smtClean="0"/>
              <a:t>, </a:t>
            </a:r>
            <a:r>
              <a:rPr lang="hu-HU" dirty="0" err="1" smtClean="0"/>
              <a:t>like</a:t>
            </a:r>
            <a:r>
              <a:rPr lang="hu-HU" dirty="0" smtClean="0"/>
              <a:t> a more </a:t>
            </a:r>
            <a:r>
              <a:rPr lang="hu-HU" dirty="0" err="1" smtClean="0"/>
              <a:t>efficient</a:t>
            </a:r>
            <a:r>
              <a:rPr lang="hu-HU" dirty="0" smtClean="0"/>
              <a:t> </a:t>
            </a:r>
            <a:r>
              <a:rPr lang="hu-HU" dirty="0" err="1" smtClean="0"/>
              <a:t>self-attention</a:t>
            </a:r>
            <a:r>
              <a:rPr lang="hu-HU" dirty="0" smtClean="0"/>
              <a:t> </a:t>
            </a:r>
            <a:r>
              <a:rPr lang="hu-HU" dirty="0" err="1" smtClean="0"/>
              <a:t>implementation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a </a:t>
            </a:r>
            <a:r>
              <a:rPr lang="hu-HU" dirty="0" err="1" smtClean="0"/>
              <a:t>better</a:t>
            </a:r>
            <a:r>
              <a:rPr lang="hu-HU" dirty="0" smtClean="0"/>
              <a:t> </a:t>
            </a:r>
            <a:r>
              <a:rPr lang="hu-HU" dirty="0" err="1" smtClean="0"/>
              <a:t>positional</a:t>
            </a:r>
            <a:r>
              <a:rPr lang="hu-HU" dirty="0" smtClean="0"/>
              <a:t> </a:t>
            </a:r>
            <a:r>
              <a:rPr lang="hu-HU" dirty="0" err="1" smtClean="0"/>
              <a:t>encoding</a:t>
            </a:r>
            <a:r>
              <a:rPr lang="hu-HU" dirty="0" smtClean="0"/>
              <a:t>.</a:t>
            </a:r>
          </a:p>
          <a:p>
            <a:pPr lvl="1"/>
            <a:r>
              <a:rPr lang="hu-HU" dirty="0" smtClean="0"/>
              <a:t>Most of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a </a:t>
            </a:r>
            <a:r>
              <a:rPr lang="hu-HU" dirty="0" err="1" smtClean="0"/>
              <a:t>name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substring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endParaRPr lang="hu-HU" dirty="0" smtClean="0"/>
          </a:p>
          <a:p>
            <a:pPr lvl="2"/>
            <a:r>
              <a:rPr lang="hu-HU" dirty="0" err="1" smtClean="0"/>
              <a:t>XLM-RoBERTa</a:t>
            </a:r>
            <a:r>
              <a:rPr lang="hu-HU" dirty="0" smtClean="0"/>
              <a:t>, </a:t>
            </a:r>
            <a:r>
              <a:rPr lang="hu-HU" dirty="0" err="1" smtClean="0"/>
              <a:t>DeBERTa</a:t>
            </a:r>
            <a:r>
              <a:rPr lang="hu-HU" dirty="0" smtClean="0"/>
              <a:t>, </a:t>
            </a:r>
            <a:r>
              <a:rPr lang="hu-HU" dirty="0" err="1" smtClean="0"/>
              <a:t>DistilBERT</a:t>
            </a:r>
            <a:r>
              <a:rPr lang="hu-HU" dirty="0" smtClean="0"/>
              <a:t>, </a:t>
            </a:r>
            <a:r>
              <a:rPr lang="hu-HU" dirty="0" err="1" smtClean="0"/>
              <a:t>ModernBERT</a:t>
            </a:r>
            <a:endParaRPr lang="hu-HU" dirty="0" smtClean="0"/>
          </a:p>
          <a:p>
            <a:pPr lvl="2"/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do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: ELECTRA</a:t>
            </a:r>
          </a:p>
          <a:p>
            <a:pPr lvl="1"/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variants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architecture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and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regime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non-English </a:t>
            </a:r>
            <a:r>
              <a:rPr lang="hu-HU" dirty="0" err="1" smtClean="0"/>
              <a:t>language-specific</a:t>
            </a:r>
            <a:r>
              <a:rPr lang="hu-HU" dirty="0" smtClean="0"/>
              <a:t> corpus</a:t>
            </a:r>
          </a:p>
          <a:p>
            <a:pPr lvl="2"/>
            <a:r>
              <a:rPr lang="hu-HU" dirty="0" err="1" smtClean="0"/>
              <a:t>CamemBERT</a:t>
            </a:r>
            <a:r>
              <a:rPr lang="hu-HU" dirty="0" smtClean="0"/>
              <a:t>, </a:t>
            </a:r>
            <a:r>
              <a:rPr lang="hu-HU" dirty="0" err="1" smtClean="0"/>
              <a:t>FlauBERT</a:t>
            </a:r>
            <a:r>
              <a:rPr lang="hu-HU" dirty="0" smtClean="0"/>
              <a:t> (</a:t>
            </a:r>
            <a:r>
              <a:rPr lang="hu-HU" dirty="0" err="1" smtClean="0"/>
              <a:t>French</a:t>
            </a:r>
            <a:r>
              <a:rPr lang="hu-HU" dirty="0" smtClean="0"/>
              <a:t>), </a:t>
            </a:r>
            <a:r>
              <a:rPr lang="hu-HU" dirty="0" err="1" smtClean="0"/>
              <a:t>HerBERT</a:t>
            </a:r>
            <a:r>
              <a:rPr lang="hu-HU" dirty="0" smtClean="0"/>
              <a:t> (</a:t>
            </a:r>
            <a:r>
              <a:rPr lang="hu-HU" dirty="0" err="1" smtClean="0"/>
              <a:t>Polish</a:t>
            </a:r>
            <a:r>
              <a:rPr lang="hu-HU" dirty="0" smtClean="0"/>
              <a:t>), </a:t>
            </a:r>
            <a:r>
              <a:rPr lang="hu-HU" dirty="0" err="1" smtClean="0"/>
              <a:t>HuBERT</a:t>
            </a:r>
            <a:r>
              <a:rPr lang="hu-HU" dirty="0" smtClean="0"/>
              <a:t> (</a:t>
            </a:r>
            <a:r>
              <a:rPr lang="hu-HU" dirty="0" err="1" smtClean="0"/>
              <a:t>Hungarian</a:t>
            </a:r>
            <a:r>
              <a:rPr lang="hu-HU" dirty="0" smtClean="0"/>
              <a:t>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5843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ease</a:t>
            </a:r>
            <a:r>
              <a:rPr lang="hu-HU" dirty="0" smtClean="0"/>
              <a:t> of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 is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large</a:t>
            </a:r>
            <a:r>
              <a:rPr lang="hu-HU" dirty="0" smtClean="0"/>
              <a:t> part </a:t>
            </a:r>
            <a:r>
              <a:rPr lang="hu-HU" dirty="0" err="1" smtClean="0"/>
              <a:t>due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>
                <a:hlinkClick r:id="rId2"/>
              </a:rPr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library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Python</a:t>
            </a:r>
          </a:p>
          <a:p>
            <a:pPr lvl="1"/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2018, </a:t>
            </a:r>
            <a:r>
              <a:rPr lang="hu-HU" dirty="0" err="1" smtClean="0"/>
              <a:t>currently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version 5,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active</a:t>
            </a:r>
            <a:r>
              <a:rPr lang="hu-HU" dirty="0" smtClean="0"/>
              <a:t> </a:t>
            </a:r>
            <a:r>
              <a:rPr lang="hu-HU" dirty="0" err="1" smtClean="0"/>
              <a:t>development</a:t>
            </a:r>
            <a:endParaRPr lang="hu-HU" dirty="0" smtClean="0"/>
          </a:p>
          <a:p>
            <a:pPr lvl="1"/>
            <a:r>
              <a:rPr lang="hu-HU" dirty="0" err="1" smtClean="0"/>
              <a:t>provides</a:t>
            </a:r>
            <a:r>
              <a:rPr lang="hu-HU" dirty="0" smtClean="0"/>
              <a:t> an </a:t>
            </a:r>
            <a:r>
              <a:rPr lang="hu-HU" dirty="0" err="1" smtClean="0"/>
              <a:t>extensive</a:t>
            </a:r>
            <a:r>
              <a:rPr lang="hu-HU" dirty="0" smtClean="0"/>
              <a:t> </a:t>
            </a:r>
            <a:r>
              <a:rPr lang="hu-HU" dirty="0" err="1" smtClean="0"/>
              <a:t>object-oriented</a:t>
            </a:r>
            <a:r>
              <a:rPr lang="hu-HU" dirty="0" smtClean="0"/>
              <a:t> </a:t>
            </a:r>
            <a:r>
              <a:rPr lang="hu-HU" dirty="0" err="1" smtClean="0"/>
              <a:t>interface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kinds</a:t>
            </a:r>
            <a:r>
              <a:rPr lang="hu-HU" dirty="0" smtClean="0"/>
              <a:t> of </a:t>
            </a:r>
            <a:r>
              <a:rPr lang="hu-HU" dirty="0" err="1" smtClean="0"/>
              <a:t>transformers</a:t>
            </a:r>
            <a:r>
              <a:rPr lang="hu-HU" dirty="0" smtClean="0"/>
              <a:t>,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encoders</a:t>
            </a:r>
            <a:r>
              <a:rPr lang="hu-HU" dirty="0" smtClean="0"/>
              <a:t> and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hu-HU" dirty="0" smtClean="0"/>
          </a:p>
          <a:p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is a </a:t>
            </a:r>
            <a:r>
              <a:rPr lang="hu-HU" dirty="0" err="1" smtClean="0"/>
              <a:t>company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focuses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providing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platform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endParaRPr lang="hu-HU" dirty="0" smtClean="0"/>
          </a:p>
          <a:p>
            <a:pPr lvl="1"/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website</a:t>
            </a:r>
            <a:r>
              <a:rPr lang="hu-HU" dirty="0" smtClean="0"/>
              <a:t>, </a:t>
            </a:r>
            <a:r>
              <a:rPr lang="hu-HU" dirty="0" err="1" smtClean="0"/>
              <a:t>huggingface.co</a:t>
            </a:r>
            <a:r>
              <a:rPr lang="hu-HU" dirty="0" smtClean="0"/>
              <a:t>, </a:t>
            </a:r>
            <a:r>
              <a:rPr lang="hu-HU" dirty="0" err="1" smtClean="0"/>
              <a:t>provides</a:t>
            </a:r>
            <a:r>
              <a:rPr lang="hu-HU" dirty="0" smtClean="0"/>
              <a:t> </a:t>
            </a:r>
            <a:r>
              <a:rPr lang="hu-HU" dirty="0" err="1" smtClean="0"/>
              <a:t>access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millions</a:t>
            </a:r>
            <a:r>
              <a:rPr lang="hu-HU" dirty="0" smtClean="0"/>
              <a:t> of </a:t>
            </a:r>
            <a:r>
              <a:rPr lang="hu-HU" dirty="0" err="1" smtClean="0"/>
              <a:t>open-source</a:t>
            </a:r>
            <a:r>
              <a:rPr lang="hu-HU" dirty="0" smtClean="0"/>
              <a:t>, free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download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b="1" dirty="0" err="1" smtClean="0"/>
              <a:t>models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hundreds</a:t>
            </a:r>
            <a:r>
              <a:rPr lang="hu-HU" dirty="0" smtClean="0"/>
              <a:t> of </a:t>
            </a:r>
            <a:r>
              <a:rPr lang="hu-HU" dirty="0" err="1" smtClean="0"/>
              <a:t>thousands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b="1" dirty="0" err="1" smtClean="0"/>
              <a:t>datasets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r>
              <a:rPr lang="hu-HU" dirty="0" smtClean="0"/>
              <a:t> ML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endParaRPr lang="hu-HU" dirty="0" smtClean="0"/>
          </a:p>
          <a:p>
            <a:pPr lvl="1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resources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stored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repository</a:t>
            </a:r>
            <a:r>
              <a:rPr lang="hu-HU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/>
              <a:t>Hub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be </a:t>
            </a:r>
            <a:r>
              <a:rPr lang="hu-HU" dirty="0" err="1" smtClean="0"/>
              <a:t>accessed</a:t>
            </a:r>
            <a:r>
              <a:rPr lang="hu-HU" dirty="0" smtClean="0"/>
              <a:t> </a:t>
            </a:r>
            <a:r>
              <a:rPr lang="hu-HU" dirty="0" err="1" smtClean="0"/>
              <a:t>via</a:t>
            </a:r>
            <a:r>
              <a:rPr lang="hu-HU" dirty="0" smtClean="0"/>
              <a:t> an </a:t>
            </a:r>
            <a:r>
              <a:rPr lang="hu-HU" dirty="0" err="1" smtClean="0"/>
              <a:t>API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Python </a:t>
            </a:r>
            <a:r>
              <a:rPr lang="hu-HU" dirty="0" err="1" smtClean="0"/>
              <a:t>code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9140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HF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5194920" cy="4637112"/>
          </a:xfrm>
        </p:spPr>
        <p:txBody>
          <a:bodyPr>
            <a:normAutofit fontScale="85000" lnSpcReduction="20000"/>
          </a:bodyPr>
          <a:lstStyle/>
          <a:p>
            <a:r>
              <a:rPr lang="hu-HU" dirty="0" err="1" smtClean="0"/>
              <a:t>Textbook</a:t>
            </a:r>
            <a:r>
              <a:rPr lang="hu-HU" dirty="0" smtClean="0"/>
              <a:t> </a:t>
            </a:r>
            <a:r>
              <a:rPr lang="hu-HU" dirty="0" err="1" smtClean="0"/>
              <a:t>published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O’</a:t>
            </a:r>
            <a:r>
              <a:rPr lang="hu-HU" dirty="0" err="1" smtClean="0"/>
              <a:t>Reilly</a:t>
            </a:r>
            <a:r>
              <a:rPr lang="hu-HU" dirty="0" smtClean="0"/>
              <a:t>, 2022</a:t>
            </a:r>
          </a:p>
          <a:p>
            <a:pPr lvl="1"/>
            <a:r>
              <a:rPr lang="hu-HU" dirty="0" err="1" smtClean="0"/>
              <a:t>Tunstall</a:t>
            </a:r>
            <a:r>
              <a:rPr lang="hu-HU" dirty="0" smtClean="0"/>
              <a:t>, von </a:t>
            </a:r>
            <a:r>
              <a:rPr lang="hu-HU" dirty="0" err="1" smtClean="0"/>
              <a:t>Werra</a:t>
            </a:r>
            <a:r>
              <a:rPr lang="hu-HU" dirty="0" smtClean="0"/>
              <a:t>, Wolf: </a:t>
            </a:r>
            <a:r>
              <a:rPr lang="en-GB" i="1" dirty="0" smtClean="0"/>
              <a:t>Natural Language Processing with Transformers, Revised Edition</a:t>
            </a:r>
            <a:endParaRPr lang="hu-HU" i="1" dirty="0" smtClean="0"/>
          </a:p>
          <a:p>
            <a:r>
              <a:rPr lang="hu-HU" dirty="0" err="1" smtClean="0">
                <a:hlinkClick r:id="rId2"/>
              </a:rPr>
              <a:t>LLM</a:t>
            </a:r>
            <a:r>
              <a:rPr lang="hu-HU" dirty="0" smtClean="0">
                <a:hlinkClick r:id="rId2"/>
              </a:rPr>
              <a:t> </a:t>
            </a:r>
            <a:r>
              <a:rPr lang="hu-HU" dirty="0" err="1" smtClean="0">
                <a:hlinkClick r:id="rId2"/>
              </a:rPr>
              <a:t>Course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site</a:t>
            </a:r>
          </a:p>
          <a:p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>
                <a:hlinkClick r:id="rId3"/>
              </a:rPr>
              <a:t>library</a:t>
            </a:r>
            <a:r>
              <a:rPr lang="hu-HU" dirty="0" smtClean="0">
                <a:hlinkClick r:id="rId3"/>
              </a:rPr>
              <a:t> </a:t>
            </a:r>
            <a:r>
              <a:rPr lang="hu-HU" dirty="0" err="1" smtClean="0">
                <a:hlinkClick r:id="rId3"/>
              </a:rPr>
              <a:t>documentation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HF</a:t>
            </a:r>
            <a:endParaRPr lang="hu-HU" dirty="0" smtClean="0"/>
          </a:p>
          <a:p>
            <a:r>
              <a:rPr lang="hu-HU" dirty="0" err="1" smtClean="0"/>
              <a:t>Difficulty</a:t>
            </a:r>
            <a:r>
              <a:rPr lang="hu-HU" dirty="0" smtClean="0"/>
              <a:t>: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library</a:t>
            </a:r>
            <a:r>
              <a:rPr lang="hu-HU" dirty="0" smtClean="0"/>
              <a:t> </a:t>
            </a:r>
            <a:r>
              <a:rPr lang="hu-HU" dirty="0" err="1" smtClean="0"/>
              <a:t>changes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dynamically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materials</a:t>
            </a:r>
            <a:r>
              <a:rPr lang="hu-HU" dirty="0" smtClean="0"/>
              <a:t> </a:t>
            </a:r>
            <a:r>
              <a:rPr lang="hu-HU" dirty="0" err="1" smtClean="0"/>
              <a:t>get</a:t>
            </a:r>
            <a:r>
              <a:rPr lang="hu-HU" dirty="0" smtClean="0"/>
              <a:t> </a:t>
            </a:r>
            <a:r>
              <a:rPr lang="hu-HU" dirty="0" err="1" smtClean="0"/>
              <a:t>obsolete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quickly</a:t>
            </a:r>
            <a:endParaRPr lang="en-GB" dirty="0" smtClean="0"/>
          </a:p>
        </p:txBody>
      </p:sp>
      <p:pic>
        <p:nvPicPr>
          <p:cNvPr id="1026" name="Picture 2" descr="https://m.media-amazon.com/images/I/81mU+Sr5acL._SL1500_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1484784"/>
            <a:ext cx="2088232" cy="2740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7218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475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reason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a </a:t>
            </a:r>
            <a:r>
              <a:rPr lang="hu-HU" b="1" dirty="0" err="1" smtClean="0"/>
              <a:t>bidirectional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is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taking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and right </a:t>
            </a:r>
            <a:r>
              <a:rPr lang="hu-HU" dirty="0" err="1" smtClean="0"/>
              <a:t>context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consideration</a:t>
            </a:r>
            <a:r>
              <a:rPr lang="hu-HU" dirty="0" smtClean="0"/>
              <a:t>,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word</a:t>
            </a:r>
            <a:r>
              <a:rPr lang="hu-HU" b="1" dirty="0" smtClean="0"/>
              <a:t> </a:t>
            </a:r>
            <a:r>
              <a:rPr lang="hu-HU" b="1" dirty="0" err="1" smtClean="0"/>
              <a:t>in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middle</a:t>
            </a:r>
            <a:r>
              <a:rPr lang="hu-HU" b="1" dirty="0" smtClean="0"/>
              <a:t> </a:t>
            </a:r>
            <a:r>
              <a:rPr lang="hu-HU" b="1" dirty="0" err="1" smtClean="0"/>
              <a:t>can</a:t>
            </a:r>
            <a:r>
              <a:rPr lang="hu-HU" b="1" dirty="0" smtClean="0"/>
              <a:t> be </a:t>
            </a:r>
            <a:r>
              <a:rPr lang="hu-HU" b="1" dirty="0" err="1" smtClean="0"/>
              <a:t>predicted</a:t>
            </a:r>
            <a:r>
              <a:rPr lang="hu-HU" b="1" dirty="0" smtClean="0"/>
              <a:t> </a:t>
            </a:r>
            <a:r>
              <a:rPr lang="hu-HU" b="1" dirty="0" err="1" smtClean="0"/>
              <a:t>much</a:t>
            </a:r>
            <a:r>
              <a:rPr lang="hu-HU" b="1" dirty="0" smtClean="0"/>
              <a:t> more </a:t>
            </a:r>
            <a:r>
              <a:rPr lang="hu-HU" b="1" dirty="0" err="1" smtClean="0"/>
              <a:t>reliably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we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make</a:t>
            </a:r>
            <a:r>
              <a:rPr lang="hu-HU" dirty="0" smtClean="0"/>
              <a:t> </a:t>
            </a:r>
            <a:r>
              <a:rPr lang="hu-HU" dirty="0" err="1" smtClean="0"/>
              <a:t>sure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see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predicted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input,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</a:t>
            </a:r>
            <a:r>
              <a:rPr lang="hu-HU" dirty="0" err="1" smtClean="0"/>
              <a:t>would</a:t>
            </a:r>
            <a:r>
              <a:rPr lang="hu-HU" dirty="0" smtClean="0"/>
              <a:t> be almost </a:t>
            </a:r>
            <a:r>
              <a:rPr lang="hu-HU" dirty="0" err="1" smtClean="0"/>
              <a:t>trivial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Although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entirely</a:t>
            </a:r>
            <a:r>
              <a:rPr lang="hu-HU" dirty="0" smtClean="0"/>
              <a:t>,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is an </a:t>
            </a:r>
            <a:r>
              <a:rPr lang="hu-HU" dirty="0" err="1" smtClean="0"/>
              <a:t>embedding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the</a:t>
            </a:r>
            <a:r>
              <a:rPr lang="hu-HU" dirty="0" smtClean="0"/>
              <a:t> output is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;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would</a:t>
            </a:r>
            <a:r>
              <a:rPr lang="hu-HU" dirty="0" smtClean="0"/>
              <a:t> </a:t>
            </a:r>
            <a:r>
              <a:rPr lang="hu-HU" dirty="0" err="1" smtClean="0"/>
              <a:t>still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mapped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output.</a:t>
            </a:r>
          </a:p>
          <a:p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 </a:t>
            </a:r>
            <a:r>
              <a:rPr lang="hu-HU" dirty="0" err="1" smtClean="0"/>
              <a:t>solves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hiding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predicted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input.</a:t>
            </a:r>
          </a:p>
          <a:p>
            <a:pPr lvl="1"/>
            <a:r>
              <a:rPr lang="hu-HU" dirty="0" err="1" smtClean="0"/>
              <a:t>Exactly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a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dirty="0" err="1" smtClean="0"/>
              <a:t>cloze</a:t>
            </a:r>
            <a:r>
              <a:rPr lang="hu-HU" dirty="0" smtClean="0"/>
              <a:t> test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testing of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learners</a:t>
            </a:r>
            <a:r>
              <a:rPr lang="hu-HU" dirty="0" smtClean="0"/>
              <a:t>.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text </a:t>
            </a:r>
            <a:r>
              <a:rPr lang="en-GB" dirty="0" smtClean="0"/>
              <a:t>are removed at regular intervals, for example every five words</a:t>
            </a:r>
            <a:r>
              <a:rPr lang="hu-HU" dirty="0" smtClean="0"/>
              <a:t>.</a:t>
            </a:r>
          </a:p>
          <a:p>
            <a:pPr lvl="1"/>
            <a:r>
              <a:rPr lang="en-GB" i="1" dirty="0" smtClean="0"/>
              <a:t>This contrasts with a gap-fill exercise, where words are chosen and removed in order to practise a specific language point</a:t>
            </a:r>
            <a:r>
              <a:rPr lang="hu-HU" i="1" dirty="0" smtClean="0"/>
              <a:t>.</a:t>
            </a:r>
          </a:p>
          <a:p>
            <a:pPr lvl="1"/>
            <a:r>
              <a:rPr lang="en-GB" i="1" dirty="0" smtClean="0"/>
              <a:t>This contrasts with a ___</a:t>
            </a:r>
            <a:r>
              <a:rPr lang="hu-HU" i="1" dirty="0" err="1" smtClean="0"/>
              <a:t>-fill</a:t>
            </a:r>
            <a:r>
              <a:rPr lang="en-GB" i="1" dirty="0" smtClean="0"/>
              <a:t> exercise, where words are ______ and removed in order ______ practise a specific language ______</a:t>
            </a:r>
            <a:r>
              <a:rPr lang="hu-HU" i="1" dirty="0" smtClean="0"/>
              <a:t>.</a:t>
            </a:r>
          </a:p>
          <a:p>
            <a:r>
              <a:rPr lang="hu-HU" dirty="0" err="1" smtClean="0"/>
              <a:t>While</a:t>
            </a:r>
            <a:r>
              <a:rPr lang="hu-HU" dirty="0" smtClean="0"/>
              <a:t>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, 15 % of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randomly</a:t>
            </a:r>
            <a:r>
              <a:rPr lang="hu-HU" dirty="0" smtClean="0"/>
              <a:t> (</a:t>
            </a:r>
            <a:r>
              <a:rPr lang="hu-HU" dirty="0" err="1" smtClean="0"/>
              <a:t>uniformly</a:t>
            </a:r>
            <a:r>
              <a:rPr lang="hu-HU" dirty="0" smtClean="0"/>
              <a:t>) </a:t>
            </a:r>
            <a:r>
              <a:rPr lang="hu-HU" dirty="0" err="1" smtClean="0"/>
              <a:t>selected</a:t>
            </a:r>
            <a:r>
              <a:rPr lang="hu-HU" dirty="0" smtClean="0"/>
              <a:t>:</a:t>
            </a:r>
          </a:p>
          <a:p>
            <a:pPr lvl="1"/>
            <a:r>
              <a:rPr lang="hu-HU" dirty="0" smtClean="0"/>
              <a:t>80 % of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replaced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a </a:t>
            </a:r>
            <a:r>
              <a:rPr lang="hu-HU" b="1" dirty="0" err="1" smtClean="0"/>
              <a:t>special</a:t>
            </a:r>
            <a:r>
              <a:rPr lang="hu-HU" b="1" dirty="0" smtClean="0"/>
              <a:t> [</a:t>
            </a:r>
            <a:r>
              <a:rPr lang="hu-HU" b="1" dirty="0" err="1" smtClean="0"/>
              <a:t>MASK</a:t>
            </a:r>
            <a:r>
              <a:rPr lang="hu-HU" b="1" dirty="0" smtClean="0"/>
              <a:t>]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smtClean="0"/>
              <a:t>(= </a:t>
            </a:r>
            <a:r>
              <a:rPr lang="hu-HU" dirty="0" err="1" smtClean="0"/>
              <a:t>masked</a:t>
            </a:r>
            <a:r>
              <a:rPr lang="hu-HU" dirty="0" smtClean="0"/>
              <a:t>)</a:t>
            </a:r>
          </a:p>
          <a:p>
            <a:pPr lvl="1"/>
            <a:r>
              <a:rPr lang="hu-HU" dirty="0" smtClean="0"/>
              <a:t>10 %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replaced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a </a:t>
            </a:r>
            <a:r>
              <a:rPr lang="hu-HU" b="1" dirty="0" err="1" smtClean="0"/>
              <a:t>different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err="1" smtClean="0"/>
              <a:t>randomly</a:t>
            </a:r>
            <a:r>
              <a:rPr lang="hu-HU" dirty="0" smtClean="0"/>
              <a:t> </a:t>
            </a:r>
            <a:r>
              <a:rPr lang="hu-HU" dirty="0" err="1" smtClean="0"/>
              <a:t>selected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(</a:t>
            </a:r>
            <a:r>
              <a:rPr lang="hu-HU" dirty="0" err="1" smtClean="0"/>
              <a:t>trains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correct</a:t>
            </a:r>
            <a:r>
              <a:rPr lang="hu-HU" dirty="0" smtClean="0"/>
              <a:t> </a:t>
            </a:r>
            <a:r>
              <a:rPr lang="hu-HU" dirty="0" err="1" smtClean="0"/>
              <a:t>noise</a:t>
            </a:r>
            <a:r>
              <a:rPr lang="hu-HU" dirty="0" smtClean="0"/>
              <a:t>)</a:t>
            </a:r>
          </a:p>
          <a:p>
            <a:pPr lvl="1"/>
            <a:r>
              <a:rPr lang="hu-HU" dirty="0" smtClean="0"/>
              <a:t>10 %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left</a:t>
            </a:r>
            <a:r>
              <a:rPr lang="hu-HU" b="1" dirty="0" smtClean="0"/>
              <a:t> </a:t>
            </a:r>
            <a:r>
              <a:rPr lang="hu-HU" b="1" dirty="0" err="1" smtClean="0"/>
              <a:t>unchanged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trains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plain</a:t>
            </a:r>
            <a:r>
              <a:rPr lang="hu-HU" dirty="0" smtClean="0"/>
              <a:t> </a:t>
            </a:r>
            <a:r>
              <a:rPr lang="hu-HU" dirty="0" err="1" smtClean="0"/>
              <a:t>autoencoder</a:t>
            </a:r>
            <a:r>
              <a:rPr lang="hu-HU" dirty="0" smtClean="0"/>
              <a:t>)</a:t>
            </a:r>
          </a:p>
          <a:p>
            <a:r>
              <a:rPr lang="hu-HU" dirty="0" smtClean="0"/>
              <a:t>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is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calculated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15 % of </a:t>
            </a:r>
            <a:r>
              <a:rPr lang="hu-HU" dirty="0" err="1" smtClean="0"/>
              <a:t>randomly</a:t>
            </a:r>
            <a:r>
              <a:rPr lang="hu-HU" dirty="0" smtClean="0"/>
              <a:t> </a:t>
            </a:r>
            <a:r>
              <a:rPr lang="hu-HU" dirty="0" err="1" smtClean="0"/>
              <a:t>selected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, </a:t>
            </a:r>
            <a:r>
              <a:rPr lang="hu-HU" dirty="0" err="1" smtClean="0"/>
              <a:t>thus</a:t>
            </a:r>
            <a:r>
              <a:rPr lang="hu-HU" dirty="0" smtClean="0"/>
              <a:t> 85 %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corpus is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b="1" dirty="0" err="1" smtClean="0"/>
              <a:t>each</a:t>
            </a:r>
            <a:r>
              <a:rPr lang="hu-HU" b="1" dirty="0" smtClean="0"/>
              <a:t> </a:t>
            </a:r>
            <a:r>
              <a:rPr lang="hu-HU" b="1" dirty="0" err="1" smtClean="0"/>
              <a:t>such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predicts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</a:t>
            </a:r>
            <a:r>
              <a:rPr lang="hu-HU" dirty="0" err="1" smtClean="0"/>
              <a:t>assigns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, </a:t>
            </a:r>
            <a:r>
              <a:rPr lang="hu-HU" dirty="0" err="1" smtClean="0"/>
              <a:t>summing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1</a:t>
            </a:r>
          </a:p>
          <a:p>
            <a:pPr lvl="1"/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i="1" dirty="0" err="1" smtClean="0"/>
              <a:t>gap</a:t>
            </a:r>
            <a:r>
              <a:rPr lang="hu-HU" i="1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be </a:t>
            </a:r>
            <a:r>
              <a:rPr lang="hu-HU" dirty="0" err="1" smtClean="0"/>
              <a:t>predicted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of 0.14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 </a:t>
            </a:r>
            <a:r>
              <a:rPr lang="hu-HU" dirty="0" err="1" smtClean="0"/>
              <a:t>above</a:t>
            </a:r>
            <a:r>
              <a:rPr lang="hu-HU" dirty="0" smtClean="0"/>
              <a:t>.</a:t>
            </a:r>
          </a:p>
          <a:p>
            <a:pPr lvl="1"/>
            <a:r>
              <a:rPr lang="hu-HU" dirty="0" smtClean="0"/>
              <a:t>The </a:t>
            </a:r>
            <a:r>
              <a:rPr lang="hu-HU" b="1" dirty="0" err="1" smtClean="0"/>
              <a:t>difference</a:t>
            </a:r>
            <a:r>
              <a:rPr lang="hu-HU" b="1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b="1" dirty="0" err="1" smtClean="0"/>
              <a:t>predicted</a:t>
            </a:r>
            <a:r>
              <a:rPr lang="hu-HU" b="1" dirty="0" smtClean="0"/>
              <a:t> </a:t>
            </a:r>
            <a:r>
              <a:rPr lang="hu-HU" b="1" dirty="0" err="1" smtClean="0"/>
              <a:t>probability</a:t>
            </a:r>
            <a:r>
              <a:rPr lang="hu-HU" b="1" dirty="0" smtClean="0"/>
              <a:t> and 1 </a:t>
            </a:r>
            <a:r>
              <a:rPr lang="hu-HU" dirty="0" smtClean="0"/>
              <a:t>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error</a:t>
            </a:r>
            <a:r>
              <a:rPr lang="hu-HU" b="1" dirty="0" smtClean="0"/>
              <a:t> (</a:t>
            </a:r>
            <a:r>
              <a:rPr lang="hu-HU" b="1" dirty="0" err="1" smtClean="0"/>
              <a:t>loss</a:t>
            </a:r>
            <a:r>
              <a:rPr lang="hu-HU" b="1" dirty="0" smtClean="0"/>
              <a:t>) </a:t>
            </a:r>
            <a:r>
              <a:rPr lang="hu-HU" dirty="0" smtClean="0"/>
              <a:t>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0566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Tokeniser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err="1" smtClean="0"/>
              <a:t>BERT</a:t>
            </a:r>
            <a:r>
              <a:rPr lang="hu-HU" dirty="0" smtClean="0"/>
              <a:t> and </a:t>
            </a:r>
            <a:r>
              <a:rPr lang="hu-HU" dirty="0" err="1" smtClean="0"/>
              <a:t>other</a:t>
            </a:r>
            <a:r>
              <a:rPr lang="hu-HU" dirty="0" smtClean="0"/>
              <a:t> modern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a </a:t>
            </a:r>
            <a:r>
              <a:rPr lang="hu-HU" b="1" dirty="0" err="1" smtClean="0"/>
              <a:t>trained</a:t>
            </a:r>
            <a:r>
              <a:rPr lang="hu-HU" b="1" dirty="0" smtClean="0"/>
              <a:t> </a:t>
            </a:r>
            <a:r>
              <a:rPr lang="hu-HU" b="1" dirty="0" err="1" smtClean="0"/>
              <a:t>tokeniser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variant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byte-pair</a:t>
            </a:r>
            <a:r>
              <a:rPr lang="hu-HU" b="1" dirty="0" smtClean="0"/>
              <a:t> </a:t>
            </a:r>
            <a:r>
              <a:rPr lang="hu-HU" b="1" dirty="0" err="1" smtClean="0"/>
              <a:t>encoding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BPE</a:t>
            </a:r>
            <a:r>
              <a:rPr lang="hu-HU" dirty="0" smtClean="0"/>
              <a:t>) </a:t>
            </a:r>
            <a:r>
              <a:rPr lang="hu-HU" dirty="0" err="1" smtClean="0"/>
              <a:t>algorithm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Training</a:t>
            </a:r>
            <a:r>
              <a:rPr lang="hu-HU" dirty="0" smtClean="0"/>
              <a:t> a </a:t>
            </a:r>
            <a:r>
              <a:rPr lang="hu-HU" dirty="0" err="1" smtClean="0"/>
              <a:t>BPE</a:t>
            </a:r>
            <a:r>
              <a:rPr lang="hu-HU" dirty="0" smtClean="0"/>
              <a:t> </a:t>
            </a:r>
            <a:r>
              <a:rPr lang="hu-HU" dirty="0" err="1" smtClean="0"/>
              <a:t>tokeniser</a:t>
            </a:r>
            <a:r>
              <a:rPr lang="hu-HU" dirty="0" smtClean="0"/>
              <a:t> </a:t>
            </a:r>
            <a:r>
              <a:rPr lang="hu-HU" dirty="0" err="1" smtClean="0"/>
              <a:t>starts</a:t>
            </a:r>
            <a:r>
              <a:rPr lang="hu-HU" dirty="0" smtClean="0"/>
              <a:t> out </a:t>
            </a:r>
            <a:r>
              <a:rPr lang="hu-HU" dirty="0" err="1" smtClean="0"/>
              <a:t>with</a:t>
            </a:r>
            <a:r>
              <a:rPr lang="hu-HU" dirty="0" smtClean="0"/>
              <a:t> a </a:t>
            </a:r>
            <a:r>
              <a:rPr lang="hu-HU" dirty="0" err="1" smtClean="0"/>
              <a:t>training</a:t>
            </a:r>
            <a:r>
              <a:rPr lang="hu-HU" dirty="0" smtClean="0"/>
              <a:t> corpus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of a </a:t>
            </a:r>
            <a:r>
              <a:rPr lang="hu-HU" dirty="0" err="1" smtClean="0"/>
              <a:t>sequence</a:t>
            </a:r>
            <a:r>
              <a:rPr lang="hu-HU" dirty="0" smtClean="0"/>
              <a:t> of </a:t>
            </a:r>
            <a:r>
              <a:rPr lang="hu-HU" dirty="0" err="1" smtClean="0"/>
              <a:t>atomic</a:t>
            </a:r>
            <a:r>
              <a:rPr lang="hu-HU" dirty="0" smtClean="0"/>
              <a:t> </a:t>
            </a:r>
            <a:r>
              <a:rPr lang="hu-HU" dirty="0" err="1" smtClean="0"/>
              <a:t>units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bytes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characters</a:t>
            </a:r>
            <a:r>
              <a:rPr lang="hu-HU" dirty="0" smtClean="0"/>
              <a:t> (</a:t>
            </a:r>
            <a:r>
              <a:rPr lang="hu-HU" dirty="0" err="1" smtClean="0"/>
              <a:t>can</a:t>
            </a:r>
            <a:r>
              <a:rPr lang="hu-HU" dirty="0" smtClean="0"/>
              <a:t> be text </a:t>
            </a:r>
            <a:r>
              <a:rPr lang="hu-HU" dirty="0" err="1" smtClean="0"/>
              <a:t>encoded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ASCII, Unicode, etc.)</a:t>
            </a:r>
          </a:p>
          <a:p>
            <a:r>
              <a:rPr lang="hu-HU" b="1" dirty="0" err="1" smtClean="0"/>
              <a:t>Every</a:t>
            </a:r>
            <a:r>
              <a:rPr lang="hu-HU" b="1" dirty="0" smtClean="0"/>
              <a:t> </a:t>
            </a:r>
            <a:r>
              <a:rPr lang="hu-HU" b="1" dirty="0" err="1" smtClean="0"/>
              <a:t>such</a:t>
            </a:r>
            <a:r>
              <a:rPr lang="hu-HU" b="1" dirty="0" smtClean="0"/>
              <a:t> </a:t>
            </a:r>
            <a:r>
              <a:rPr lang="hu-HU" b="1" dirty="0" err="1" smtClean="0"/>
              <a:t>atomic</a:t>
            </a:r>
            <a:r>
              <a:rPr lang="hu-HU" b="1" dirty="0" smtClean="0"/>
              <a:t> unit is </a:t>
            </a:r>
            <a:r>
              <a:rPr lang="hu-HU" b="1" dirty="0" err="1" smtClean="0"/>
              <a:t>initially</a:t>
            </a:r>
            <a:r>
              <a:rPr lang="hu-HU" b="1" dirty="0" smtClean="0"/>
              <a:t> a </a:t>
            </a:r>
            <a:r>
              <a:rPr lang="hu-HU" b="1" dirty="0" err="1" smtClean="0"/>
              <a:t>member</a:t>
            </a:r>
            <a:r>
              <a:rPr lang="hu-HU" b="1" dirty="0" smtClean="0"/>
              <a:t> of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vocabulary</a:t>
            </a:r>
            <a:r>
              <a:rPr lang="hu-HU" b="1" dirty="0" smtClean="0"/>
              <a:t>.</a:t>
            </a:r>
            <a:endParaRPr lang="hu-HU" b="1" dirty="0"/>
          </a:p>
          <a:p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iteration</a:t>
            </a:r>
            <a:r>
              <a:rPr lang="hu-HU" dirty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algorithm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corpus is </a:t>
            </a:r>
            <a:r>
              <a:rPr lang="hu-HU" dirty="0" err="1" smtClean="0"/>
              <a:t>scanned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find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most </a:t>
            </a:r>
            <a:r>
              <a:rPr lang="hu-HU" b="1" dirty="0" err="1" smtClean="0"/>
              <a:t>frequent</a:t>
            </a:r>
            <a:r>
              <a:rPr lang="hu-HU" b="1" dirty="0" smtClean="0"/>
              <a:t> </a:t>
            </a:r>
            <a:r>
              <a:rPr lang="hu-HU" b="1" dirty="0" err="1" smtClean="0"/>
              <a:t>contiguous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neighboring</a:t>
            </a:r>
            <a:r>
              <a:rPr lang="hu-HU" dirty="0" smtClean="0"/>
              <a:t>) </a:t>
            </a:r>
            <a:r>
              <a:rPr lang="hu-HU" b="1" dirty="0" err="1" smtClean="0"/>
              <a:t>pair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bigram</a:t>
            </a:r>
            <a:r>
              <a:rPr lang="hu-HU" dirty="0" smtClean="0"/>
              <a:t>) of </a:t>
            </a:r>
            <a:r>
              <a:rPr lang="hu-HU" dirty="0" err="1" smtClean="0"/>
              <a:t>tokens</a:t>
            </a:r>
            <a:r>
              <a:rPr lang="hu-HU" dirty="0" smtClean="0"/>
              <a:t>.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bigram</a:t>
            </a:r>
            <a:r>
              <a:rPr lang="hu-HU" dirty="0" smtClean="0"/>
              <a:t> is </a:t>
            </a:r>
            <a:r>
              <a:rPr lang="hu-HU" dirty="0" err="1" smtClean="0"/>
              <a:t>combined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b="1" dirty="0" err="1" smtClean="0"/>
              <a:t>single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added</a:t>
            </a:r>
            <a:r>
              <a:rPr lang="hu-HU" b="1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vocabulary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be </a:t>
            </a:r>
            <a:r>
              <a:rPr lang="hu-HU" dirty="0" err="1" smtClean="0"/>
              <a:t>continued</a:t>
            </a:r>
            <a:r>
              <a:rPr lang="hu-HU" dirty="0" smtClean="0"/>
              <a:t> </a:t>
            </a:r>
            <a:r>
              <a:rPr lang="hu-HU" dirty="0" err="1" smtClean="0"/>
              <a:t>until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no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bigrams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left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occur</a:t>
            </a:r>
            <a:r>
              <a:rPr lang="hu-HU" dirty="0" smtClean="0"/>
              <a:t> more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once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,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go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whitespace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right.</a:t>
            </a:r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practice</a:t>
            </a:r>
            <a:r>
              <a:rPr lang="hu-HU" dirty="0" smtClean="0"/>
              <a:t>, a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 is </a:t>
            </a:r>
            <a:r>
              <a:rPr lang="hu-HU" dirty="0" err="1" smtClean="0"/>
              <a:t>set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beginning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50,000, and </a:t>
            </a:r>
            <a:r>
              <a:rPr lang="hu-HU" dirty="0" err="1" smtClean="0"/>
              <a:t>training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tokenizer</a:t>
            </a:r>
            <a:r>
              <a:rPr lang="hu-HU" dirty="0" smtClean="0"/>
              <a:t> </a:t>
            </a:r>
            <a:r>
              <a:rPr lang="hu-HU" dirty="0" err="1" smtClean="0"/>
              <a:t>stops</a:t>
            </a:r>
            <a:r>
              <a:rPr lang="hu-HU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elements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dictionary</a:t>
            </a:r>
            <a:r>
              <a:rPr lang="hu-HU" dirty="0" smtClean="0"/>
              <a:t> </a:t>
            </a:r>
            <a:r>
              <a:rPr lang="hu-HU" dirty="0" err="1" smtClean="0"/>
              <a:t>created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BPE</a:t>
            </a:r>
            <a:r>
              <a:rPr lang="hu-HU" dirty="0" smtClean="0"/>
              <a:t> is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split</a:t>
            </a:r>
            <a:r>
              <a:rPr lang="hu-HU" b="1" dirty="0" smtClean="0"/>
              <a:t> </a:t>
            </a:r>
            <a:r>
              <a:rPr lang="hu-HU" b="1" dirty="0" err="1" smtClean="0"/>
              <a:t>up</a:t>
            </a:r>
            <a:r>
              <a:rPr lang="hu-HU" b="1" dirty="0" smtClean="0"/>
              <a:t> </a:t>
            </a:r>
            <a:r>
              <a:rPr lang="hu-HU" dirty="0" smtClean="0"/>
              <a:t>input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b="1" dirty="0" err="1" smtClean="0"/>
              <a:t>as</a:t>
            </a:r>
            <a:r>
              <a:rPr lang="hu-HU" b="1" dirty="0" smtClean="0"/>
              <a:t> </a:t>
            </a:r>
            <a:r>
              <a:rPr lang="hu-HU" b="1" dirty="0" err="1" smtClean="0"/>
              <a:t>long</a:t>
            </a:r>
            <a:r>
              <a:rPr lang="hu-HU" b="1" dirty="0" smtClean="0"/>
              <a:t> </a:t>
            </a:r>
            <a:r>
              <a:rPr lang="hu-HU" b="1" dirty="0" err="1" smtClean="0"/>
              <a:t>tokens</a:t>
            </a:r>
            <a:r>
              <a:rPr lang="hu-HU" b="1" dirty="0" smtClean="0"/>
              <a:t> </a:t>
            </a:r>
            <a:r>
              <a:rPr lang="hu-HU" b="1" dirty="0" err="1" smtClean="0"/>
              <a:t>as</a:t>
            </a:r>
            <a:r>
              <a:rPr lang="hu-HU" b="1" dirty="0" smtClean="0"/>
              <a:t> </a:t>
            </a:r>
            <a:r>
              <a:rPr lang="hu-HU" b="1" dirty="0" err="1" smtClean="0"/>
              <a:t>possible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iteratively</a:t>
            </a:r>
            <a:r>
              <a:rPr lang="hu-HU" dirty="0" smtClean="0"/>
              <a:t> </a:t>
            </a:r>
            <a:r>
              <a:rPr lang="hu-HU" dirty="0" err="1" smtClean="0"/>
              <a:t>finding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matches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longest</a:t>
            </a:r>
            <a:r>
              <a:rPr lang="hu-HU" dirty="0" smtClean="0"/>
              <a:t> </a:t>
            </a:r>
            <a:r>
              <a:rPr lang="hu-HU" dirty="0" err="1" smtClean="0"/>
              <a:t>prefix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remaining</a:t>
            </a:r>
            <a:r>
              <a:rPr lang="hu-HU" dirty="0" smtClean="0"/>
              <a:t> text.</a:t>
            </a:r>
          </a:p>
        </p:txBody>
      </p:sp>
    </p:spTree>
    <p:extLst>
      <p:ext uri="{BB962C8B-B14F-4D97-AF65-F5344CB8AC3E}">
        <p14:creationId xmlns:p14="http://schemas.microsoft.com/office/powerpoint/2010/main" val="959741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55000" lnSpcReduction="20000"/>
          </a:bodyPr>
          <a:lstStyle/>
          <a:p>
            <a:r>
              <a:rPr lang="hu-HU" dirty="0" err="1" smtClean="0"/>
              <a:t>When</a:t>
            </a:r>
            <a:r>
              <a:rPr lang="hu-HU" dirty="0" smtClean="0"/>
              <a:t> a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is </a:t>
            </a:r>
            <a:r>
              <a:rPr lang="hu-HU" dirty="0" err="1" smtClean="0"/>
              <a:t>trained</a:t>
            </a:r>
            <a:r>
              <a:rPr lang="hu-HU" dirty="0" smtClean="0"/>
              <a:t>,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final</a:t>
            </a:r>
            <a:r>
              <a:rPr lang="hu-HU" dirty="0" smtClean="0"/>
              <a:t> (output) </a:t>
            </a:r>
            <a:r>
              <a:rPr lang="hu-HU" dirty="0" err="1" smtClean="0"/>
              <a:t>layer</a:t>
            </a:r>
            <a:r>
              <a:rPr lang="hu-HU" dirty="0" smtClean="0"/>
              <a:t> is a </a:t>
            </a:r>
            <a:r>
              <a:rPr lang="hu-HU" i="1" dirty="0" err="1" smtClean="0"/>
              <a:t>V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calculated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applying</a:t>
            </a:r>
            <a:r>
              <a:rPr lang="hu-HU" dirty="0" smtClean="0"/>
              <a:t> a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b="1" dirty="0" err="1" smtClean="0"/>
              <a:t>softmax</a:t>
            </a:r>
            <a:r>
              <a:rPr lang="hu-HU" b="1" dirty="0" smtClean="0"/>
              <a:t> </a:t>
            </a:r>
            <a:r>
              <a:rPr lang="hu-HU" b="1" dirty="0" err="1" smtClean="0"/>
              <a:t>function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i="1" dirty="0" err="1" smtClean="0"/>
              <a:t>V</a:t>
            </a:r>
            <a:r>
              <a:rPr lang="hu-HU" dirty="0" err="1" smtClean="0"/>
              <a:t>-dimensional</a:t>
            </a:r>
            <a:r>
              <a:rPr lang="hu-HU" dirty="0" smtClean="0"/>
              <a:t> output of a </a:t>
            </a:r>
            <a:r>
              <a:rPr lang="hu-HU" b="1" dirty="0" err="1" smtClean="0"/>
              <a:t>dense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</a:t>
            </a:r>
            <a:r>
              <a:rPr lang="hu-HU" b="1" dirty="0" smtClean="0"/>
              <a:t> </a:t>
            </a:r>
            <a:r>
              <a:rPr lang="hu-HU" b="1" dirty="0" err="1" smtClean="0"/>
              <a:t>layer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is a </a:t>
            </a:r>
            <a:r>
              <a:rPr lang="hu-HU" dirty="0" err="1" smtClean="0"/>
              <a:t>learned</a:t>
            </a:r>
            <a:r>
              <a:rPr lang="hu-HU" dirty="0" smtClean="0"/>
              <a:t> </a:t>
            </a:r>
            <a:r>
              <a:rPr lang="hu-HU" i="1" dirty="0" smtClean="0"/>
              <a:t>k </a:t>
            </a:r>
            <a:r>
              <a:rPr lang="hu-HU" dirty="0" smtClean="0"/>
              <a:t>x </a:t>
            </a:r>
            <a:r>
              <a:rPr lang="hu-HU" i="1" dirty="0" err="1" smtClean="0"/>
              <a:t>V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.</a:t>
            </a:r>
          </a:p>
          <a:p>
            <a:pPr lvl="1"/>
            <a:r>
              <a:rPr lang="hu-HU" i="1" dirty="0" smtClean="0"/>
              <a:t>k </a:t>
            </a:r>
            <a:r>
              <a:rPr lang="hu-HU" dirty="0" smtClean="0"/>
              <a:t>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dimension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within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Softmax</a:t>
            </a:r>
            <a:r>
              <a:rPr lang="hu-HU" dirty="0" smtClean="0"/>
              <a:t> </a:t>
            </a:r>
            <a:r>
              <a:rPr lang="hu-HU" dirty="0" err="1" smtClean="0"/>
              <a:t>takes</a:t>
            </a:r>
            <a:r>
              <a:rPr lang="hu-HU" dirty="0" smtClean="0"/>
              <a:t> an </a:t>
            </a:r>
            <a:r>
              <a:rPr lang="hu-HU" dirty="0" err="1" smtClean="0"/>
              <a:t>n-dimensional</a:t>
            </a:r>
            <a:r>
              <a:rPr lang="hu-HU" dirty="0" smtClean="0"/>
              <a:t> </a:t>
            </a:r>
            <a:r>
              <a:rPr lang="hu-HU" dirty="0" err="1" smtClean="0"/>
              <a:t>numeric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input and </a:t>
            </a:r>
            <a:r>
              <a:rPr lang="hu-HU" dirty="0" err="1" smtClean="0"/>
              <a:t>scales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i="1" dirty="0" smtClean="0"/>
              <a:t>n </a:t>
            </a:r>
            <a:r>
              <a:rPr lang="hu-HU" dirty="0" err="1" smtClean="0"/>
              <a:t>elements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constitute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.</a:t>
            </a:r>
          </a:p>
          <a:p>
            <a:pPr lvl="2"/>
            <a:r>
              <a:rPr lang="hu-HU" dirty="0" err="1" smtClean="0"/>
              <a:t>Each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i="1" dirty="0" smtClean="0"/>
              <a:t>n </a:t>
            </a:r>
            <a:r>
              <a:rPr lang="hu-HU" dirty="0" err="1" smtClean="0"/>
              <a:t>elements</a:t>
            </a:r>
            <a:r>
              <a:rPr lang="hu-HU" dirty="0" smtClean="0"/>
              <a:t> is </a:t>
            </a:r>
            <a:r>
              <a:rPr lang="hu-HU" dirty="0" err="1" smtClean="0"/>
              <a:t>between</a:t>
            </a:r>
            <a:r>
              <a:rPr lang="hu-HU" dirty="0" smtClean="0"/>
              <a:t> 0 and 1, and </a:t>
            </a:r>
            <a:r>
              <a:rPr lang="hu-HU" dirty="0" err="1" smtClean="0"/>
              <a:t>their</a:t>
            </a:r>
            <a:r>
              <a:rPr lang="hu-HU" dirty="0" smtClean="0"/>
              <a:t> sum is 1.</a:t>
            </a:r>
          </a:p>
          <a:p>
            <a:pPr lvl="1"/>
            <a:r>
              <a:rPr lang="hu-HU" dirty="0" err="1" smtClean="0"/>
              <a:t>Essentially</a:t>
            </a:r>
            <a:r>
              <a:rPr lang="hu-HU" dirty="0" smtClean="0"/>
              <a:t>, </a:t>
            </a:r>
            <a:r>
              <a:rPr lang="hu-HU" dirty="0" err="1" smtClean="0"/>
              <a:t>softmax</a:t>
            </a:r>
            <a:r>
              <a:rPr lang="hu-HU" dirty="0" smtClean="0"/>
              <a:t> </a:t>
            </a:r>
            <a:r>
              <a:rPr lang="hu-HU" dirty="0" err="1" smtClean="0"/>
              <a:t>applies</a:t>
            </a:r>
            <a:r>
              <a:rPr lang="hu-HU" dirty="0" smtClean="0"/>
              <a:t> a </a:t>
            </a:r>
            <a:r>
              <a:rPr lang="hu-HU" dirty="0" err="1" smtClean="0"/>
              <a:t>sigmoid</a:t>
            </a:r>
            <a:r>
              <a:rPr lang="hu-HU" dirty="0" smtClean="0"/>
              <a:t> (</a:t>
            </a:r>
            <a:r>
              <a:rPr lang="hu-HU" dirty="0" err="1" smtClean="0"/>
              <a:t>logistic</a:t>
            </a:r>
            <a:r>
              <a:rPr lang="hu-HU" dirty="0" smtClean="0"/>
              <a:t>) </a:t>
            </a:r>
            <a:r>
              <a:rPr lang="hu-HU" dirty="0" err="1" smtClean="0"/>
              <a:t>function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</a:t>
            </a:r>
            <a:r>
              <a:rPr lang="hu-HU" dirty="0" err="1" smtClean="0"/>
              <a:t>separately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yields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value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0 and 1 </a:t>
            </a:r>
            <a:r>
              <a:rPr lang="hu-HU" dirty="0" err="1" smtClean="0"/>
              <a:t>each</a:t>
            </a:r>
            <a:r>
              <a:rPr lang="hu-HU" dirty="0" smtClean="0"/>
              <a:t>,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norms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values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sum </a:t>
            </a:r>
            <a:r>
              <a:rPr lang="hu-HU" dirty="0" err="1" smtClean="0"/>
              <a:t>to</a:t>
            </a:r>
            <a:r>
              <a:rPr lang="hu-HU" dirty="0" smtClean="0"/>
              <a:t> 1.</a:t>
            </a:r>
          </a:p>
          <a:p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final</a:t>
            </a:r>
            <a:r>
              <a:rPr lang="hu-HU" dirty="0" smtClean="0"/>
              <a:t> </a:t>
            </a:r>
            <a:r>
              <a:rPr lang="hu-HU" dirty="0" err="1" smtClean="0"/>
              <a:t>dense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 </a:t>
            </a:r>
            <a:r>
              <a:rPr lang="hu-HU" dirty="0" err="1" smtClean="0"/>
              <a:t>combined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softmax</a:t>
            </a:r>
            <a:r>
              <a:rPr lang="hu-HU" dirty="0" smtClean="0"/>
              <a:t> </a:t>
            </a:r>
            <a:r>
              <a:rPr lang="hu-HU" dirty="0" err="1" smtClean="0"/>
              <a:t>function</a:t>
            </a:r>
            <a:r>
              <a:rPr lang="hu-HU" dirty="0" smtClean="0"/>
              <a:t> is </a:t>
            </a:r>
            <a:r>
              <a:rPr lang="hu-HU" dirty="0" err="1" smtClean="0"/>
              <a:t>removed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,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is an </a:t>
            </a:r>
            <a:r>
              <a:rPr lang="hu-HU" i="1" dirty="0" smtClean="0"/>
              <a:t>n </a:t>
            </a:r>
            <a:r>
              <a:rPr lang="hu-HU" dirty="0" smtClean="0"/>
              <a:t>x </a:t>
            </a:r>
            <a:r>
              <a:rPr lang="hu-HU" i="1" dirty="0" err="1" smtClean="0"/>
              <a:t>k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 of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dirty="0" err="1" smtClean="0"/>
              <a:t>logits</a:t>
            </a:r>
            <a:r>
              <a:rPr lang="hu-HU" dirty="0" smtClean="0"/>
              <a:t>, a </a:t>
            </a:r>
            <a:r>
              <a:rPr lang="hu-HU" dirty="0" err="1" smtClean="0"/>
              <a:t>k-dimensional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, a </a:t>
            </a:r>
            <a:r>
              <a:rPr lang="hu-HU" dirty="0" err="1" smtClean="0"/>
              <a:t>special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[</a:t>
            </a:r>
            <a:r>
              <a:rPr lang="hu-HU" dirty="0" err="1" smtClean="0"/>
              <a:t>CLS</a:t>
            </a:r>
            <a:r>
              <a:rPr lang="hu-HU" dirty="0" smtClean="0"/>
              <a:t>] is </a:t>
            </a:r>
            <a:r>
              <a:rPr lang="hu-HU" dirty="0" err="1" smtClean="0"/>
              <a:t>added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.</a:t>
            </a:r>
          </a:p>
          <a:p>
            <a:r>
              <a:rPr lang="hu-HU" dirty="0" smtClean="0"/>
              <a:t>The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treats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a </a:t>
            </a:r>
            <a:r>
              <a:rPr lang="hu-HU" dirty="0" err="1" smtClean="0"/>
              <a:t>normal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and </a:t>
            </a:r>
            <a:r>
              <a:rPr lang="hu-HU" dirty="0" err="1" smtClean="0"/>
              <a:t>calculates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value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weighted</a:t>
            </a:r>
            <a:r>
              <a:rPr lang="hu-HU" dirty="0" smtClean="0"/>
              <a:t> sum of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calculates</a:t>
            </a:r>
            <a:r>
              <a:rPr lang="hu-HU" dirty="0" smtClean="0"/>
              <a:t> a </a:t>
            </a:r>
            <a:r>
              <a:rPr lang="hu-HU" dirty="0" err="1" smtClean="0"/>
              <a:t>k-dimensional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[</a:t>
            </a:r>
            <a:r>
              <a:rPr lang="hu-HU" dirty="0" err="1" smtClean="0"/>
              <a:t>CLS</a:t>
            </a:r>
            <a:r>
              <a:rPr lang="hu-HU" dirty="0" smtClean="0"/>
              <a:t>]</a:t>
            </a:r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is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of a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actual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spam </a:t>
            </a:r>
            <a:r>
              <a:rPr lang="hu-HU" dirty="0" err="1" smtClean="0"/>
              <a:t>filtering</a:t>
            </a:r>
            <a:r>
              <a:rPr lang="hu-HU" dirty="0" smtClean="0"/>
              <a:t>, </a:t>
            </a:r>
            <a:r>
              <a:rPr lang="hu-HU" dirty="0" err="1" smtClean="0"/>
              <a:t>sentiment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, etc.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489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Pipelines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HF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library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tool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sets</a:t>
            </a:r>
            <a:r>
              <a:rPr lang="hu-HU" dirty="0" smtClean="0"/>
              <a:t> </a:t>
            </a:r>
            <a:r>
              <a:rPr lang="hu-HU" dirty="0" err="1" smtClean="0"/>
              <a:t>up</a:t>
            </a:r>
            <a:r>
              <a:rPr lang="hu-HU" dirty="0" smtClean="0"/>
              <a:t> input and output </a:t>
            </a:r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dirty="0" err="1" smtClean="0"/>
              <a:t>according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has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pre-trained</a:t>
            </a:r>
            <a:r>
              <a:rPr lang="hu-HU" dirty="0" smtClean="0"/>
              <a:t> and </a:t>
            </a:r>
            <a:r>
              <a:rPr lang="hu-HU" dirty="0" err="1" smtClean="0"/>
              <a:t>fine-tuned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:</a:t>
            </a:r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base</a:t>
            </a:r>
            <a:r>
              <a:rPr lang="hu-HU" b="1" dirty="0" smtClean="0"/>
              <a:t> </a:t>
            </a:r>
            <a:r>
              <a:rPr lang="hu-HU" b="1" dirty="0" err="1" smtClean="0"/>
              <a:t>class</a:t>
            </a:r>
            <a:r>
              <a:rPr lang="hu-HU" b="1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endParaRPr lang="hu-H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hu-HU" dirty="0" err="1" smtClean="0"/>
              <a:t>numerous</a:t>
            </a:r>
            <a:r>
              <a:rPr lang="hu-HU" dirty="0" smtClean="0"/>
              <a:t> </a:t>
            </a:r>
            <a:r>
              <a:rPr lang="hu-HU" dirty="0" err="1" smtClean="0"/>
              <a:t>subclasses</a:t>
            </a:r>
            <a:r>
              <a:rPr lang="hu-HU" dirty="0" smtClean="0"/>
              <a:t> of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modalities</a:t>
            </a:r>
            <a:r>
              <a:rPr lang="hu-HU" dirty="0" smtClean="0"/>
              <a:t>:</a:t>
            </a:r>
          </a:p>
          <a:p>
            <a:pPr lvl="2"/>
            <a:r>
              <a:rPr lang="hu-HU" dirty="0" err="1" smtClean="0"/>
              <a:t>audio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AutomaticSpeechRecognitionPipeline</a:t>
            </a:r>
            <a:r>
              <a:rPr lang="hu-HU" dirty="0" smtClean="0"/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TextToAudioPipeline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dirty="0" smtClean="0"/>
              <a:t>computer </a:t>
            </a:r>
            <a:r>
              <a:rPr lang="hu-HU" dirty="0" err="1" smtClean="0"/>
              <a:t>vision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ImageClassificationPipeline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ObjectDetectionPipeline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b="1" dirty="0" err="1" smtClean="0"/>
              <a:t>NLP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FillMaskPipeline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QuestionAnsweringPipeline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TextClassificationPipeline</a:t>
            </a:r>
            <a:endParaRPr lang="hu-H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dirty="0" err="1" smtClean="0"/>
              <a:t>multimodal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ImageToTextPipeline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VisualQuestionAnsweringPipeline</a:t>
            </a:r>
            <a:endParaRPr lang="hu-H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factory</a:t>
            </a:r>
            <a:r>
              <a:rPr lang="hu-HU" b="1" dirty="0" smtClean="0"/>
              <a:t> </a:t>
            </a:r>
            <a:r>
              <a:rPr lang="hu-HU" b="1" dirty="0" err="1" smtClean="0"/>
              <a:t>function</a:t>
            </a:r>
            <a:r>
              <a:rPr lang="hu-HU" b="1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instantiates</a:t>
            </a:r>
            <a:r>
              <a:rPr lang="hu-HU" dirty="0" smtClean="0"/>
              <a:t> and </a:t>
            </a:r>
            <a:r>
              <a:rPr lang="hu-HU" dirty="0" err="1" smtClean="0"/>
              <a:t>returns</a:t>
            </a:r>
            <a:r>
              <a:rPr lang="hu-HU" dirty="0" smtClean="0"/>
              <a:t> a </a:t>
            </a:r>
            <a:r>
              <a:rPr lang="hu-HU" dirty="0" err="1" smtClean="0"/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object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correct</a:t>
            </a:r>
            <a:r>
              <a:rPr lang="hu-HU" dirty="0" smtClean="0"/>
              <a:t> </a:t>
            </a:r>
            <a:r>
              <a:rPr lang="hu-HU" dirty="0" err="1" smtClean="0"/>
              <a:t>class</a:t>
            </a:r>
            <a:endParaRPr lang="hu-HU" dirty="0" smtClean="0"/>
          </a:p>
          <a:p>
            <a:pPr lvl="2"/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task</a:t>
            </a:r>
            <a:r>
              <a:rPr lang="hu-HU" dirty="0" smtClean="0"/>
              <a:t> </a:t>
            </a:r>
            <a:r>
              <a:rPr lang="hu-HU" dirty="0" err="1" smtClean="0"/>
              <a:t>argument</a:t>
            </a:r>
            <a:r>
              <a:rPr lang="hu-HU" dirty="0" smtClean="0"/>
              <a:t> </a:t>
            </a:r>
            <a:r>
              <a:rPr lang="hu-HU" dirty="0" err="1" smtClean="0"/>
              <a:t>specified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function</a:t>
            </a:r>
            <a:r>
              <a:rPr lang="hu-HU" dirty="0" smtClean="0"/>
              <a:t>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5041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Transformer</a:t>
            </a:r>
            <a:r>
              <a:rPr lang="hu-HU" dirty="0"/>
              <a:t> </a:t>
            </a:r>
            <a:r>
              <a:rPr lang="hu-HU" dirty="0" err="1"/>
              <a:t>Pipelines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62500" lnSpcReduction="20000"/>
          </a:bodyPr>
          <a:lstStyle/>
          <a:p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pipelines</a:t>
            </a:r>
            <a:r>
              <a:rPr lang="hu-HU" dirty="0" smtClean="0"/>
              <a:t> </a:t>
            </a:r>
            <a:r>
              <a:rPr lang="hu-HU" dirty="0" err="1" smtClean="0"/>
              <a:t>currently</a:t>
            </a:r>
            <a:r>
              <a:rPr lang="hu-HU" dirty="0" smtClean="0"/>
              <a:t> </a:t>
            </a:r>
            <a:r>
              <a:rPr lang="hu-HU" dirty="0" err="1" smtClean="0"/>
              <a:t>supported</a:t>
            </a:r>
            <a:r>
              <a:rPr lang="hu-HU" dirty="0" smtClean="0"/>
              <a:t> (</a:t>
            </a:r>
            <a:r>
              <a:rPr lang="hu-HU" dirty="0" err="1" smtClean="0"/>
              <a:t>subclass</a:t>
            </a:r>
            <a:r>
              <a:rPr lang="hu-HU" dirty="0" smtClean="0"/>
              <a:t> </a:t>
            </a:r>
            <a:r>
              <a:rPr lang="hu-HU" dirty="0" err="1" smtClean="0"/>
              <a:t>name</a:t>
            </a:r>
            <a:r>
              <a:rPr lang="hu-HU" dirty="0" smtClean="0"/>
              <a:t> /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task</a:t>
            </a:r>
            <a:r>
              <a:rPr lang="hu-HU" dirty="0" smtClean="0"/>
              <a:t> </a:t>
            </a:r>
            <a:r>
              <a:rPr lang="hu-HU" dirty="0" err="1" smtClean="0"/>
              <a:t>argument</a:t>
            </a:r>
            <a:r>
              <a:rPr lang="hu-HU" dirty="0" smtClean="0"/>
              <a:t> </a:t>
            </a:r>
            <a:r>
              <a:rPr lang="hu-HU" dirty="0" err="1" smtClean="0"/>
              <a:t>value</a:t>
            </a:r>
            <a:r>
              <a:rPr lang="hu-HU" dirty="0" smtClean="0"/>
              <a:t>):</a:t>
            </a:r>
          </a:p>
          <a:p>
            <a:pPr lvl="1"/>
            <a:r>
              <a:rPr lang="en-GB" b="1" dirty="0" err="1" smtClean="0"/>
              <a:t>FillMaskPipeline</a:t>
            </a:r>
            <a:r>
              <a:rPr lang="hu-HU" b="1" dirty="0"/>
              <a:t> </a:t>
            </a:r>
            <a:r>
              <a:rPr lang="hu-HU" b="1" dirty="0" smtClean="0"/>
              <a:t>/ </a:t>
            </a:r>
            <a:r>
              <a:rPr lang="hu-HU" b="1" dirty="0" err="1" smtClean="0"/>
              <a:t>fill-mask</a:t>
            </a:r>
            <a:r>
              <a:rPr lang="hu-HU" b="1" dirty="0" smtClean="0"/>
              <a:t>: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/>
              <a:t>MLM</a:t>
            </a:r>
            <a:r>
              <a:rPr lang="hu-HU" dirty="0"/>
              <a:t> </a:t>
            </a:r>
            <a:r>
              <a:rPr lang="hu-HU" dirty="0" err="1"/>
              <a:t>pre-trained</a:t>
            </a:r>
            <a:r>
              <a:rPr lang="hu-HU" dirty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returns</a:t>
            </a:r>
            <a:r>
              <a:rPr lang="hu-HU" dirty="0" smtClean="0"/>
              <a:t>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concrete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predicts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most </a:t>
            </a:r>
            <a:r>
              <a:rPr lang="hu-HU" dirty="0" err="1" smtClean="0"/>
              <a:t>likely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position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</a:t>
            </a:r>
          </a:p>
          <a:p>
            <a:pPr lvl="1"/>
            <a:r>
              <a:rPr lang="en-GB" b="1" dirty="0" err="1" smtClean="0"/>
              <a:t>QuestionAnsweringPipeline</a:t>
            </a:r>
            <a:r>
              <a:rPr lang="hu-HU" b="1" dirty="0" smtClean="0"/>
              <a:t> / </a:t>
            </a:r>
            <a:r>
              <a:rPr lang="hu-HU" b="1" dirty="0" err="1" smtClean="0"/>
              <a:t>question-answering</a:t>
            </a:r>
            <a:r>
              <a:rPr lang="hu-HU" b="1" dirty="0" smtClean="0"/>
              <a:t>: </a:t>
            </a:r>
            <a:r>
              <a:rPr lang="hu-HU" dirty="0" err="1" smtClean="0"/>
              <a:t>answers</a:t>
            </a:r>
            <a:r>
              <a:rPr lang="hu-HU" dirty="0" smtClean="0"/>
              <a:t> a </a:t>
            </a:r>
            <a:r>
              <a:rPr lang="hu-HU" dirty="0" err="1" smtClean="0"/>
              <a:t>given</a:t>
            </a:r>
            <a:r>
              <a:rPr lang="hu-HU" dirty="0" smtClean="0"/>
              <a:t> input </a:t>
            </a:r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given</a:t>
            </a:r>
            <a:r>
              <a:rPr lang="hu-HU" dirty="0" smtClean="0"/>
              <a:t> input </a:t>
            </a:r>
            <a:r>
              <a:rPr lang="hu-HU" dirty="0" err="1" smtClean="0"/>
              <a:t>context</a:t>
            </a:r>
            <a:r>
              <a:rPr lang="hu-HU" dirty="0"/>
              <a:t>;</a:t>
            </a:r>
            <a:r>
              <a:rPr lang="hu-HU" dirty="0" smtClean="0"/>
              <a:t> </a:t>
            </a:r>
            <a:r>
              <a:rPr lang="hu-HU" dirty="0" err="1" smtClean="0"/>
              <a:t>extractive</a:t>
            </a:r>
            <a:r>
              <a:rPr lang="hu-HU" dirty="0" smtClean="0"/>
              <a:t>: </a:t>
            </a:r>
            <a:r>
              <a:rPr lang="hu-HU" dirty="0" err="1" smtClean="0"/>
              <a:t>outputs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most </a:t>
            </a:r>
            <a:r>
              <a:rPr lang="hu-HU" dirty="0" err="1" smtClean="0"/>
              <a:t>relevant</a:t>
            </a:r>
            <a:r>
              <a:rPr lang="hu-HU" dirty="0" smtClean="0"/>
              <a:t> </a:t>
            </a:r>
            <a:r>
              <a:rPr lang="hu-HU" dirty="0" err="1" smtClean="0"/>
              <a:t>substring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answer</a:t>
            </a:r>
            <a:endParaRPr lang="hu-HU" dirty="0" smtClean="0"/>
          </a:p>
          <a:p>
            <a:pPr lvl="1"/>
            <a:r>
              <a:rPr lang="hu-HU" b="1" dirty="0" err="1" smtClean="0"/>
              <a:t>SummarizationPipeline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summarization</a:t>
            </a:r>
            <a:r>
              <a:rPr lang="hu-HU" b="1" dirty="0" smtClean="0"/>
              <a:t>: </a:t>
            </a:r>
            <a:r>
              <a:rPr lang="hu-HU" dirty="0" err="1" smtClean="0"/>
              <a:t>uses</a:t>
            </a:r>
            <a:r>
              <a:rPr lang="hu-HU" dirty="0" smtClean="0"/>
              <a:t> an </a:t>
            </a:r>
            <a:r>
              <a:rPr lang="hu-HU" dirty="0" err="1" smtClean="0"/>
              <a:t>encoder-decoder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(BART </a:t>
            </a:r>
            <a:r>
              <a:rPr lang="hu-HU" dirty="0" err="1" smtClean="0"/>
              <a:t>or</a:t>
            </a:r>
            <a:r>
              <a:rPr lang="hu-HU" dirty="0" smtClean="0"/>
              <a:t> T5)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generate</a:t>
            </a:r>
            <a:r>
              <a:rPr lang="hu-HU" dirty="0" smtClean="0"/>
              <a:t> a </a:t>
            </a:r>
            <a:r>
              <a:rPr lang="hu-HU" dirty="0" err="1" smtClean="0"/>
              <a:t>summary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text</a:t>
            </a:r>
          </a:p>
          <a:p>
            <a:pPr lvl="1"/>
            <a:r>
              <a:rPr lang="en-GB" b="1" dirty="0" err="1" smtClean="0"/>
              <a:t>TextClassificationPipeline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sentiment-analysis</a:t>
            </a:r>
            <a:r>
              <a:rPr lang="hu-HU" b="1" dirty="0" smtClean="0"/>
              <a:t>: </a:t>
            </a:r>
            <a:r>
              <a:rPr lang="hu-HU" dirty="0" err="1" smtClean="0"/>
              <a:t>the</a:t>
            </a:r>
            <a:r>
              <a:rPr lang="hu-HU" dirty="0" smtClean="0"/>
              <a:t> text (</a:t>
            </a:r>
            <a:r>
              <a:rPr lang="hu-HU" dirty="0" err="1" smtClean="0"/>
              <a:t>sequence</a:t>
            </a:r>
            <a:r>
              <a:rPr lang="hu-HU" dirty="0" smtClean="0"/>
              <a:t>)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classify</a:t>
            </a:r>
            <a:r>
              <a:rPr lang="hu-HU" dirty="0" smtClean="0"/>
              <a:t> an input text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any</a:t>
            </a:r>
            <a:r>
              <a:rPr lang="hu-HU" dirty="0" smtClean="0"/>
              <a:t> </a:t>
            </a:r>
            <a:r>
              <a:rPr lang="hu-HU" dirty="0" err="1" smtClean="0"/>
              <a:t>categories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is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sentiment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assigns</a:t>
            </a:r>
            <a:r>
              <a:rPr lang="hu-HU" dirty="0" smtClean="0"/>
              <a:t> a </a:t>
            </a:r>
            <a:r>
              <a:rPr lang="hu-HU" dirty="0" err="1" smtClean="0"/>
              <a:t>positive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negative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entire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endParaRPr lang="en-GB" dirty="0"/>
          </a:p>
          <a:p>
            <a:pPr lvl="1"/>
            <a:r>
              <a:rPr lang="hu-HU" b="1" dirty="0" err="1" smtClean="0"/>
              <a:t>TextGenerationPipeline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text-generation</a:t>
            </a:r>
            <a:r>
              <a:rPr lang="hu-HU" dirty="0" smtClean="0"/>
              <a:t>: prompt </a:t>
            </a:r>
            <a:r>
              <a:rPr lang="hu-HU" dirty="0" err="1" smtClean="0"/>
              <a:t>continuation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next-token-prediction</a:t>
            </a:r>
            <a:r>
              <a:rPr lang="hu-HU" dirty="0" smtClean="0"/>
              <a:t> (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dirty="0" err="1" smtClean="0"/>
              <a:t>causal</a:t>
            </a:r>
            <a:r>
              <a:rPr lang="hu-HU" dirty="0" smtClean="0"/>
              <a:t> LM) </a:t>
            </a:r>
            <a:r>
              <a:rPr lang="hu-HU" dirty="0" err="1" smtClean="0"/>
              <a:t>GPT-like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  <a:p>
            <a:pPr lvl="1"/>
            <a:r>
              <a:rPr lang="hu-HU" b="1" dirty="0" err="1" smtClean="0"/>
              <a:t>TokenClassificationPipeline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ner</a:t>
            </a:r>
            <a:r>
              <a:rPr lang="hu-HU" dirty="0" smtClean="0"/>
              <a:t>: </a:t>
            </a:r>
            <a:r>
              <a:rPr lang="hu-HU" dirty="0" err="1" smtClean="0"/>
              <a:t>outputs</a:t>
            </a:r>
            <a:r>
              <a:rPr lang="hu-HU" dirty="0" smtClean="0"/>
              <a:t> a </a:t>
            </a:r>
            <a:r>
              <a:rPr lang="hu-HU" dirty="0" err="1" smtClean="0"/>
              <a:t>class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specific</a:t>
            </a:r>
            <a:r>
              <a:rPr lang="hu-HU" dirty="0" smtClean="0"/>
              <a:t> /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r>
              <a:rPr lang="hu-HU" dirty="0" smtClean="0"/>
              <a:t>; </a:t>
            </a:r>
            <a:r>
              <a:rPr lang="hu-HU" dirty="0" err="1" smtClean="0"/>
              <a:t>could</a:t>
            </a:r>
            <a:r>
              <a:rPr lang="hu-HU" dirty="0" smtClean="0"/>
              <a:t> be </a:t>
            </a:r>
            <a:r>
              <a:rPr lang="hu-HU" dirty="0" err="1" smtClean="0"/>
              <a:t>any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is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pre-defined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argument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named</a:t>
            </a:r>
            <a:r>
              <a:rPr lang="hu-HU" dirty="0" smtClean="0"/>
              <a:t> </a:t>
            </a:r>
            <a:r>
              <a:rPr lang="hu-HU" dirty="0" err="1" smtClean="0"/>
              <a:t>entity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616093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Transformer</a:t>
            </a:r>
            <a:r>
              <a:rPr lang="hu-HU" dirty="0"/>
              <a:t> </a:t>
            </a:r>
            <a:r>
              <a:rPr lang="hu-HU" dirty="0" err="1"/>
              <a:t>Pipelines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 err="1"/>
              <a:t>If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b="1" dirty="0" err="1"/>
              <a:t>only</a:t>
            </a:r>
            <a:r>
              <a:rPr lang="hu-HU" b="1" dirty="0"/>
              <a:t> </a:t>
            </a:r>
            <a:r>
              <a:rPr lang="hu-HU" b="1" dirty="0" err="1"/>
              <a:t>specify</a:t>
            </a:r>
            <a:r>
              <a:rPr lang="hu-HU" b="1" dirty="0"/>
              <a:t> a </a:t>
            </a:r>
            <a:r>
              <a:rPr lang="hu-HU" b="1" dirty="0" err="1"/>
              <a:t>task</a:t>
            </a:r>
            <a:r>
              <a:rPr lang="hu-HU" dirty="0"/>
              <a:t>,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pipeline</a:t>
            </a:r>
            <a:r>
              <a:rPr lang="hu-HU" dirty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will</a:t>
            </a:r>
            <a:r>
              <a:rPr lang="hu-HU" dirty="0"/>
              <a:t> </a:t>
            </a:r>
            <a:r>
              <a:rPr lang="hu-HU" dirty="0" err="1"/>
              <a:t>instantiate</a:t>
            </a:r>
            <a:r>
              <a:rPr lang="hu-HU" dirty="0"/>
              <a:t> </a:t>
            </a:r>
            <a:r>
              <a:rPr lang="hu-HU" dirty="0" err="1"/>
              <a:t>a</a:t>
            </a:r>
            <a:r>
              <a:rPr lang="hu-HU" dirty="0"/>
              <a:t> </a:t>
            </a:r>
            <a:r>
              <a:rPr lang="hu-HU" dirty="0" err="1"/>
              <a:t>Pipeline</a:t>
            </a:r>
            <a:r>
              <a:rPr lang="hu-HU" dirty="0"/>
              <a:t> </a:t>
            </a:r>
            <a:r>
              <a:rPr lang="hu-HU" dirty="0" err="1"/>
              <a:t>object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a</a:t>
            </a:r>
            <a:r>
              <a:rPr lang="hu-HU" dirty="0"/>
              <a:t> </a:t>
            </a:r>
            <a:r>
              <a:rPr lang="hu-HU" b="1" dirty="0" err="1"/>
              <a:t>default</a:t>
            </a:r>
            <a:r>
              <a:rPr lang="hu-HU" b="1" dirty="0"/>
              <a:t> </a:t>
            </a:r>
            <a:r>
              <a:rPr lang="hu-HU" b="1" dirty="0" err="1"/>
              <a:t>model</a:t>
            </a:r>
            <a:r>
              <a:rPr lang="hu-HU" b="1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task</a:t>
            </a:r>
            <a:r>
              <a:rPr lang="hu-HU" dirty="0"/>
              <a:t>.</a:t>
            </a:r>
          </a:p>
          <a:p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dirty="0" err="1"/>
              <a:t>can</a:t>
            </a:r>
            <a:r>
              <a:rPr lang="hu-HU" dirty="0"/>
              <a:t> </a:t>
            </a:r>
            <a:r>
              <a:rPr lang="hu-HU" dirty="0" err="1"/>
              <a:t>find</a:t>
            </a:r>
            <a:r>
              <a:rPr lang="hu-HU" dirty="0"/>
              <a:t> </a:t>
            </a:r>
            <a:r>
              <a:rPr lang="hu-HU" dirty="0" err="1"/>
              <a:t>models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compatible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a </a:t>
            </a:r>
            <a:r>
              <a:rPr lang="hu-HU" dirty="0" err="1"/>
              <a:t>task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searching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Hugging</a:t>
            </a:r>
            <a:r>
              <a:rPr lang="hu-HU" dirty="0"/>
              <a:t> </a:t>
            </a:r>
            <a:r>
              <a:rPr lang="hu-HU" dirty="0" err="1"/>
              <a:t>Face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b="1" dirty="0" err="1"/>
              <a:t>task</a:t>
            </a:r>
            <a:r>
              <a:rPr lang="hu-HU" b="1" dirty="0"/>
              <a:t> </a:t>
            </a:r>
            <a:r>
              <a:rPr lang="hu-HU" b="1" dirty="0" err="1"/>
              <a:t>name</a:t>
            </a:r>
            <a:endParaRPr lang="hu-HU" b="1" dirty="0"/>
          </a:p>
          <a:p>
            <a:r>
              <a:rPr lang="hu-HU" dirty="0" err="1"/>
              <a:t>Ideally</a:t>
            </a:r>
            <a:r>
              <a:rPr lang="hu-HU" dirty="0"/>
              <a:t>, </a:t>
            </a:r>
            <a:r>
              <a:rPr lang="hu-HU" dirty="0" err="1"/>
              <a:t>each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’s </a:t>
            </a:r>
            <a:r>
              <a:rPr lang="hu-HU" b="1" dirty="0" err="1"/>
              <a:t>model</a:t>
            </a:r>
            <a:r>
              <a:rPr lang="hu-HU" b="1" dirty="0"/>
              <a:t> </a:t>
            </a:r>
            <a:r>
              <a:rPr lang="hu-HU" b="1" dirty="0" err="1"/>
              <a:t>card</a:t>
            </a:r>
            <a:r>
              <a:rPr lang="hu-HU" dirty="0"/>
              <a:t> </a:t>
            </a:r>
            <a:r>
              <a:rPr lang="hu-HU" dirty="0" err="1"/>
              <a:t>contains</a:t>
            </a:r>
            <a:r>
              <a:rPr lang="hu-HU" dirty="0"/>
              <a:t> a </a:t>
            </a:r>
            <a:r>
              <a:rPr lang="hu-HU" dirty="0" err="1"/>
              <a:t>description</a:t>
            </a:r>
            <a:r>
              <a:rPr lang="hu-HU" dirty="0"/>
              <a:t> of </a:t>
            </a:r>
            <a:r>
              <a:rPr lang="hu-HU" b="1" dirty="0" err="1"/>
              <a:t>what</a:t>
            </a:r>
            <a:r>
              <a:rPr lang="hu-HU" b="1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specific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 is </a:t>
            </a:r>
            <a:r>
              <a:rPr lang="hu-HU" dirty="0" err="1"/>
              <a:t>doing</a:t>
            </a:r>
            <a:r>
              <a:rPr lang="hu-HU" dirty="0"/>
              <a:t> and a </a:t>
            </a:r>
            <a:r>
              <a:rPr lang="hu-HU" b="1" dirty="0" err="1"/>
              <a:t>code</a:t>
            </a:r>
            <a:r>
              <a:rPr lang="hu-HU" b="1" dirty="0"/>
              <a:t> </a:t>
            </a:r>
            <a:r>
              <a:rPr lang="hu-HU" b="1" dirty="0" err="1"/>
              <a:t>snippet</a:t>
            </a:r>
            <a:r>
              <a:rPr lang="hu-HU" b="1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shows</a:t>
            </a:r>
            <a:r>
              <a:rPr lang="hu-HU" dirty="0"/>
              <a:t> </a:t>
            </a:r>
            <a:r>
              <a:rPr lang="hu-HU" dirty="0" err="1"/>
              <a:t>how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instantiate</a:t>
            </a:r>
            <a:r>
              <a:rPr lang="hu-HU" dirty="0"/>
              <a:t> </a:t>
            </a:r>
            <a:r>
              <a:rPr lang="hu-HU" dirty="0" err="1"/>
              <a:t>a</a:t>
            </a:r>
            <a:r>
              <a:rPr lang="hu-HU" dirty="0"/>
              <a:t> </a:t>
            </a:r>
            <a:r>
              <a:rPr lang="hu-HU" dirty="0" err="1"/>
              <a:t>pipeline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it</a:t>
            </a:r>
            <a:r>
              <a:rPr lang="hu-HU" dirty="0" smtClean="0"/>
              <a:t>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358344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 smtClean="0"/>
              <a:t>Generative</a:t>
            </a:r>
            <a:r>
              <a:rPr lang="hu-HU" sz="3200" dirty="0" smtClean="0"/>
              <a:t> </a:t>
            </a:r>
            <a:r>
              <a:rPr lang="hu-HU" sz="3200" dirty="0" err="1" smtClean="0"/>
              <a:t>AI</a:t>
            </a:r>
            <a:r>
              <a:rPr lang="hu-HU" sz="3200" dirty="0" smtClean="0"/>
              <a:t> versus </a:t>
            </a:r>
            <a:br>
              <a:rPr lang="hu-HU" sz="3200" dirty="0" smtClean="0"/>
            </a:br>
            <a:r>
              <a:rPr lang="hu-HU" sz="3200" dirty="0" err="1" smtClean="0"/>
              <a:t>Fine-Tuned</a:t>
            </a:r>
            <a:r>
              <a:rPr lang="hu-HU" sz="3200" dirty="0" smtClean="0"/>
              <a:t> </a:t>
            </a:r>
            <a:r>
              <a:rPr lang="hu-HU" sz="3200" dirty="0" err="1" smtClean="0"/>
              <a:t>Encoder</a:t>
            </a:r>
            <a:r>
              <a:rPr lang="hu-HU" sz="3200" dirty="0" smtClean="0"/>
              <a:t> </a:t>
            </a:r>
            <a:r>
              <a:rPr lang="hu-HU" sz="3200" dirty="0" err="1" smtClean="0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hu-HU" dirty="0" smtClean="0"/>
              <a:t>A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LLM</a:t>
            </a:r>
            <a:r>
              <a:rPr lang="hu-HU" dirty="0" smtClean="0"/>
              <a:t> (</a:t>
            </a:r>
            <a:r>
              <a:rPr lang="hu-HU" dirty="0" err="1" smtClean="0"/>
              <a:t>GPT</a:t>
            </a:r>
            <a:r>
              <a:rPr lang="hu-HU" dirty="0" smtClean="0"/>
              <a:t>, Claude, </a:t>
            </a:r>
            <a:r>
              <a:rPr lang="hu-HU" dirty="0" err="1" smtClean="0"/>
              <a:t>Gemini</a:t>
            </a:r>
            <a:r>
              <a:rPr lang="hu-HU" dirty="0" smtClean="0"/>
              <a:t>, Gemma, </a:t>
            </a:r>
            <a:r>
              <a:rPr lang="hu-HU" dirty="0" err="1" smtClean="0"/>
              <a:t>Llama</a:t>
            </a:r>
            <a:r>
              <a:rPr lang="hu-HU" dirty="0" smtClean="0"/>
              <a:t>, etc.) is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great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solving</a:t>
            </a:r>
            <a:r>
              <a:rPr lang="hu-HU" dirty="0" smtClean="0"/>
              <a:t> </a:t>
            </a:r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understanding</a:t>
            </a:r>
            <a:r>
              <a:rPr lang="hu-HU" dirty="0" smtClean="0"/>
              <a:t> (</a:t>
            </a:r>
            <a:r>
              <a:rPr lang="hu-HU" dirty="0" err="1" smtClean="0"/>
              <a:t>NLU</a:t>
            </a:r>
            <a:r>
              <a:rPr lang="hu-HU" dirty="0" smtClean="0"/>
              <a:t>) </a:t>
            </a:r>
            <a:r>
              <a:rPr lang="hu-HU" dirty="0" err="1" smtClean="0"/>
              <a:t>problems</a:t>
            </a:r>
            <a:endParaRPr lang="hu-HU" dirty="0"/>
          </a:p>
          <a:p>
            <a:pPr lvl="1"/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b="1" dirty="0" err="1" smtClean="0"/>
              <a:t>zero-shot</a:t>
            </a:r>
            <a:r>
              <a:rPr lang="hu-HU" b="1" dirty="0" smtClean="0"/>
              <a:t> prompting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provide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smtClean="0"/>
              <a:t>input text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classified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list</a:t>
            </a:r>
            <a:r>
              <a:rPr lang="hu-HU" b="1" dirty="0" smtClean="0"/>
              <a:t> of </a:t>
            </a:r>
            <a:r>
              <a:rPr lang="hu-HU" b="1" dirty="0" err="1" smtClean="0"/>
              <a:t>labels</a:t>
            </a:r>
            <a:r>
              <a:rPr lang="hu-HU" dirty="0" smtClean="0"/>
              <a:t>, and </a:t>
            </a:r>
            <a:r>
              <a:rPr lang="hu-HU" dirty="0" err="1" smtClean="0"/>
              <a:t>tell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smtClean="0"/>
              <a:t>output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correct</a:t>
            </a:r>
            <a:r>
              <a:rPr lang="hu-HU" b="1" dirty="0" smtClean="0"/>
              <a:t> </a:t>
            </a:r>
            <a:r>
              <a:rPr lang="hu-HU" b="1" dirty="0" err="1" smtClean="0"/>
              <a:t>label</a:t>
            </a:r>
            <a:r>
              <a:rPr lang="hu-HU" b="1" dirty="0" smtClean="0"/>
              <a:t> </a:t>
            </a:r>
            <a:r>
              <a:rPr lang="hu-HU" dirty="0" err="1" smtClean="0"/>
              <a:t>belonging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text</a:t>
            </a:r>
          </a:p>
          <a:p>
            <a:pPr lvl="1"/>
            <a:r>
              <a:rPr lang="hu-HU" b="1" dirty="0" err="1" smtClean="0"/>
              <a:t>few-shot</a:t>
            </a:r>
            <a:r>
              <a:rPr lang="hu-HU" b="1" dirty="0" smtClean="0"/>
              <a:t> prompting </a:t>
            </a:r>
            <a:r>
              <a:rPr lang="hu-HU" dirty="0" err="1" smtClean="0"/>
              <a:t>tends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improve</a:t>
            </a:r>
            <a:r>
              <a:rPr lang="hu-HU" b="1" dirty="0" smtClean="0"/>
              <a:t> </a:t>
            </a:r>
            <a:r>
              <a:rPr lang="hu-HU" b="1" dirty="0" err="1" smtClean="0"/>
              <a:t>label</a:t>
            </a:r>
            <a:r>
              <a:rPr lang="hu-HU" b="1" dirty="0" smtClean="0"/>
              <a:t> </a:t>
            </a:r>
            <a:r>
              <a:rPr lang="hu-HU" b="1" dirty="0" err="1" smtClean="0"/>
              <a:t>accuracy</a:t>
            </a:r>
            <a:r>
              <a:rPr lang="hu-HU" b="1" dirty="0" smtClean="0"/>
              <a:t> </a:t>
            </a:r>
            <a:r>
              <a:rPr lang="hu-HU" b="1" dirty="0" err="1" smtClean="0"/>
              <a:t>considerably</a:t>
            </a:r>
            <a:r>
              <a:rPr lang="hu-HU" dirty="0" smtClean="0"/>
              <a:t>: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list</a:t>
            </a:r>
            <a:r>
              <a:rPr lang="hu-HU" dirty="0" smtClean="0"/>
              <a:t> of </a:t>
            </a:r>
            <a:r>
              <a:rPr lang="hu-HU" dirty="0" err="1" smtClean="0"/>
              <a:t>labels</a:t>
            </a:r>
            <a:r>
              <a:rPr lang="hu-HU" dirty="0" smtClean="0"/>
              <a:t>,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dirty="0" err="1" smtClean="0"/>
              <a:t>provide</a:t>
            </a:r>
            <a:r>
              <a:rPr lang="hu-HU" dirty="0" smtClean="0"/>
              <a:t> a </a:t>
            </a:r>
            <a:r>
              <a:rPr lang="hu-HU" dirty="0" err="1" smtClean="0"/>
              <a:t>few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illustrate</a:t>
            </a:r>
            <a:r>
              <a:rPr lang="hu-HU" dirty="0" smtClean="0"/>
              <a:t>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mean</a:t>
            </a:r>
            <a:r>
              <a:rPr lang="hu-HU" dirty="0" smtClean="0"/>
              <a:t> </a:t>
            </a:r>
            <a:r>
              <a:rPr lang="hu-HU" dirty="0" err="1" smtClean="0"/>
              <a:t>inside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prompt</a:t>
            </a:r>
          </a:p>
          <a:p>
            <a:pPr lvl="1"/>
            <a:r>
              <a:rPr lang="hu-HU" b="1" dirty="0" smtClean="0"/>
              <a:t>no </a:t>
            </a:r>
            <a:r>
              <a:rPr lang="hu-HU" b="1" dirty="0" err="1" smtClean="0"/>
              <a:t>need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fine-tuning</a:t>
            </a:r>
            <a:r>
              <a:rPr lang="hu-HU" b="1" dirty="0" smtClean="0"/>
              <a:t>,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off-the-shelf</a:t>
            </a:r>
            <a:endParaRPr lang="hu-HU" dirty="0" smtClean="0"/>
          </a:p>
          <a:p>
            <a:r>
              <a:rPr lang="hu-HU" dirty="0" err="1" smtClean="0"/>
              <a:t>Why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LLMs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,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least</a:t>
            </a:r>
            <a:r>
              <a:rPr lang="hu-HU" dirty="0" smtClean="0"/>
              <a:t> </a:t>
            </a:r>
            <a:r>
              <a:rPr lang="hu-HU" dirty="0" err="1" smtClean="0"/>
              <a:t>those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involve</a:t>
            </a:r>
            <a:r>
              <a:rPr lang="hu-HU" dirty="0" smtClean="0"/>
              <a:t> </a:t>
            </a:r>
            <a:r>
              <a:rPr lang="hu-HU" dirty="0" err="1" smtClean="0"/>
              <a:t>NLU</a:t>
            </a:r>
            <a:r>
              <a:rPr lang="hu-HU" dirty="0" smtClean="0"/>
              <a:t>?</a:t>
            </a:r>
          </a:p>
          <a:p>
            <a:pPr lvl="1"/>
            <a:r>
              <a:rPr lang="hu-HU" dirty="0" smtClean="0"/>
              <a:t>text </a:t>
            </a:r>
            <a:r>
              <a:rPr lang="hu-HU" dirty="0" err="1" smtClean="0"/>
              <a:t>classification</a:t>
            </a:r>
            <a:endParaRPr lang="hu-HU" dirty="0" smtClean="0"/>
          </a:p>
          <a:p>
            <a:pPr lvl="1"/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answering</a:t>
            </a:r>
            <a:endParaRPr lang="hu-HU" dirty="0" smtClean="0"/>
          </a:p>
          <a:p>
            <a:pPr lvl="1"/>
            <a:r>
              <a:rPr lang="hu-HU" dirty="0" err="1" smtClean="0"/>
              <a:t>abstractive</a:t>
            </a:r>
            <a:r>
              <a:rPr lang="hu-HU" dirty="0" smtClean="0"/>
              <a:t> </a:t>
            </a:r>
            <a:r>
              <a:rPr lang="hu-HU" dirty="0" err="1" smtClean="0"/>
              <a:t>summarisation</a:t>
            </a:r>
            <a:r>
              <a:rPr lang="hu-HU" dirty="0" smtClean="0"/>
              <a:t> (</a:t>
            </a:r>
            <a:r>
              <a:rPr lang="hu-HU" dirty="0" err="1" smtClean="0"/>
              <a:t>generating</a:t>
            </a:r>
            <a:r>
              <a:rPr lang="hu-HU" dirty="0" smtClean="0"/>
              <a:t> a </a:t>
            </a:r>
            <a:r>
              <a:rPr lang="hu-HU" dirty="0" err="1" smtClean="0"/>
              <a:t>summary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opposed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extracting</a:t>
            </a:r>
            <a:r>
              <a:rPr lang="hu-HU" dirty="0" smtClean="0"/>
              <a:t> </a:t>
            </a:r>
            <a:r>
              <a:rPr lang="hu-HU" dirty="0" err="1" smtClean="0"/>
              <a:t>key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42445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/>
              <a:t>Generative</a:t>
            </a:r>
            <a:r>
              <a:rPr lang="hu-HU" sz="3200" dirty="0"/>
              <a:t> </a:t>
            </a:r>
            <a:r>
              <a:rPr lang="hu-HU" sz="3200" dirty="0" err="1"/>
              <a:t>AI</a:t>
            </a:r>
            <a:r>
              <a:rPr lang="hu-HU" sz="3200" dirty="0"/>
              <a:t> versus </a:t>
            </a:r>
            <a:br>
              <a:rPr lang="hu-HU" sz="3200" dirty="0"/>
            </a:br>
            <a:r>
              <a:rPr lang="hu-HU" sz="3200" dirty="0" err="1"/>
              <a:t>Fine-Tuned</a:t>
            </a:r>
            <a:r>
              <a:rPr lang="hu-HU" sz="3200" dirty="0"/>
              <a:t> </a:t>
            </a:r>
            <a:r>
              <a:rPr lang="hu-HU" sz="3200" dirty="0" err="1"/>
              <a:t>Encoder</a:t>
            </a:r>
            <a:r>
              <a:rPr lang="hu-HU" sz="3200" dirty="0"/>
              <a:t> </a:t>
            </a:r>
            <a:r>
              <a:rPr lang="hu-HU" sz="3200" dirty="0" err="1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28800"/>
            <a:ext cx="8229600" cy="4896544"/>
          </a:xfrm>
        </p:spPr>
        <p:txBody>
          <a:bodyPr>
            <a:normAutofit fontScale="55000" lnSpcReduction="20000"/>
          </a:bodyPr>
          <a:lstStyle/>
          <a:p>
            <a:r>
              <a:rPr lang="hu-HU" dirty="0" err="1"/>
              <a:t>Why</a:t>
            </a:r>
            <a:r>
              <a:rPr lang="hu-HU" dirty="0"/>
              <a:t> </a:t>
            </a:r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use</a:t>
            </a:r>
            <a:r>
              <a:rPr lang="hu-HU" dirty="0"/>
              <a:t>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LLMs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all</a:t>
            </a:r>
            <a:r>
              <a:rPr lang="hu-HU" dirty="0"/>
              <a:t> </a:t>
            </a:r>
            <a:r>
              <a:rPr lang="hu-HU" dirty="0" err="1"/>
              <a:t>NLP</a:t>
            </a:r>
            <a:r>
              <a:rPr lang="hu-HU" dirty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?</a:t>
            </a:r>
          </a:p>
          <a:p>
            <a:r>
              <a:rPr lang="hu-HU" dirty="0" err="1" smtClean="0"/>
              <a:t>Reason</a:t>
            </a:r>
            <a:r>
              <a:rPr lang="hu-HU" dirty="0" smtClean="0"/>
              <a:t> 1: </a:t>
            </a:r>
            <a:r>
              <a:rPr lang="hu-HU" b="1" dirty="0" err="1" smtClean="0"/>
              <a:t>efficiency</a:t>
            </a:r>
            <a:endParaRPr lang="hu-HU" b="1" dirty="0" smtClean="0"/>
          </a:p>
          <a:p>
            <a:pPr lvl="1"/>
            <a:r>
              <a:rPr lang="hu-HU" dirty="0" smtClean="0"/>
              <a:t>an </a:t>
            </a:r>
            <a:r>
              <a:rPr lang="hu-HU" b="1" dirty="0" err="1" smtClean="0"/>
              <a:t>encoder</a:t>
            </a:r>
            <a:r>
              <a:rPr lang="hu-HU" b="1" dirty="0" smtClean="0"/>
              <a:t> </a:t>
            </a:r>
            <a:r>
              <a:rPr lang="hu-HU" b="1" dirty="0" err="1" smtClean="0"/>
              <a:t>transformer</a:t>
            </a:r>
            <a:r>
              <a:rPr lang="hu-HU" b="1" dirty="0" smtClean="0"/>
              <a:t> </a:t>
            </a:r>
            <a:r>
              <a:rPr lang="hu-HU" dirty="0" err="1" smtClean="0"/>
              <a:t>processes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text </a:t>
            </a:r>
            <a:r>
              <a:rPr lang="hu-HU" b="1" dirty="0" err="1" smtClean="0"/>
              <a:t>exactly</a:t>
            </a:r>
            <a:r>
              <a:rPr lang="hu-HU" b="1" dirty="0" smtClean="0"/>
              <a:t> </a:t>
            </a:r>
            <a:r>
              <a:rPr lang="hu-HU" b="1" dirty="0" err="1" smtClean="0"/>
              <a:t>once</a:t>
            </a:r>
            <a:r>
              <a:rPr lang="hu-HU" b="1" dirty="0" smtClean="0"/>
              <a:t> </a:t>
            </a:r>
            <a:r>
              <a:rPr lang="hu-HU" dirty="0" err="1" smtClean="0"/>
              <a:t>before</a:t>
            </a:r>
            <a:r>
              <a:rPr lang="hu-HU" dirty="0" smtClean="0"/>
              <a:t> </a:t>
            </a:r>
            <a:r>
              <a:rPr lang="hu-HU" dirty="0" err="1" smtClean="0"/>
              <a:t>calculating</a:t>
            </a:r>
            <a:r>
              <a:rPr lang="hu-HU" dirty="0" smtClean="0"/>
              <a:t> a </a:t>
            </a:r>
            <a:r>
              <a:rPr lang="hu-HU" dirty="0" err="1" smtClean="0"/>
              <a:t>label</a:t>
            </a:r>
            <a:endParaRPr lang="hu-HU" dirty="0" smtClean="0"/>
          </a:p>
          <a:p>
            <a:pPr lvl="2"/>
            <a:r>
              <a:rPr lang="hu-HU" dirty="0" err="1" smtClean="0"/>
              <a:t>either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whole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endParaRPr lang="hu-HU" dirty="0" smtClean="0"/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generative</a:t>
            </a:r>
            <a:r>
              <a:rPr lang="hu-HU" b="1" dirty="0" smtClean="0"/>
              <a:t> LM </a:t>
            </a:r>
            <a:r>
              <a:rPr lang="hu-HU" dirty="0" err="1" smtClean="0"/>
              <a:t>processes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plus </a:t>
            </a:r>
            <a:r>
              <a:rPr lang="hu-HU" dirty="0" err="1" smtClean="0"/>
              <a:t>the</a:t>
            </a:r>
            <a:r>
              <a:rPr lang="hu-HU" dirty="0" smtClean="0"/>
              <a:t> output </a:t>
            </a:r>
            <a:r>
              <a:rPr lang="hu-HU" dirty="0" err="1" smtClean="0"/>
              <a:t>generated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far </a:t>
            </a:r>
            <a:r>
              <a:rPr lang="hu-HU" b="1" dirty="0" err="1" smtClean="0"/>
              <a:t>once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each</a:t>
            </a:r>
            <a:r>
              <a:rPr lang="hu-HU" b="1" dirty="0" smtClean="0"/>
              <a:t> output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smtClean="0"/>
              <a:t>being </a:t>
            </a:r>
            <a:r>
              <a:rPr lang="hu-HU" dirty="0" err="1" smtClean="0"/>
              <a:t>generated</a:t>
            </a:r>
            <a:endParaRPr lang="hu-HU" dirty="0" smtClean="0"/>
          </a:p>
          <a:p>
            <a:pPr lvl="2"/>
            <a:r>
              <a:rPr lang="hu-HU" dirty="0" err="1" smtClean="0"/>
              <a:t>n-fold</a:t>
            </a:r>
            <a:r>
              <a:rPr lang="hu-HU" dirty="0" smtClean="0"/>
              <a:t> </a:t>
            </a:r>
            <a:r>
              <a:rPr lang="hu-HU" dirty="0" err="1" smtClean="0"/>
              <a:t>increase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 and </a:t>
            </a:r>
            <a:r>
              <a:rPr lang="hu-HU" dirty="0" err="1" smtClean="0"/>
              <a:t>cost</a:t>
            </a:r>
            <a:endParaRPr lang="hu-HU" dirty="0" smtClean="0"/>
          </a:p>
          <a:p>
            <a:r>
              <a:rPr lang="hu-HU" dirty="0" err="1" smtClean="0"/>
              <a:t>Reason</a:t>
            </a:r>
            <a:r>
              <a:rPr lang="hu-HU" dirty="0" smtClean="0"/>
              <a:t> 2: </a:t>
            </a:r>
            <a:r>
              <a:rPr lang="hu-HU" b="1" dirty="0" err="1" smtClean="0"/>
              <a:t>reliability</a:t>
            </a:r>
            <a:endParaRPr lang="hu-HU" b="1" dirty="0" smtClean="0"/>
          </a:p>
          <a:p>
            <a:pPr lvl="1"/>
            <a:r>
              <a:rPr lang="hu-HU" dirty="0" smtClean="0"/>
              <a:t>an </a:t>
            </a:r>
            <a:r>
              <a:rPr lang="hu-HU" dirty="0" err="1" smtClean="0"/>
              <a:t>encoder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outputs</a:t>
            </a:r>
            <a:r>
              <a:rPr lang="hu-HU" dirty="0" smtClean="0"/>
              <a:t> a </a:t>
            </a:r>
            <a:r>
              <a:rPr lang="hu-HU" b="1" dirty="0" err="1" smtClean="0"/>
              <a:t>single</a:t>
            </a:r>
            <a:r>
              <a:rPr lang="hu-HU" b="1" dirty="0" smtClean="0"/>
              <a:t> </a:t>
            </a:r>
            <a:r>
              <a:rPr lang="hu-HU" b="1" dirty="0" err="1" smtClean="0"/>
              <a:t>real</a:t>
            </a:r>
            <a:r>
              <a:rPr lang="hu-HU" b="1" dirty="0" smtClean="0"/>
              <a:t> </a:t>
            </a:r>
            <a:r>
              <a:rPr lang="hu-HU" b="1" dirty="0" err="1" smtClean="0"/>
              <a:t>number</a:t>
            </a:r>
            <a:r>
              <a:rPr lang="hu-HU" b="1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doing</a:t>
            </a:r>
            <a:r>
              <a:rPr lang="hu-HU" dirty="0" smtClean="0"/>
              <a:t> </a:t>
            </a:r>
            <a:r>
              <a:rPr lang="hu-HU" dirty="0" err="1" smtClean="0"/>
              <a:t>binary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single</a:t>
            </a:r>
            <a:r>
              <a:rPr lang="hu-HU" dirty="0" smtClean="0"/>
              <a:t> </a:t>
            </a:r>
            <a:r>
              <a:rPr lang="hu-HU" b="1" dirty="0" err="1" smtClean="0"/>
              <a:t>real-valued</a:t>
            </a:r>
            <a:r>
              <a:rPr lang="hu-HU" b="1" dirty="0" smtClean="0"/>
              <a:t> </a:t>
            </a:r>
            <a:r>
              <a:rPr lang="hu-HU" b="1" i="1" dirty="0" err="1" smtClean="0"/>
              <a:t>k</a:t>
            </a:r>
            <a:r>
              <a:rPr lang="hu-HU" b="1" dirty="0" err="1" smtClean="0"/>
              <a:t>-dimensional</a:t>
            </a:r>
            <a:r>
              <a:rPr lang="hu-HU" b="1" dirty="0" smtClean="0"/>
              <a:t> </a:t>
            </a:r>
            <a:r>
              <a:rPr lang="hu-HU" b="1" dirty="0" err="1" smtClean="0"/>
              <a:t>numeric</a:t>
            </a:r>
            <a:r>
              <a:rPr lang="hu-HU" b="1" dirty="0" smtClean="0"/>
              <a:t> </a:t>
            </a:r>
            <a:r>
              <a:rPr lang="hu-HU" b="1" dirty="0" err="1" smtClean="0"/>
              <a:t>vector</a:t>
            </a:r>
            <a:r>
              <a:rPr lang="hu-HU" b="1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i="1" dirty="0" smtClean="0"/>
              <a:t>k </a:t>
            </a:r>
            <a:r>
              <a:rPr lang="hu-HU" dirty="0" err="1" smtClean="0"/>
              <a:t>classes</a:t>
            </a:r>
            <a:endParaRPr lang="hu-HU" dirty="0" smtClean="0"/>
          </a:p>
          <a:p>
            <a:pPr lvl="2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numeric</a:t>
            </a:r>
            <a:r>
              <a:rPr lang="hu-HU" dirty="0" smtClean="0"/>
              <a:t> </a:t>
            </a:r>
            <a:r>
              <a:rPr lang="hu-HU" dirty="0" err="1" smtClean="0"/>
              <a:t>values</a:t>
            </a:r>
            <a:r>
              <a:rPr lang="hu-HU" dirty="0" smtClean="0"/>
              <a:t>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fall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0 and 1, and </a:t>
            </a:r>
            <a:r>
              <a:rPr lang="hu-HU" b="1" dirty="0" err="1" smtClean="0"/>
              <a:t>can</a:t>
            </a:r>
            <a:r>
              <a:rPr lang="hu-HU" b="1" dirty="0" smtClean="0"/>
              <a:t> be </a:t>
            </a:r>
            <a:r>
              <a:rPr lang="hu-HU" b="1" dirty="0" err="1" smtClean="0"/>
              <a:t>interpreted</a:t>
            </a:r>
            <a:r>
              <a:rPr lang="hu-HU" b="1" dirty="0" smtClean="0"/>
              <a:t> </a:t>
            </a:r>
            <a:r>
              <a:rPr lang="hu-HU" b="1" dirty="0" err="1" smtClean="0"/>
              <a:t>as</a:t>
            </a:r>
            <a:r>
              <a:rPr lang="hu-HU" b="1" dirty="0" smtClean="0"/>
              <a:t> a </a:t>
            </a:r>
            <a:r>
              <a:rPr lang="hu-HU" b="1" dirty="0" err="1" smtClean="0"/>
              <a:t>probability</a:t>
            </a:r>
            <a:r>
              <a:rPr lang="hu-HU" b="1" dirty="0" smtClean="0"/>
              <a:t> </a:t>
            </a:r>
            <a:r>
              <a:rPr lang="hu-HU" b="1" dirty="0" err="1" smtClean="0"/>
              <a:t>or</a:t>
            </a:r>
            <a:r>
              <a:rPr lang="hu-HU" b="1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confidence</a:t>
            </a:r>
            <a:r>
              <a:rPr lang="hu-HU" b="1" dirty="0" smtClean="0"/>
              <a:t> </a:t>
            </a:r>
            <a:r>
              <a:rPr lang="hu-HU" b="1" dirty="0" err="1" smtClean="0"/>
              <a:t>score</a:t>
            </a:r>
            <a:r>
              <a:rPr lang="hu-HU" b="1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expresses</a:t>
            </a:r>
            <a:r>
              <a:rPr lang="hu-HU" dirty="0" smtClean="0"/>
              <a:t> </a:t>
            </a:r>
            <a:r>
              <a:rPr lang="hu-HU" dirty="0" err="1" smtClean="0"/>
              <a:t>how</a:t>
            </a:r>
            <a:r>
              <a:rPr lang="hu-HU" dirty="0" smtClean="0"/>
              <a:t> </a:t>
            </a:r>
            <a:r>
              <a:rPr lang="hu-HU" dirty="0" err="1" smtClean="0"/>
              <a:t>confident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is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assigning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</a:t>
            </a:r>
          </a:p>
          <a:p>
            <a:pPr lvl="1"/>
            <a:r>
              <a:rPr lang="hu-HU" dirty="0" smtClean="0"/>
              <a:t>a </a:t>
            </a:r>
            <a:r>
              <a:rPr lang="hu-HU" dirty="0" err="1" smtClean="0"/>
              <a:t>generative</a:t>
            </a:r>
            <a:r>
              <a:rPr lang="hu-HU" dirty="0" smtClean="0"/>
              <a:t> LM </a:t>
            </a:r>
            <a:r>
              <a:rPr lang="hu-HU" b="1" dirty="0" err="1" smtClean="0"/>
              <a:t>never</a:t>
            </a:r>
            <a:r>
              <a:rPr lang="hu-HU" b="1" dirty="0" smtClean="0"/>
              <a:t> </a:t>
            </a:r>
            <a:r>
              <a:rPr lang="hu-HU" b="1" dirty="0" err="1" smtClean="0"/>
              <a:t>calculates</a:t>
            </a:r>
            <a:r>
              <a:rPr lang="hu-HU" b="1" dirty="0" smtClean="0"/>
              <a:t> a </a:t>
            </a:r>
            <a:r>
              <a:rPr lang="hu-HU" b="1" dirty="0" err="1" smtClean="0"/>
              <a:t>label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b="1" dirty="0" err="1" smtClean="0"/>
              <a:t>generates</a:t>
            </a:r>
            <a:r>
              <a:rPr lang="hu-HU" b="1" dirty="0" smtClean="0"/>
              <a:t> </a:t>
            </a:r>
            <a:r>
              <a:rPr lang="hu-HU" b="1" dirty="0" err="1" smtClean="0"/>
              <a:t>free-form</a:t>
            </a:r>
            <a:r>
              <a:rPr lang="hu-HU" b="1" dirty="0" smtClean="0"/>
              <a:t> text</a:t>
            </a:r>
            <a:r>
              <a:rPr lang="hu-HU" dirty="0" smtClean="0"/>
              <a:t>, and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smtClean="0"/>
              <a:t>no </a:t>
            </a:r>
            <a:r>
              <a:rPr lang="hu-HU" b="1" dirty="0" err="1" smtClean="0"/>
              <a:t>guarantee</a:t>
            </a:r>
            <a:r>
              <a:rPr lang="hu-HU" b="1" dirty="0" smtClean="0"/>
              <a:t> </a:t>
            </a:r>
            <a:r>
              <a:rPr lang="hu-HU" b="1" dirty="0" err="1" smtClean="0"/>
              <a:t>that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text being </a:t>
            </a:r>
            <a:r>
              <a:rPr lang="hu-HU" b="1" dirty="0" err="1" smtClean="0"/>
              <a:t>generated</a:t>
            </a:r>
            <a:r>
              <a:rPr lang="hu-HU" b="1" dirty="0" smtClean="0"/>
              <a:t> </a:t>
            </a:r>
            <a:r>
              <a:rPr lang="hu-HU" b="1" dirty="0" err="1" smtClean="0"/>
              <a:t>contains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solution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class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endParaRPr lang="hu-HU" dirty="0" smtClean="0"/>
          </a:p>
          <a:p>
            <a:pPr lvl="2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answer</a:t>
            </a:r>
            <a:r>
              <a:rPr lang="hu-HU" dirty="0" smtClean="0"/>
              <a:t> </a:t>
            </a:r>
            <a:r>
              <a:rPr lang="hu-HU" b="1" dirty="0" err="1" smtClean="0"/>
              <a:t>might</a:t>
            </a:r>
            <a:r>
              <a:rPr lang="hu-HU" dirty="0" smtClean="0"/>
              <a:t> </a:t>
            </a:r>
            <a:r>
              <a:rPr lang="hu-HU" dirty="0" err="1" smtClean="0"/>
              <a:t>contain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class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somewhere</a:t>
            </a:r>
            <a:r>
              <a:rPr lang="hu-HU" dirty="0" smtClean="0"/>
              <a:t> </a:t>
            </a:r>
            <a:r>
              <a:rPr lang="hu-HU" b="1" dirty="0" err="1" smtClean="0"/>
              <a:t>along</a:t>
            </a:r>
            <a:r>
              <a:rPr lang="hu-HU" b="1" dirty="0" smtClean="0"/>
              <a:t> </a:t>
            </a:r>
            <a:r>
              <a:rPr lang="hu-HU" b="1" dirty="0" err="1" smtClean="0"/>
              <a:t>with</a:t>
            </a:r>
            <a:r>
              <a:rPr lang="hu-HU" b="1" dirty="0" smtClean="0"/>
              <a:t> </a:t>
            </a:r>
            <a:r>
              <a:rPr lang="hu-HU" b="1" dirty="0" err="1" smtClean="0"/>
              <a:t>other</a:t>
            </a:r>
            <a:r>
              <a:rPr lang="hu-HU" b="1" dirty="0" smtClean="0"/>
              <a:t> </a:t>
            </a:r>
            <a:r>
              <a:rPr lang="hu-HU" b="1" dirty="0" err="1" smtClean="0"/>
              <a:t>junk</a:t>
            </a:r>
            <a:r>
              <a:rPr lang="hu-HU" b="1" dirty="0" smtClean="0"/>
              <a:t> </a:t>
            </a:r>
            <a:r>
              <a:rPr lang="hu-HU" i="1" dirty="0" smtClean="0"/>
              <a:t>(Of </a:t>
            </a:r>
            <a:r>
              <a:rPr lang="hu-HU" i="1" dirty="0" err="1" smtClean="0"/>
              <a:t>course</a:t>
            </a:r>
            <a:r>
              <a:rPr lang="hu-HU" i="1" dirty="0" smtClean="0"/>
              <a:t>. I </a:t>
            </a:r>
            <a:r>
              <a:rPr lang="hu-HU" i="1" dirty="0" err="1" smtClean="0"/>
              <a:t>will</a:t>
            </a:r>
            <a:r>
              <a:rPr lang="hu-HU" i="1" dirty="0" smtClean="0"/>
              <a:t> </a:t>
            </a:r>
            <a:r>
              <a:rPr lang="hu-HU" i="1" dirty="0" err="1" smtClean="0"/>
              <a:t>gladly</a:t>
            </a:r>
            <a:r>
              <a:rPr lang="hu-HU" i="1" dirty="0" smtClean="0"/>
              <a:t> </a:t>
            </a:r>
            <a:r>
              <a:rPr lang="hu-HU" i="1" dirty="0" err="1" smtClean="0"/>
              <a:t>help</a:t>
            </a:r>
            <a:r>
              <a:rPr lang="hu-HU" i="1" dirty="0" smtClean="0"/>
              <a:t> </a:t>
            </a:r>
            <a:r>
              <a:rPr lang="hu-HU" i="1" dirty="0" err="1" smtClean="0"/>
              <a:t>you</a:t>
            </a:r>
            <a:r>
              <a:rPr lang="hu-HU" i="1" dirty="0" smtClean="0"/>
              <a:t> </a:t>
            </a:r>
            <a:r>
              <a:rPr lang="hu-HU" i="1" dirty="0" err="1" smtClean="0"/>
              <a:t>with</a:t>
            </a:r>
            <a:r>
              <a:rPr lang="hu-HU" i="1" dirty="0" smtClean="0"/>
              <a:t> </a:t>
            </a:r>
            <a:r>
              <a:rPr lang="hu-HU" i="1" dirty="0" err="1" smtClean="0"/>
              <a:t>this</a:t>
            </a:r>
            <a:r>
              <a:rPr lang="hu-HU" i="1" dirty="0" smtClean="0"/>
              <a:t>. The </a:t>
            </a:r>
            <a:r>
              <a:rPr lang="hu-HU" i="1" dirty="0" err="1" smtClean="0"/>
              <a:t>sentence</a:t>
            </a:r>
            <a:r>
              <a:rPr lang="hu-HU" i="1" dirty="0" smtClean="0"/>
              <a:t> ... </a:t>
            </a:r>
            <a:r>
              <a:rPr lang="hu-HU" i="1" dirty="0" err="1" smtClean="0"/>
              <a:t>expresses</a:t>
            </a:r>
            <a:r>
              <a:rPr lang="hu-HU" i="1" dirty="0" smtClean="0"/>
              <a:t> a </a:t>
            </a:r>
            <a:r>
              <a:rPr lang="hu-HU" i="1" u="sng" dirty="0" err="1" smtClean="0"/>
              <a:t>positive</a:t>
            </a:r>
            <a:r>
              <a:rPr lang="hu-HU" i="1" dirty="0" smtClean="0"/>
              <a:t> </a:t>
            </a:r>
            <a:r>
              <a:rPr lang="hu-HU" i="1" dirty="0" err="1" smtClean="0"/>
              <a:t>sentiment</a:t>
            </a:r>
            <a:r>
              <a:rPr lang="hu-HU" i="1" dirty="0" smtClean="0"/>
              <a:t>.)</a:t>
            </a:r>
          </a:p>
          <a:p>
            <a:pPr lvl="2"/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might</a:t>
            </a:r>
            <a:r>
              <a:rPr lang="hu-HU" dirty="0" smtClean="0"/>
              <a:t> </a:t>
            </a:r>
            <a:r>
              <a:rPr lang="hu-HU" dirty="0" err="1" smtClean="0"/>
              <a:t>contain</a:t>
            </a:r>
            <a:r>
              <a:rPr lang="hu-HU" dirty="0" smtClean="0"/>
              <a:t> a </a:t>
            </a:r>
            <a:r>
              <a:rPr lang="hu-HU" dirty="0" err="1" smtClean="0"/>
              <a:t>solution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problem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b="1" dirty="0" err="1" smtClean="0"/>
              <a:t>phrased</a:t>
            </a:r>
            <a:r>
              <a:rPr lang="hu-HU" b="1" dirty="0" smtClean="0"/>
              <a:t> </a:t>
            </a:r>
            <a:r>
              <a:rPr lang="hu-HU" b="1" dirty="0" err="1" smtClean="0"/>
              <a:t>in</a:t>
            </a:r>
            <a:r>
              <a:rPr lang="hu-HU" b="1" dirty="0" smtClean="0"/>
              <a:t> an </a:t>
            </a:r>
            <a:r>
              <a:rPr lang="hu-HU" b="1" dirty="0" err="1" smtClean="0"/>
              <a:t>unexpected</a:t>
            </a:r>
            <a:r>
              <a:rPr lang="hu-HU" b="1" dirty="0" smtClean="0"/>
              <a:t> </a:t>
            </a:r>
            <a:r>
              <a:rPr lang="hu-HU" b="1" dirty="0" err="1" smtClean="0"/>
              <a:t>way</a:t>
            </a:r>
            <a:r>
              <a:rPr lang="hu-HU" b="1" dirty="0" smtClean="0"/>
              <a:t> </a:t>
            </a:r>
            <a:r>
              <a:rPr lang="hu-HU" i="1" dirty="0" smtClean="0"/>
              <a:t>(The </a:t>
            </a:r>
            <a:r>
              <a:rPr lang="hu-HU" i="1" dirty="0" err="1" smtClean="0"/>
              <a:t>sentence</a:t>
            </a:r>
            <a:r>
              <a:rPr lang="hu-HU" i="1" dirty="0" smtClean="0"/>
              <a:t> </a:t>
            </a:r>
            <a:r>
              <a:rPr lang="hu-HU" i="1" dirty="0" err="1" smtClean="0"/>
              <a:t>expresses</a:t>
            </a:r>
            <a:r>
              <a:rPr lang="hu-HU" i="1" dirty="0" smtClean="0"/>
              <a:t> </a:t>
            </a:r>
            <a:r>
              <a:rPr lang="hu-HU" i="1" dirty="0" err="1" smtClean="0"/>
              <a:t>that</a:t>
            </a:r>
            <a:r>
              <a:rPr lang="hu-HU" i="1" dirty="0" smtClean="0"/>
              <a:t> </a:t>
            </a:r>
            <a:r>
              <a:rPr lang="hu-HU" i="1" dirty="0" err="1" smtClean="0"/>
              <a:t>the</a:t>
            </a:r>
            <a:r>
              <a:rPr lang="hu-HU" i="1" dirty="0" smtClean="0"/>
              <a:t> </a:t>
            </a:r>
            <a:r>
              <a:rPr lang="hu-HU" i="1" dirty="0" err="1" smtClean="0"/>
              <a:t>customer</a:t>
            </a:r>
            <a:r>
              <a:rPr lang="hu-HU" i="1" dirty="0" smtClean="0"/>
              <a:t> is </a:t>
            </a:r>
            <a:r>
              <a:rPr lang="hu-HU" i="1" u="sng" dirty="0" err="1" smtClean="0"/>
              <a:t>pleased</a:t>
            </a:r>
            <a:r>
              <a:rPr lang="hu-HU" i="1" u="sng" dirty="0" smtClean="0"/>
              <a:t> </a:t>
            </a:r>
            <a:r>
              <a:rPr lang="hu-HU" i="1" u="sng" dirty="0" err="1" smtClean="0"/>
              <a:t>with</a:t>
            </a:r>
            <a:r>
              <a:rPr lang="hu-HU" i="1" dirty="0" smtClean="0"/>
              <a:t> </a:t>
            </a:r>
            <a:r>
              <a:rPr lang="hu-HU" i="1" dirty="0" err="1" smtClean="0"/>
              <a:t>the</a:t>
            </a:r>
            <a:r>
              <a:rPr lang="hu-HU" i="1" dirty="0" smtClean="0"/>
              <a:t> </a:t>
            </a:r>
            <a:r>
              <a:rPr lang="hu-HU" i="1" dirty="0" err="1" smtClean="0"/>
              <a:t>product</a:t>
            </a:r>
            <a:r>
              <a:rPr lang="hu-HU" i="1" dirty="0" smtClean="0"/>
              <a:t>.)</a:t>
            </a:r>
          </a:p>
          <a:p>
            <a:pPr lvl="2"/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might</a:t>
            </a:r>
            <a:r>
              <a:rPr lang="hu-HU" dirty="0" smtClean="0"/>
              <a:t> </a:t>
            </a:r>
            <a:r>
              <a:rPr lang="hu-HU" b="1" dirty="0" err="1" smtClean="0"/>
              <a:t>not</a:t>
            </a:r>
            <a:r>
              <a:rPr lang="hu-HU" b="1" dirty="0" smtClean="0"/>
              <a:t> </a:t>
            </a:r>
            <a:r>
              <a:rPr lang="hu-HU" b="1" dirty="0" err="1" smtClean="0"/>
              <a:t>contain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solution</a:t>
            </a:r>
            <a:r>
              <a:rPr lang="hu-HU" b="1" dirty="0" smtClean="0"/>
              <a:t> </a:t>
            </a:r>
            <a:r>
              <a:rPr lang="hu-HU" b="1" dirty="0" err="1" smtClean="0"/>
              <a:t>at</a:t>
            </a:r>
            <a:r>
              <a:rPr lang="hu-HU" b="1" dirty="0" smtClean="0"/>
              <a:t> </a:t>
            </a:r>
            <a:r>
              <a:rPr lang="hu-HU" b="1" dirty="0" err="1" smtClean="0"/>
              <a:t>all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unrelated</a:t>
            </a:r>
            <a:r>
              <a:rPr lang="hu-HU" dirty="0" smtClean="0"/>
              <a:t> </a:t>
            </a:r>
            <a:r>
              <a:rPr lang="hu-HU" dirty="0" err="1" smtClean="0"/>
              <a:t>useless</a:t>
            </a:r>
            <a:r>
              <a:rPr lang="hu-HU" dirty="0" smtClean="0"/>
              <a:t> output</a:t>
            </a:r>
          </a:p>
          <a:p>
            <a:pPr lvl="2"/>
            <a:r>
              <a:rPr lang="hu-HU" b="1" dirty="0" err="1" smtClean="0"/>
              <a:t>Confidence</a:t>
            </a:r>
            <a:r>
              <a:rPr lang="hu-HU" b="1" dirty="0" smtClean="0"/>
              <a:t> is </a:t>
            </a:r>
            <a:r>
              <a:rPr lang="hu-HU" b="1" dirty="0" err="1" smtClean="0"/>
              <a:t>not</a:t>
            </a:r>
            <a:r>
              <a:rPr lang="hu-HU" b="1" dirty="0" smtClean="0"/>
              <a:t> </a:t>
            </a:r>
            <a:r>
              <a:rPr lang="hu-HU" b="1" dirty="0" err="1" smtClean="0"/>
              <a:t>interpretable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LMs</a:t>
            </a:r>
            <a:r>
              <a:rPr lang="hu-HU" dirty="0" smtClean="0"/>
              <a:t>,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cannot</a:t>
            </a:r>
            <a:r>
              <a:rPr lang="hu-HU" dirty="0" smtClean="0"/>
              <a:t> filter out </a:t>
            </a:r>
            <a:r>
              <a:rPr lang="hu-HU" dirty="0" err="1" smtClean="0"/>
              <a:t>low-confidence</a:t>
            </a:r>
            <a:r>
              <a:rPr lang="hu-HU" dirty="0" smtClean="0"/>
              <a:t> </a:t>
            </a:r>
            <a:r>
              <a:rPr lang="hu-HU" dirty="0" err="1" smtClean="0"/>
              <a:t>responses</a:t>
            </a:r>
            <a:endParaRPr lang="hu-HU" dirty="0" smtClean="0"/>
          </a:p>
          <a:p>
            <a:pPr lvl="1"/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hu-HU" b="1" dirty="0" err="1" smtClean="0"/>
              <a:t>in</a:t>
            </a:r>
            <a:r>
              <a:rPr lang="hu-HU" b="1" dirty="0" smtClean="0"/>
              <a:t> </a:t>
            </a:r>
            <a:r>
              <a:rPr lang="hu-HU" b="1" dirty="0" err="1" smtClean="0"/>
              <a:t>practice</a:t>
            </a:r>
            <a:r>
              <a:rPr lang="hu-HU" dirty="0" smtClean="0"/>
              <a:t>,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generative</a:t>
            </a:r>
            <a:r>
              <a:rPr lang="hu-HU" dirty="0" smtClean="0"/>
              <a:t> LM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solve</a:t>
            </a:r>
            <a:r>
              <a:rPr lang="hu-HU" dirty="0" smtClean="0"/>
              <a:t> an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give</a:t>
            </a:r>
            <a:r>
              <a:rPr lang="hu-HU" dirty="0" smtClean="0"/>
              <a:t> </a:t>
            </a:r>
            <a:r>
              <a:rPr lang="hu-HU" dirty="0" err="1" smtClean="0"/>
              <a:t>yourself</a:t>
            </a:r>
            <a:r>
              <a:rPr lang="hu-HU" dirty="0" smtClean="0"/>
              <a:t> a </a:t>
            </a:r>
            <a:r>
              <a:rPr lang="hu-HU" b="1" dirty="0" err="1" smtClean="0"/>
              <a:t>second</a:t>
            </a:r>
            <a:r>
              <a:rPr lang="hu-HU" b="1" dirty="0" smtClean="0"/>
              <a:t> </a:t>
            </a:r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task</a:t>
            </a:r>
            <a:r>
              <a:rPr lang="hu-HU" b="1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consists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extracting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useful</a:t>
            </a:r>
            <a:r>
              <a:rPr lang="hu-HU" dirty="0" smtClean="0"/>
              <a:t> </a:t>
            </a:r>
            <a:r>
              <a:rPr lang="hu-HU" dirty="0" err="1" smtClean="0"/>
              <a:t>information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response</a:t>
            </a:r>
            <a:r>
              <a:rPr lang="hu-HU" dirty="0" smtClean="0"/>
              <a:t> </a:t>
            </a:r>
            <a:r>
              <a:rPr lang="hu-HU" dirty="0" err="1" smtClean="0"/>
              <a:t>generated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, and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is </a:t>
            </a:r>
            <a:r>
              <a:rPr lang="hu-HU" dirty="0" err="1" smtClean="0"/>
              <a:t>usually</a:t>
            </a:r>
            <a:r>
              <a:rPr lang="hu-HU" dirty="0" smtClean="0"/>
              <a:t> no less </a:t>
            </a:r>
            <a:r>
              <a:rPr lang="hu-HU" dirty="0" err="1" smtClean="0"/>
              <a:t>difficult</a:t>
            </a:r>
            <a:r>
              <a:rPr lang="hu-HU" dirty="0"/>
              <a:t>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23609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/>
              <a:t>Generative</a:t>
            </a:r>
            <a:r>
              <a:rPr lang="hu-HU" sz="3200" dirty="0"/>
              <a:t> </a:t>
            </a:r>
            <a:r>
              <a:rPr lang="hu-HU" sz="3200" dirty="0" err="1"/>
              <a:t>AI</a:t>
            </a:r>
            <a:r>
              <a:rPr lang="hu-HU" sz="3200" dirty="0"/>
              <a:t> versus </a:t>
            </a:r>
            <a:br>
              <a:rPr lang="hu-HU" sz="3200" dirty="0"/>
            </a:br>
            <a:r>
              <a:rPr lang="hu-HU" sz="3200" dirty="0" err="1"/>
              <a:t>Fine-Tuned</a:t>
            </a:r>
            <a:r>
              <a:rPr lang="hu-HU" sz="3200" dirty="0"/>
              <a:t> </a:t>
            </a:r>
            <a:r>
              <a:rPr lang="hu-HU" sz="3200" dirty="0" err="1"/>
              <a:t>Encoder</a:t>
            </a:r>
            <a:r>
              <a:rPr lang="hu-HU" sz="3200" dirty="0"/>
              <a:t> </a:t>
            </a:r>
            <a:r>
              <a:rPr lang="hu-HU" sz="3200" dirty="0" err="1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28800"/>
            <a:ext cx="8229600" cy="4709120"/>
          </a:xfrm>
        </p:spPr>
        <p:txBody>
          <a:bodyPr>
            <a:normAutofit fontScale="70000" lnSpcReduction="20000"/>
          </a:bodyPr>
          <a:lstStyle/>
          <a:p>
            <a:r>
              <a:rPr lang="hu-HU" dirty="0" err="1"/>
              <a:t>Why</a:t>
            </a:r>
            <a:r>
              <a:rPr lang="hu-HU" dirty="0"/>
              <a:t> </a:t>
            </a:r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use</a:t>
            </a:r>
            <a:r>
              <a:rPr lang="hu-HU" dirty="0"/>
              <a:t>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LLMs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all</a:t>
            </a:r>
            <a:r>
              <a:rPr lang="hu-HU" dirty="0"/>
              <a:t> </a:t>
            </a:r>
            <a:r>
              <a:rPr lang="hu-HU" dirty="0" err="1"/>
              <a:t>NLP</a:t>
            </a:r>
            <a:r>
              <a:rPr lang="hu-HU" dirty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?</a:t>
            </a:r>
          </a:p>
          <a:p>
            <a:r>
              <a:rPr lang="hu-HU" dirty="0" err="1" smtClean="0"/>
              <a:t>Reason</a:t>
            </a:r>
            <a:r>
              <a:rPr lang="hu-HU" dirty="0" smtClean="0"/>
              <a:t> 3: </a:t>
            </a:r>
            <a:r>
              <a:rPr lang="hu-HU" b="1" dirty="0" err="1" smtClean="0"/>
              <a:t>costs</a:t>
            </a:r>
            <a:endParaRPr lang="hu-HU" b="1" dirty="0" smtClean="0"/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normally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an </a:t>
            </a:r>
            <a:r>
              <a:rPr lang="hu-HU" dirty="0" err="1" smtClean="0"/>
              <a:t>encoder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your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, </a:t>
            </a:r>
            <a:r>
              <a:rPr lang="hu-HU" dirty="0" err="1" smtClean="0"/>
              <a:t>GPU-equipped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endParaRPr lang="hu-HU" dirty="0" smtClean="0"/>
          </a:p>
          <a:p>
            <a:pPr lvl="1"/>
            <a:r>
              <a:rPr lang="hu-HU" dirty="0" err="1" smtClean="0"/>
              <a:t>Requires</a:t>
            </a:r>
            <a:r>
              <a:rPr lang="hu-HU" dirty="0" smtClean="0"/>
              <a:t> a </a:t>
            </a:r>
            <a:r>
              <a:rPr lang="hu-HU" dirty="0" err="1" smtClean="0"/>
              <a:t>one-time</a:t>
            </a:r>
            <a:r>
              <a:rPr lang="hu-HU" dirty="0" smtClean="0"/>
              <a:t> </a:t>
            </a:r>
            <a:r>
              <a:rPr lang="hu-HU" dirty="0" err="1" smtClean="0"/>
              <a:t>investment</a:t>
            </a:r>
            <a:r>
              <a:rPr lang="hu-HU" dirty="0" smtClean="0"/>
              <a:t>,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buy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computer </a:t>
            </a:r>
            <a:r>
              <a:rPr lang="hu-HU" dirty="0" err="1" smtClean="0"/>
              <a:t>with</a:t>
            </a:r>
            <a:r>
              <a:rPr lang="hu-HU" dirty="0" smtClean="0"/>
              <a:t> a </a:t>
            </a:r>
            <a:r>
              <a:rPr lang="hu-HU" dirty="0" err="1" smtClean="0"/>
              <a:t>GPU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might</a:t>
            </a:r>
            <a:r>
              <a:rPr lang="hu-HU" dirty="0" smtClean="0"/>
              <a:t> </a:t>
            </a:r>
            <a:r>
              <a:rPr lang="hu-HU" dirty="0" err="1" smtClean="0"/>
              <a:t>already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 </a:t>
            </a:r>
            <a:r>
              <a:rPr lang="hu-HU" dirty="0" err="1" smtClean="0"/>
              <a:t>anyway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Electricity</a:t>
            </a:r>
            <a:r>
              <a:rPr lang="hu-HU" dirty="0" smtClean="0"/>
              <a:t> </a:t>
            </a:r>
            <a:r>
              <a:rPr lang="hu-HU" dirty="0" err="1" smtClean="0"/>
              <a:t>costs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generally</a:t>
            </a:r>
            <a:r>
              <a:rPr lang="hu-HU" dirty="0" smtClean="0"/>
              <a:t> </a:t>
            </a:r>
            <a:r>
              <a:rPr lang="hu-HU" dirty="0" err="1" smtClean="0"/>
              <a:t>tolerable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do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run</a:t>
            </a:r>
            <a:r>
              <a:rPr lang="hu-HU" dirty="0" smtClean="0"/>
              <a:t> a </a:t>
            </a:r>
            <a:r>
              <a:rPr lang="hu-HU" dirty="0" err="1" smtClean="0"/>
              <a:t>generative</a:t>
            </a:r>
            <a:r>
              <a:rPr lang="hu-HU" dirty="0" smtClean="0"/>
              <a:t> LM </a:t>
            </a:r>
            <a:r>
              <a:rPr lang="hu-HU" dirty="0" err="1" smtClean="0"/>
              <a:t>generally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your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 hardware</a:t>
            </a:r>
          </a:p>
          <a:p>
            <a:pPr lvl="2"/>
            <a:r>
              <a:rPr lang="hu-HU" dirty="0" err="1"/>
              <a:t>I</a:t>
            </a:r>
            <a:r>
              <a:rPr lang="hu-HU" dirty="0" err="1" smtClean="0"/>
              <a:t>t</a:t>
            </a:r>
            <a:r>
              <a:rPr lang="hu-HU" dirty="0" smtClean="0"/>
              <a:t> </a:t>
            </a:r>
            <a:r>
              <a:rPr lang="hu-HU" b="1" dirty="0" smtClean="0"/>
              <a:t>is </a:t>
            </a:r>
            <a:r>
              <a:rPr lang="hu-HU" dirty="0" err="1" smtClean="0"/>
              <a:t>possible</a:t>
            </a:r>
            <a:r>
              <a:rPr lang="hu-HU" dirty="0" smtClean="0"/>
              <a:t> </a:t>
            </a:r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an </a:t>
            </a:r>
            <a:r>
              <a:rPr lang="hu-HU" b="1" dirty="0" err="1" smtClean="0"/>
              <a:t>open</a:t>
            </a:r>
            <a:r>
              <a:rPr lang="hu-HU" b="1" dirty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Llama</a:t>
            </a:r>
            <a:r>
              <a:rPr lang="hu-HU" dirty="0" smtClean="0"/>
              <a:t>, Gemma, </a:t>
            </a:r>
            <a:r>
              <a:rPr lang="hu-HU" dirty="0" err="1" smtClean="0"/>
              <a:t>Qwen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DeepSeek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requires</a:t>
            </a:r>
            <a:r>
              <a:rPr lang="hu-HU" dirty="0" smtClean="0"/>
              <a:t> </a:t>
            </a:r>
            <a:r>
              <a:rPr lang="hu-HU" dirty="0" err="1" smtClean="0"/>
              <a:t>substantially</a:t>
            </a:r>
            <a:r>
              <a:rPr lang="hu-HU" dirty="0" smtClean="0"/>
              <a:t> more </a:t>
            </a:r>
            <a:r>
              <a:rPr lang="hu-HU" dirty="0" err="1" smtClean="0"/>
              <a:t>GPU</a:t>
            </a:r>
            <a:r>
              <a:rPr lang="hu-HU" dirty="0" smtClean="0"/>
              <a:t> </a:t>
            </a:r>
            <a:r>
              <a:rPr lang="hu-HU" dirty="0" err="1" smtClean="0"/>
              <a:t>capacity</a:t>
            </a:r>
            <a:r>
              <a:rPr lang="hu-HU" dirty="0" smtClean="0"/>
              <a:t> and RAM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running</a:t>
            </a:r>
            <a:r>
              <a:rPr lang="hu-HU" dirty="0" smtClean="0"/>
              <a:t> a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  <a:p>
            <a:pPr lvl="2"/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LMs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run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cloud</a:t>
            </a:r>
            <a:r>
              <a:rPr lang="hu-HU" dirty="0" smtClean="0"/>
              <a:t> </a:t>
            </a:r>
            <a:r>
              <a:rPr lang="hu-HU" dirty="0" err="1" smtClean="0"/>
              <a:t>computing</a:t>
            </a:r>
            <a:r>
              <a:rPr lang="hu-HU" dirty="0" smtClean="0"/>
              <a:t> </a:t>
            </a:r>
            <a:r>
              <a:rPr lang="hu-HU" dirty="0" err="1" smtClean="0"/>
              <a:t>API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platform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AWS</a:t>
            </a:r>
            <a:r>
              <a:rPr lang="hu-HU" dirty="0" smtClean="0"/>
              <a:t>, Microsoft </a:t>
            </a:r>
            <a:r>
              <a:rPr lang="hu-HU" dirty="0" err="1" smtClean="0"/>
              <a:t>Azure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Google</a:t>
            </a:r>
            <a:r>
              <a:rPr lang="hu-HU" dirty="0" smtClean="0"/>
              <a:t> </a:t>
            </a:r>
            <a:r>
              <a:rPr lang="hu-HU" dirty="0" err="1" smtClean="0"/>
              <a:t>Cloud</a:t>
            </a:r>
            <a:endParaRPr lang="hu-HU" dirty="0" smtClean="0"/>
          </a:p>
          <a:p>
            <a:pPr lvl="2"/>
            <a:r>
              <a:rPr lang="hu-HU" dirty="0" err="1" smtClean="0"/>
              <a:t>Running</a:t>
            </a:r>
            <a:r>
              <a:rPr lang="hu-HU" dirty="0" smtClean="0"/>
              <a:t> a </a:t>
            </a:r>
            <a:r>
              <a:rPr lang="hu-HU" b="1" dirty="0" err="1" smtClean="0"/>
              <a:t>single</a:t>
            </a:r>
            <a:r>
              <a:rPr lang="hu-HU" b="1" dirty="0" smtClean="0"/>
              <a:t> </a:t>
            </a:r>
            <a:r>
              <a:rPr lang="hu-HU" b="1" dirty="0" err="1" smtClean="0"/>
              <a:t>request</a:t>
            </a:r>
            <a:r>
              <a:rPr lang="hu-HU" b="1" dirty="0" smtClean="0"/>
              <a:t> </a:t>
            </a:r>
            <a:r>
              <a:rPr lang="hu-HU" b="1" dirty="0" err="1" smtClean="0"/>
              <a:t>costs</a:t>
            </a:r>
            <a:r>
              <a:rPr lang="hu-HU" b="1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fraction</a:t>
            </a:r>
            <a:r>
              <a:rPr lang="hu-HU" b="1" dirty="0" smtClean="0"/>
              <a:t> of a cent</a:t>
            </a:r>
            <a:r>
              <a:rPr lang="hu-HU" dirty="0" smtClean="0"/>
              <a:t>.</a:t>
            </a:r>
          </a:p>
          <a:p>
            <a:pPr lvl="3"/>
            <a:r>
              <a:rPr lang="hu-HU" dirty="0" err="1"/>
              <a:t>R</a:t>
            </a:r>
            <a:r>
              <a:rPr lang="hu-HU" dirty="0" err="1" smtClean="0"/>
              <a:t>equests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cloud-hosted</a:t>
            </a:r>
            <a:r>
              <a:rPr lang="hu-HU" dirty="0" smtClean="0"/>
              <a:t> </a:t>
            </a:r>
            <a:r>
              <a:rPr lang="hu-HU" dirty="0" err="1" smtClean="0"/>
              <a:t>LLM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Gemini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GPT-5 </a:t>
            </a:r>
            <a:r>
              <a:rPr lang="hu-HU" dirty="0" err="1" smtClean="0"/>
              <a:t>cost</a:t>
            </a:r>
            <a:r>
              <a:rPr lang="hu-HU" dirty="0" smtClean="0"/>
              <a:t> </a:t>
            </a:r>
            <a:r>
              <a:rPr lang="hu-HU" dirty="0" err="1" smtClean="0"/>
              <a:t>roughly</a:t>
            </a:r>
            <a:r>
              <a:rPr lang="hu-HU" dirty="0" smtClean="0"/>
              <a:t> </a:t>
            </a:r>
            <a:r>
              <a:rPr lang="hu-HU" b="1" dirty="0" smtClean="0"/>
              <a:t>1 </a:t>
            </a:r>
            <a:r>
              <a:rPr lang="hu-HU" b="1" dirty="0" err="1" smtClean="0"/>
              <a:t>dollar</a:t>
            </a:r>
            <a:r>
              <a:rPr lang="hu-HU" b="1" dirty="0" smtClean="0"/>
              <a:t> per 1 </a:t>
            </a:r>
            <a:r>
              <a:rPr lang="hu-HU" b="1" dirty="0" err="1" smtClean="0"/>
              <a:t>million</a:t>
            </a:r>
            <a:r>
              <a:rPr lang="hu-HU" b="1" dirty="0" smtClean="0"/>
              <a:t> input </a:t>
            </a:r>
            <a:r>
              <a:rPr lang="hu-HU" b="1" dirty="0" err="1" smtClean="0"/>
              <a:t>tokens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smtClean="0"/>
              <a:t>10 </a:t>
            </a:r>
            <a:r>
              <a:rPr lang="hu-HU" b="1" dirty="0" err="1" smtClean="0"/>
              <a:t>dollars</a:t>
            </a:r>
            <a:r>
              <a:rPr lang="hu-HU" b="1" dirty="0" smtClean="0"/>
              <a:t> per 1M output </a:t>
            </a:r>
            <a:r>
              <a:rPr lang="hu-HU" b="1" dirty="0" err="1" smtClean="0"/>
              <a:t>tokens</a:t>
            </a:r>
            <a:endParaRPr lang="hu-HU" b="1" dirty="0" smtClean="0"/>
          </a:p>
          <a:p>
            <a:pPr lvl="2"/>
            <a:r>
              <a:rPr lang="hu-HU" dirty="0" err="1" smtClean="0"/>
              <a:t>However</a:t>
            </a:r>
            <a:r>
              <a:rPr lang="hu-HU" dirty="0" smtClean="0"/>
              <a:t>,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multiplies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quickly</a:t>
            </a:r>
            <a:r>
              <a:rPr lang="hu-HU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LLMs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jobs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production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42961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3574</TotalTime>
  <Words>3623</Words>
  <Application>Microsoft Office PowerPoint</Application>
  <PresentationFormat>Diavetítés a képernyőre (4:3 oldalarány)</PresentationFormat>
  <Paragraphs>219</Paragraphs>
  <Slides>20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1" baseType="lpstr">
      <vt:lpstr>Office-téma</vt:lpstr>
      <vt:lpstr>Natural Language Processing BERT and Encoder Transformers</vt:lpstr>
      <vt:lpstr>Transformer</vt:lpstr>
      <vt:lpstr>How Do Transformers Work?</vt:lpstr>
      <vt:lpstr>Performance Characteristics</vt:lpstr>
      <vt:lpstr>Performance Characteristics</vt:lpstr>
      <vt:lpstr>Neural Language Models</vt:lpstr>
      <vt:lpstr>BERT</vt:lpstr>
      <vt:lpstr>BERT</vt:lpstr>
      <vt:lpstr>BERT Family</vt:lpstr>
      <vt:lpstr>Hugging Face Transformers</vt:lpstr>
      <vt:lpstr>Learning About HF Transformers</vt:lpstr>
      <vt:lpstr>Masked Language Modelling</vt:lpstr>
      <vt:lpstr>Tokeniser</vt:lpstr>
      <vt:lpstr>Transfer Learning</vt:lpstr>
      <vt:lpstr>Transformer Pipelines</vt:lpstr>
      <vt:lpstr>Transformer Pipelines</vt:lpstr>
      <vt:lpstr>Transformer Pipelines</vt:lpstr>
      <vt:lpstr>Generative AI versus  Fine-Tuned Encoder Transformers</vt:lpstr>
      <vt:lpstr>Generative AI versus  Fine-Tuned Encoder Transformers</vt:lpstr>
      <vt:lpstr>Generative AI versus  Fine-Tuned Encoder Transformers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Natural Language Processing BERT and Encoder Transformers</dc:title>
  <dc:creator>Anonim</dc:creator>
  <cp:lastModifiedBy>Anonim</cp:lastModifiedBy>
  <cp:revision>52</cp:revision>
  <dcterms:created xsi:type="dcterms:W3CDTF">2025-11-30T11:42:17Z</dcterms:created>
  <dcterms:modified xsi:type="dcterms:W3CDTF">2025-12-09T12:25:49Z</dcterms:modified>
</cp:coreProperties>
</file>