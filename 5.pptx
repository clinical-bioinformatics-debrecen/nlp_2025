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53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85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04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19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36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9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7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37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0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28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123A9-4BAC-4722-82C0-8C25A20A8423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9229A-7B48-477D-8AA5-1E4D44823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34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Processing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err="1" smtClean="0"/>
              <a:t>Probabilistic</a:t>
            </a:r>
            <a:r>
              <a:rPr lang="hu-HU" sz="3200" i="1" dirty="0" smtClean="0"/>
              <a:t> </a:t>
            </a:r>
            <a:r>
              <a:rPr lang="hu-HU" sz="3200" i="1" dirty="0" err="1" smtClean="0"/>
              <a:t>Language</a:t>
            </a:r>
            <a:r>
              <a:rPr lang="hu-HU" sz="3200" i="1" dirty="0" smtClean="0"/>
              <a:t> Modelling</a:t>
            </a:r>
            <a:endParaRPr lang="en-GB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Pethő Gergely</a:t>
            </a:r>
          </a:p>
          <a:p>
            <a:r>
              <a:rPr lang="hu-HU" dirty="0" smtClean="0"/>
              <a:t>November 11, 2025</a:t>
            </a:r>
          </a:p>
          <a:p>
            <a:r>
              <a:rPr lang="hu-HU" dirty="0" err="1" smtClean="0"/>
              <a:t>UD</a:t>
            </a:r>
            <a:r>
              <a:rPr lang="hu-HU" dirty="0" smtClean="0"/>
              <a:t> </a:t>
            </a:r>
            <a:r>
              <a:rPr lang="hu-HU" dirty="0" err="1" smtClean="0"/>
              <a:t>Faculty</a:t>
            </a:r>
            <a:r>
              <a:rPr lang="hu-HU" dirty="0" smtClean="0"/>
              <a:t> of Health Science,</a:t>
            </a:r>
          </a:p>
          <a:p>
            <a:r>
              <a:rPr lang="hu-HU" dirty="0" err="1" smtClean="0"/>
              <a:t>Department</a:t>
            </a:r>
            <a:r>
              <a:rPr lang="hu-HU" dirty="0" smtClean="0"/>
              <a:t> of </a:t>
            </a:r>
            <a:r>
              <a:rPr lang="hu-HU" dirty="0" err="1" smtClean="0"/>
              <a:t>Bioinformatics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0370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Problem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approximate</a:t>
            </a:r>
            <a:r>
              <a:rPr lang="hu-HU" dirty="0" smtClean="0"/>
              <a:t> </a:t>
            </a:r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computer?</a:t>
            </a:r>
          </a:p>
          <a:p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formal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dirty="0" err="1" smtClean="0"/>
              <a:t>programming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, and </a:t>
            </a:r>
            <a:r>
              <a:rPr lang="hu-HU" dirty="0" err="1" smtClean="0"/>
              <a:t>define</a:t>
            </a:r>
            <a:r>
              <a:rPr lang="hu-HU" dirty="0" smtClean="0"/>
              <a:t> a </a:t>
            </a:r>
            <a:r>
              <a:rPr lang="hu-HU" dirty="0" err="1" smtClean="0"/>
              <a:t>grammar</a:t>
            </a:r>
            <a:r>
              <a:rPr lang="hu-HU" dirty="0" smtClean="0"/>
              <a:t> (</a:t>
            </a:r>
            <a:r>
              <a:rPr lang="hu-HU" dirty="0" err="1" smtClean="0"/>
              <a:t>syntax</a:t>
            </a:r>
            <a:r>
              <a:rPr lang="hu-HU" dirty="0" smtClean="0"/>
              <a:t>)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Compiler</a:t>
            </a:r>
            <a:r>
              <a:rPr lang="hu-HU" dirty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of </a:t>
            </a:r>
            <a:r>
              <a:rPr lang="hu-HU" dirty="0" err="1" smtClean="0"/>
              <a:t>NLP</a:t>
            </a:r>
            <a:endParaRPr lang="hu-HU" dirty="0" smtClean="0"/>
          </a:p>
          <a:p>
            <a:r>
              <a:rPr lang="hu-HU" dirty="0" smtClean="0"/>
              <a:t>An </a:t>
            </a:r>
            <a:r>
              <a:rPr lang="hu-HU" dirty="0" err="1" smtClean="0"/>
              <a:t>alternative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has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considered</a:t>
            </a:r>
            <a:r>
              <a:rPr lang="hu-HU" dirty="0" smtClean="0"/>
              <a:t>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beginning</a:t>
            </a:r>
            <a:r>
              <a:rPr lang="hu-HU" dirty="0" smtClean="0"/>
              <a:t> of </a:t>
            </a:r>
            <a:r>
              <a:rPr lang="hu-HU" dirty="0" err="1" smtClean="0"/>
              <a:t>NLP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mid-20th </a:t>
            </a:r>
            <a:r>
              <a:rPr lang="hu-HU" dirty="0" err="1" smtClean="0"/>
              <a:t>century</a:t>
            </a:r>
            <a:r>
              <a:rPr lang="hu-HU" dirty="0" smtClean="0"/>
              <a:t>,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treat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 and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sequences</a:t>
            </a:r>
            <a:r>
              <a:rPr lang="hu-HU" dirty="0" smtClean="0"/>
              <a:t> of random </a:t>
            </a:r>
            <a:r>
              <a:rPr lang="hu-HU" dirty="0" err="1" smtClean="0"/>
              <a:t>events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(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rather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production</a:t>
            </a:r>
            <a:r>
              <a:rPr lang="hu-HU" dirty="0" smtClean="0"/>
              <a:t> of </a:t>
            </a:r>
            <a:r>
              <a:rPr lang="hu-HU" dirty="0" err="1" smtClean="0"/>
              <a:t>one</a:t>
            </a:r>
            <a:r>
              <a:rPr lang="hu-HU" dirty="0" smtClean="0"/>
              <a:t>) is </a:t>
            </a:r>
            <a:r>
              <a:rPr lang="hu-HU" dirty="0" err="1" smtClean="0"/>
              <a:t>such</a:t>
            </a:r>
            <a:r>
              <a:rPr lang="hu-HU" dirty="0" smtClean="0"/>
              <a:t> an </a:t>
            </a:r>
            <a:r>
              <a:rPr lang="hu-HU" dirty="0" err="1" smtClean="0"/>
              <a:t>event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production</a:t>
            </a:r>
            <a:r>
              <a:rPr lang="hu-HU" dirty="0" smtClean="0"/>
              <a:t> is a </a:t>
            </a:r>
            <a:r>
              <a:rPr lang="hu-HU" dirty="0" err="1" smtClean="0"/>
              <a:t>stochastic</a:t>
            </a:r>
            <a:r>
              <a:rPr lang="hu-HU" dirty="0" smtClean="0"/>
              <a:t> </a:t>
            </a:r>
            <a:r>
              <a:rPr lang="hu-HU" dirty="0" err="1" smtClean="0"/>
              <a:t>process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99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/>
              <a:t>S</a:t>
            </a:r>
            <a:r>
              <a:rPr lang="hu-HU" dirty="0" err="1" smtClean="0"/>
              <a:t>tochastic</a:t>
            </a:r>
            <a:r>
              <a:rPr lang="hu-HU" dirty="0" smtClean="0"/>
              <a:t> </a:t>
            </a:r>
            <a:r>
              <a:rPr lang="hu-HU" dirty="0" err="1"/>
              <a:t>P</a:t>
            </a:r>
            <a:r>
              <a:rPr lang="hu-HU" dirty="0" err="1" smtClean="0"/>
              <a:t>rocess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stochastic process</a:t>
            </a:r>
            <a:r>
              <a:rPr lang="en-GB" dirty="0" smtClean="0"/>
              <a:t> is a </a:t>
            </a:r>
            <a:r>
              <a:rPr lang="en-GB" b="1" dirty="0" smtClean="0"/>
              <a:t>collection of random variables</a:t>
            </a:r>
            <a:r>
              <a:rPr lang="en-GB" dirty="0" smtClean="0"/>
              <a:t> that represents how a system evolves over time in a way that involves randomness or uncertainty.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mathematical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random </a:t>
            </a:r>
            <a:r>
              <a:rPr lang="hu-HU" dirty="0" err="1" smtClean="0"/>
              <a:t>phenomena</a:t>
            </a:r>
            <a:r>
              <a:rPr lang="hu-HU" dirty="0" smtClean="0"/>
              <a:t> </a:t>
            </a:r>
            <a:r>
              <a:rPr lang="hu-HU" dirty="0" err="1" smtClean="0"/>
              <a:t>evolving</a:t>
            </a:r>
            <a:r>
              <a:rPr lang="hu-HU" dirty="0" smtClean="0"/>
              <a:t> over </a:t>
            </a:r>
            <a:r>
              <a:rPr lang="hu-HU" dirty="0" err="1" smtClean="0"/>
              <a:t>time</a:t>
            </a:r>
            <a:r>
              <a:rPr lang="hu-HU" dirty="0" smtClean="0"/>
              <a:t>.</a:t>
            </a:r>
          </a:p>
          <a:p>
            <a:pPr lvl="1"/>
            <a:r>
              <a:rPr lang="en-GB" dirty="0" smtClean="0"/>
              <a:t>{</a:t>
            </a:r>
            <a:r>
              <a:rPr lang="en-GB" dirty="0" err="1" smtClean="0"/>
              <a:t>X</a:t>
            </a:r>
            <a:r>
              <a:rPr lang="en-GB" baseline="-25000" dirty="0" err="1" smtClean="0"/>
              <a:t>t</a:t>
            </a:r>
            <a:r>
              <a:rPr lang="en-GB" dirty="0" smtClean="0"/>
              <a:t>​:</a:t>
            </a:r>
            <a:r>
              <a:rPr lang="hu-HU" dirty="0" smtClean="0"/>
              <a:t> </a:t>
            </a:r>
            <a:r>
              <a:rPr lang="en-GB" dirty="0" smtClean="0"/>
              <a:t>t</a:t>
            </a:r>
            <a:r>
              <a:rPr lang="hu-HU" dirty="0" smtClean="0"/>
              <a:t> </a:t>
            </a:r>
            <a:r>
              <a:rPr lang="en-GB" dirty="0" smtClean="0"/>
              <a:t>∈</a:t>
            </a:r>
            <a:r>
              <a:rPr lang="hu-HU" dirty="0" smtClean="0"/>
              <a:t> </a:t>
            </a:r>
            <a:r>
              <a:rPr lang="en-GB" dirty="0" smtClean="0"/>
              <a:t>T}</a:t>
            </a:r>
            <a:endParaRPr lang="hu-HU" dirty="0" smtClean="0"/>
          </a:p>
          <a:p>
            <a:pPr lvl="1"/>
            <a:r>
              <a:rPr lang="hu-HU" dirty="0" smtClean="0"/>
              <a:t>T = {1, 2, 3, ...} is an </a:t>
            </a:r>
            <a:r>
              <a:rPr lang="hu-HU" dirty="0" err="1" smtClean="0"/>
              <a:t>ordered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of </a:t>
            </a:r>
            <a:r>
              <a:rPr lang="hu-HU" dirty="0" err="1" smtClean="0"/>
              <a:t>indices</a:t>
            </a:r>
            <a:r>
              <a:rPr lang="hu-HU" dirty="0" smtClean="0"/>
              <a:t> </a:t>
            </a:r>
            <a:r>
              <a:rPr lang="hu-HU" dirty="0" err="1" smtClean="0"/>
              <a:t>representing</a:t>
            </a:r>
            <a:r>
              <a:rPr lang="hu-HU" dirty="0" smtClean="0"/>
              <a:t> </a:t>
            </a:r>
            <a:r>
              <a:rPr lang="hu-HU" b="1" dirty="0" err="1" smtClean="0"/>
              <a:t>discrete</a:t>
            </a:r>
            <a:r>
              <a:rPr lang="hu-HU" b="1" dirty="0" smtClean="0"/>
              <a:t> </a:t>
            </a:r>
            <a:r>
              <a:rPr lang="hu-HU" b="1" dirty="0" err="1" smtClean="0"/>
              <a:t>time</a:t>
            </a:r>
            <a:r>
              <a:rPr lang="hu-HU" b="1" dirty="0" smtClean="0"/>
              <a:t> </a:t>
            </a:r>
            <a:r>
              <a:rPr lang="hu-HU" b="1" dirty="0" err="1" smtClean="0"/>
              <a:t>steps</a:t>
            </a:r>
            <a:endParaRPr lang="hu-HU" b="1" dirty="0" smtClean="0"/>
          </a:p>
          <a:p>
            <a:pPr lvl="1"/>
            <a:r>
              <a:rPr lang="hu-HU" dirty="0" err="1" smtClean="0"/>
              <a:t>X</a:t>
            </a:r>
            <a:r>
              <a:rPr lang="hu-HU" baseline="-25000" dirty="0" err="1" smtClean="0"/>
              <a:t>t</a:t>
            </a:r>
            <a:r>
              <a:rPr lang="hu-HU" dirty="0" smtClean="0"/>
              <a:t> is a random </a:t>
            </a:r>
            <a:r>
              <a:rPr lang="hu-HU" dirty="0" err="1" smtClean="0"/>
              <a:t>variable</a:t>
            </a:r>
            <a:r>
              <a:rPr lang="hu-HU" dirty="0" smtClean="0"/>
              <a:t> </a:t>
            </a:r>
            <a:r>
              <a:rPr lang="hu-HU" dirty="0" err="1" smtClean="0"/>
              <a:t>describing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discrete</a:t>
            </a:r>
            <a:r>
              <a:rPr lang="hu-HU" b="1" dirty="0" smtClean="0"/>
              <a:t> </a:t>
            </a:r>
            <a:r>
              <a:rPr lang="hu-HU" b="1" dirty="0" err="1" smtClean="0"/>
              <a:t>state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system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t</a:t>
            </a:r>
          </a:p>
          <a:p>
            <a:pPr lvl="1"/>
            <a:r>
              <a:rPr lang="hu-HU" dirty="0" smtClean="0"/>
              <a:t>More </a:t>
            </a:r>
            <a:r>
              <a:rPr lang="hu-HU" dirty="0" err="1" smtClean="0"/>
              <a:t>generally</a:t>
            </a:r>
            <a:r>
              <a:rPr lang="hu-HU" dirty="0" smtClean="0"/>
              <a:t>, </a:t>
            </a:r>
            <a:r>
              <a:rPr lang="hu-HU" dirty="0" err="1" smtClean="0"/>
              <a:t>stochastic</a:t>
            </a:r>
            <a:r>
              <a:rPr lang="hu-HU" dirty="0" smtClean="0"/>
              <a:t> </a:t>
            </a:r>
            <a:r>
              <a:rPr lang="hu-HU" dirty="0" err="1" smtClean="0"/>
              <a:t>processes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continuous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discrete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best</a:t>
            </a:r>
            <a:r>
              <a:rPr lang="hu-HU" dirty="0" smtClean="0"/>
              <a:t> modelled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discrete</a:t>
            </a:r>
            <a:r>
              <a:rPr lang="hu-HU" dirty="0" smtClean="0"/>
              <a:t> </a:t>
            </a:r>
            <a:r>
              <a:rPr lang="hu-HU" dirty="0" err="1" smtClean="0"/>
              <a:t>steps</a:t>
            </a:r>
            <a:r>
              <a:rPr lang="hu-HU" dirty="0" smtClean="0"/>
              <a:t> and </a:t>
            </a:r>
            <a:r>
              <a:rPr lang="hu-HU" dirty="0" err="1" smtClean="0"/>
              <a:t>discrete</a:t>
            </a:r>
            <a:r>
              <a:rPr lang="hu-HU" dirty="0" smtClean="0"/>
              <a:t> </a:t>
            </a:r>
            <a:r>
              <a:rPr lang="hu-HU" dirty="0" err="1" smtClean="0"/>
              <a:t>states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called</a:t>
            </a:r>
            <a:r>
              <a:rPr lang="hu-HU" dirty="0" smtClean="0"/>
              <a:t> a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chain</a:t>
            </a:r>
            <a:r>
              <a:rPr lang="hu-HU" dirty="0" smtClean="0"/>
              <a:t>):</a:t>
            </a:r>
          </a:p>
          <a:p>
            <a:pPr lvl="2"/>
            <a:r>
              <a:rPr lang="hu-HU" dirty="0" err="1" smtClean="0"/>
              <a:t>takes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times</a:t>
            </a:r>
            <a:r>
              <a:rPr lang="hu-HU" dirty="0" smtClean="0"/>
              <a:t>: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a </a:t>
            </a:r>
            <a:r>
              <a:rPr lang="hu-HU" dirty="0" err="1" smtClean="0"/>
              <a:t>time</a:t>
            </a:r>
            <a:r>
              <a:rPr lang="hu-HU" dirty="0" smtClean="0"/>
              <a:t> </a:t>
            </a:r>
            <a:r>
              <a:rPr lang="hu-HU" dirty="0" err="1" smtClean="0"/>
              <a:t>step</a:t>
            </a:r>
            <a:endParaRPr lang="hu-HU" dirty="0" smtClean="0"/>
          </a:p>
          <a:p>
            <a:pPr lvl="2"/>
            <a:r>
              <a:rPr lang="hu-HU" dirty="0" err="1" smtClean="0"/>
              <a:t>from</a:t>
            </a:r>
            <a:r>
              <a:rPr lang="hu-HU" dirty="0" smtClean="0"/>
              <a:t> a </a:t>
            </a:r>
            <a:r>
              <a:rPr lang="hu-HU" dirty="0" err="1" smtClean="0"/>
              <a:t>finite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of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: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continuous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discrete</a:t>
            </a:r>
            <a:r>
              <a:rPr lang="hu-HU" dirty="0" smtClean="0"/>
              <a:t>,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, </a:t>
            </a:r>
            <a:r>
              <a:rPr lang="hu-HU" dirty="0" err="1" smtClean="0"/>
              <a:t>characters</a:t>
            </a:r>
            <a:r>
              <a:rPr lang="hu-HU" dirty="0" smtClean="0"/>
              <a:t> / </a:t>
            </a:r>
            <a:r>
              <a:rPr lang="hu-HU" dirty="0" err="1" smtClean="0"/>
              <a:t>phonemes</a:t>
            </a:r>
            <a:r>
              <a:rPr lang="hu-HU" dirty="0" smtClean="0"/>
              <a:t>, part of </a:t>
            </a:r>
            <a:r>
              <a:rPr lang="hu-HU" dirty="0" err="1" smtClean="0"/>
              <a:t>speech</a:t>
            </a:r>
            <a:r>
              <a:rPr lang="hu-HU" dirty="0" smtClean="0"/>
              <a:t> </a:t>
            </a:r>
            <a:r>
              <a:rPr lang="hu-HU" dirty="0" err="1" smtClean="0"/>
              <a:t>labels</a:t>
            </a:r>
            <a:r>
              <a:rPr lang="hu-HU" dirty="0" smtClean="0"/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59015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Chains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Markov chain </a:t>
            </a:r>
            <a:r>
              <a:rPr lang="en-GB" dirty="0" smtClean="0"/>
              <a:t>is a stochastic process that satisfies the </a:t>
            </a:r>
            <a:r>
              <a:rPr lang="en-GB" b="1" dirty="0" smtClean="0"/>
              <a:t>Markov property</a:t>
            </a:r>
            <a:r>
              <a:rPr lang="en-GB" dirty="0" smtClean="0"/>
              <a:t>:</a:t>
            </a:r>
          </a:p>
          <a:p>
            <a:pPr lvl="1"/>
            <a:r>
              <a:rPr lang="en-GB" dirty="0" smtClean="0"/>
              <a:t>The future state depends only on the </a:t>
            </a:r>
            <a:r>
              <a:rPr lang="en-GB" b="1" dirty="0" smtClean="0"/>
              <a:t>present state</a:t>
            </a:r>
            <a:r>
              <a:rPr lang="en-GB" dirty="0" smtClean="0"/>
              <a:t>, not on </a:t>
            </a:r>
            <a:r>
              <a:rPr lang="en-GB" b="1" dirty="0" smtClean="0"/>
              <a:t>past states</a:t>
            </a:r>
            <a:r>
              <a:rPr lang="en-GB" dirty="0" smtClean="0"/>
              <a:t>.</a:t>
            </a:r>
          </a:p>
          <a:p>
            <a:pPr lvl="1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times</a:t>
            </a:r>
            <a:r>
              <a:rPr lang="hu-HU" dirty="0" smtClean="0"/>
              <a:t> </a:t>
            </a:r>
            <a:r>
              <a:rPr lang="hu-HU" i="1" dirty="0" smtClean="0"/>
              <a:t>n</a:t>
            </a:r>
            <a:r>
              <a:rPr lang="hu-HU" dirty="0" smtClean="0"/>
              <a:t> and </a:t>
            </a:r>
            <a:r>
              <a:rPr lang="hu-HU" i="1" dirty="0" smtClean="0"/>
              <a:t>n+1</a:t>
            </a:r>
            <a:r>
              <a:rPr lang="hu-HU" dirty="0" smtClean="0"/>
              <a:t>,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hu-HU" dirty="0" smtClean="0"/>
              <a:t>),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future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, is </a:t>
            </a:r>
            <a:r>
              <a:rPr lang="hu-HU" dirty="0" err="1" smtClean="0"/>
              <a:t>defined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smtClean="0"/>
              <a:t>x</a:t>
            </a:r>
            <a:r>
              <a:rPr lang="en-GB" i="1" baseline="-25000" dirty="0" smtClean="0"/>
              <a:t>n+1​</a:t>
            </a:r>
            <a:r>
              <a:rPr lang="hu-HU" i="1" dirty="0" smtClean="0"/>
              <a:t> </a:t>
            </a:r>
            <a:r>
              <a:rPr lang="en-GB" dirty="0" smtClean="0"/>
              <a:t>∣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en-GB" dirty="0" smtClean="0"/>
              <a:t>)</a:t>
            </a:r>
            <a:endParaRPr lang="hu-HU" dirty="0" smtClean="0"/>
          </a:p>
          <a:p>
            <a:pPr lvl="2"/>
            <a:r>
              <a:rPr lang="hu-HU" dirty="0" err="1" smtClean="0"/>
              <a:t>suppose</a:t>
            </a:r>
            <a:r>
              <a:rPr lang="hu-HU" dirty="0" smtClean="0"/>
              <a:t> </a:t>
            </a:r>
            <a:r>
              <a:rPr lang="hu-HU" dirty="0" err="1" smtClean="0"/>
              <a:t>states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, </a:t>
            </a:r>
            <a:r>
              <a:rPr lang="hu-HU" dirty="0" err="1" smtClean="0"/>
              <a:t>then</a:t>
            </a:r>
            <a:r>
              <a:rPr lang="hu-HU" dirty="0"/>
              <a:t>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hu-HU" i="1" dirty="0" err="1" smtClean="0"/>
              <a:t>whale</a:t>
            </a:r>
            <a:r>
              <a:rPr lang="en-GB" i="1" baseline="-25000" dirty="0" smtClean="0"/>
              <a:t>​</a:t>
            </a:r>
            <a:r>
              <a:rPr lang="hu-HU" i="1" dirty="0" smtClean="0"/>
              <a:t> </a:t>
            </a:r>
            <a:r>
              <a:rPr lang="en-GB" dirty="0" smtClean="0"/>
              <a:t>∣</a:t>
            </a:r>
            <a:r>
              <a:rPr lang="hu-HU" i="1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​</a:t>
            </a:r>
            <a:r>
              <a:rPr lang="hu-HU" i="1" dirty="0" smtClean="0"/>
              <a:t> </a:t>
            </a:r>
            <a:r>
              <a:rPr lang="en-GB" i="1" dirty="0" smtClean="0"/>
              <a:t>=</a:t>
            </a:r>
            <a:r>
              <a:rPr lang="hu-HU" i="1" dirty="0" smtClean="0"/>
              <a:t> </a:t>
            </a:r>
            <a:r>
              <a:rPr lang="hu-HU" i="1" dirty="0" err="1" smtClean="0"/>
              <a:t>the</a:t>
            </a:r>
            <a:r>
              <a:rPr lang="en-GB" i="1" dirty="0" smtClean="0"/>
              <a:t>​</a:t>
            </a:r>
            <a:r>
              <a:rPr lang="en-GB" dirty="0" smtClean="0"/>
              <a:t>)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symbolize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i="1" dirty="0" err="1" smtClean="0"/>
              <a:t>whale</a:t>
            </a:r>
            <a:r>
              <a:rPr lang="hu-HU" i="1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(</a:t>
            </a:r>
            <a:r>
              <a:rPr lang="hu-HU" i="1" dirty="0" err="1" smtClean="0"/>
              <a:t>x</a:t>
            </a:r>
            <a:r>
              <a:rPr lang="hu-HU" i="1" baseline="-25000" dirty="0" err="1" smtClean="0"/>
              <a:t>n</a:t>
            </a:r>
            <a:r>
              <a:rPr lang="hu-HU" i="1" baseline="-25000" dirty="0" smtClean="0"/>
              <a:t>+1</a:t>
            </a:r>
            <a:r>
              <a:rPr lang="hu-HU" dirty="0" smtClean="0"/>
              <a:t>), </a:t>
            </a:r>
            <a:r>
              <a:rPr lang="hu-HU" dirty="0" err="1" smtClean="0"/>
              <a:t>assuming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last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 (</a:t>
            </a:r>
            <a:r>
              <a:rPr lang="hu-HU" i="1" dirty="0" err="1" smtClean="0"/>
              <a:t>x</a:t>
            </a:r>
            <a:r>
              <a:rPr lang="hu-HU" i="1" baseline="-25000" dirty="0" err="1" smtClean="0"/>
              <a:t>n</a:t>
            </a:r>
            <a:r>
              <a:rPr lang="hu-HU" dirty="0" smtClean="0"/>
              <a:t>) is </a:t>
            </a:r>
            <a:r>
              <a:rPr lang="hu-HU" i="1" dirty="0" err="1" smtClean="0"/>
              <a:t>the</a:t>
            </a:r>
            <a:endParaRPr lang="hu-HU" dirty="0" smtClean="0"/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moving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 </a:t>
            </a:r>
            <a:r>
              <a:rPr lang="hu-HU" i="1" dirty="0" smtClean="0"/>
              <a:t>i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 </a:t>
            </a:r>
            <a:r>
              <a:rPr lang="hu-HU" i="1" dirty="0" smtClean="0"/>
              <a:t>j</a:t>
            </a:r>
            <a:r>
              <a:rPr lang="hu-HU" dirty="0" smtClean="0"/>
              <a:t>, a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,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abbreviated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ij</a:t>
            </a:r>
            <a:r>
              <a:rPr lang="hu-HU" dirty="0" smtClean="0"/>
              <a:t>, and </a:t>
            </a:r>
            <a:r>
              <a:rPr lang="hu-HU" dirty="0" err="1" smtClean="0"/>
              <a:t>defined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en-GB" i="1" dirty="0" err="1" smtClean="0"/>
              <a:t>P</a:t>
            </a:r>
            <a:r>
              <a:rPr lang="en-GB" i="1" baseline="-25000" dirty="0" err="1" smtClean="0"/>
              <a:t>ij</a:t>
            </a:r>
            <a:r>
              <a:rPr lang="hu-HU" dirty="0" smtClean="0"/>
              <a:t> </a:t>
            </a:r>
            <a:r>
              <a:rPr lang="en-GB" dirty="0" smtClean="0"/>
              <a:t>​=</a:t>
            </a:r>
            <a:r>
              <a:rPr lang="hu-HU" dirty="0" smtClean="0"/>
              <a:t> </a:t>
            </a:r>
            <a:r>
              <a:rPr lang="en-GB" i="1" dirty="0" smtClean="0"/>
              <a:t>P</a:t>
            </a:r>
            <a:r>
              <a:rPr lang="en-GB" dirty="0" smtClean="0"/>
              <a:t>(</a:t>
            </a:r>
            <a:r>
              <a:rPr lang="en-GB" i="1" dirty="0" smtClean="0"/>
              <a:t>X</a:t>
            </a:r>
            <a:r>
              <a:rPr lang="en-GB" i="1" baseline="-25000" dirty="0" smtClean="0"/>
              <a:t>n+1</a:t>
            </a:r>
            <a:r>
              <a:rPr lang="en-GB" baseline="-25000" dirty="0" smtClean="0"/>
              <a:t>​</a:t>
            </a:r>
            <a:r>
              <a:rPr lang="hu-HU" dirty="0" smtClean="0"/>
              <a:t> </a:t>
            </a:r>
            <a:r>
              <a:rPr lang="en-GB" dirty="0" smtClean="0"/>
              <a:t>=</a:t>
            </a:r>
            <a:r>
              <a:rPr lang="hu-HU" dirty="0" smtClean="0"/>
              <a:t> </a:t>
            </a:r>
            <a:r>
              <a:rPr lang="en-GB" i="1" dirty="0" smtClean="0"/>
              <a:t>j</a:t>
            </a:r>
            <a:r>
              <a:rPr lang="hu-HU" dirty="0" smtClean="0"/>
              <a:t> </a:t>
            </a:r>
            <a:r>
              <a:rPr lang="en-GB" dirty="0" smtClean="0"/>
              <a:t>∣</a:t>
            </a:r>
            <a:r>
              <a:rPr lang="hu-HU" dirty="0" smtClean="0"/>
              <a:t> </a:t>
            </a:r>
            <a:r>
              <a:rPr lang="en-GB" i="1" dirty="0" err="1" smtClean="0"/>
              <a:t>X</a:t>
            </a:r>
            <a:r>
              <a:rPr lang="en-GB" i="1" baseline="-25000" dirty="0" err="1" smtClean="0"/>
              <a:t>n</a:t>
            </a:r>
            <a:r>
              <a:rPr lang="hu-HU" dirty="0" smtClean="0"/>
              <a:t> </a:t>
            </a:r>
            <a:r>
              <a:rPr lang="en-GB" dirty="0" smtClean="0"/>
              <a:t>​=</a:t>
            </a:r>
            <a:r>
              <a:rPr lang="hu-HU" dirty="0" smtClean="0"/>
              <a:t> </a:t>
            </a:r>
            <a:r>
              <a:rPr lang="en-GB" i="1" dirty="0" err="1" smtClean="0"/>
              <a:t>i</a:t>
            </a:r>
            <a:r>
              <a:rPr lang="en-GB" dirty="0" smtClean="0"/>
              <a:t>)</a:t>
            </a:r>
            <a:endParaRPr lang="hu-HU" dirty="0" smtClean="0"/>
          </a:p>
          <a:p>
            <a:pPr lvl="2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whale</a:t>
            </a:r>
            <a:r>
              <a:rPr lang="hu-HU" dirty="0" smtClean="0"/>
              <a:t> is (again)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i="1" dirty="0" err="1" smtClean="0"/>
              <a:t>whale</a:t>
            </a:r>
            <a:r>
              <a:rPr lang="hu-HU" i="1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last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i="1" dirty="0" err="1" smtClean="0"/>
              <a:t>the</a:t>
            </a:r>
            <a:endParaRPr lang="hu-HU" i="1" dirty="0" smtClean="0"/>
          </a:p>
          <a:p>
            <a:pPr lvl="1"/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collected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endParaRPr lang="hu-HU" dirty="0" smtClean="0"/>
          </a:p>
          <a:p>
            <a:pPr lvl="1"/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put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modelling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conditional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,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preceding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49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</a:t>
            </a:r>
            <a:r>
              <a:rPr lang="hu-HU" dirty="0" smtClean="0"/>
              <a:t> </a:t>
            </a:r>
            <a:r>
              <a:rPr lang="hu-HU" dirty="0" err="1" smtClean="0"/>
              <a:t>Estimation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know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should</a:t>
            </a:r>
            <a:r>
              <a:rPr lang="hu-HU" dirty="0" smtClean="0"/>
              <a:t> be?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real</a:t>
            </a:r>
            <a:r>
              <a:rPr lang="hu-HU" dirty="0" smtClean="0"/>
              <a:t> </a:t>
            </a:r>
            <a:r>
              <a:rPr lang="hu-HU" dirty="0" err="1" smtClean="0"/>
              <a:t>conditional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properties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real</a:t>
            </a:r>
            <a:r>
              <a:rPr lang="hu-HU" dirty="0" smtClean="0"/>
              <a:t> </a:t>
            </a:r>
            <a:r>
              <a:rPr lang="hu-HU" dirty="0" err="1" smtClean="0"/>
              <a:t>world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determine</a:t>
            </a:r>
            <a:r>
              <a:rPr lang="hu-HU" dirty="0" smtClean="0"/>
              <a:t>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that</a:t>
            </a:r>
            <a:r>
              <a:rPr lang="hu-HU" dirty="0" smtClean="0"/>
              <a:t> a </a:t>
            </a:r>
            <a:r>
              <a:rPr lang="hu-HU" dirty="0" err="1" smtClean="0"/>
              <a:t>certain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follows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certain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larger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approximate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</a:t>
            </a:r>
            <a:r>
              <a:rPr lang="hu-HU" dirty="0" err="1" smtClean="0"/>
              <a:t>technique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b="1" dirty="0" smtClean="0"/>
              <a:t>maximum </a:t>
            </a:r>
            <a:r>
              <a:rPr lang="hu-HU" b="1" dirty="0" err="1" smtClean="0"/>
              <a:t>likelihood</a:t>
            </a:r>
            <a:r>
              <a:rPr lang="hu-HU" b="1" dirty="0" smtClean="0"/>
              <a:t> </a:t>
            </a:r>
            <a:r>
              <a:rPr lang="hu-HU" b="1" dirty="0" err="1" smtClean="0"/>
              <a:t>estimation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e</a:t>
            </a:r>
            <a:r>
              <a:rPr lang="en-GB" dirty="0" err="1" smtClean="0"/>
              <a:t>stimate</a:t>
            </a:r>
            <a:r>
              <a:rPr lang="en-GB" dirty="0" smtClean="0"/>
              <a:t> each transition probability as the proportion of times we observed that transition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result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a </a:t>
            </a:r>
            <a:r>
              <a:rPr lang="hu-HU" b="1" dirty="0" smtClean="0"/>
              <a:t>maximum </a:t>
            </a:r>
            <a:r>
              <a:rPr lang="hu-HU" b="1" dirty="0" err="1" smtClean="0"/>
              <a:t>likelihood</a:t>
            </a:r>
            <a:r>
              <a:rPr lang="hu-HU" b="1" dirty="0" smtClean="0"/>
              <a:t> </a:t>
            </a:r>
            <a:r>
              <a:rPr lang="hu-HU" b="1" dirty="0" err="1" smtClean="0"/>
              <a:t>estimate</a:t>
            </a:r>
            <a:r>
              <a:rPr lang="hu-HU" b="1" dirty="0" smtClean="0"/>
              <a:t> (</a:t>
            </a:r>
            <a:r>
              <a:rPr lang="hu-HU" b="1" dirty="0" err="1" smtClean="0"/>
              <a:t>MLE</a:t>
            </a:r>
            <a:r>
              <a:rPr lang="hu-HU" b="1" dirty="0" smtClean="0"/>
              <a:t>)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true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endParaRPr lang="hu-HU" dirty="0" smtClean="0"/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done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counting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transitions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corpus and </a:t>
            </a:r>
            <a:r>
              <a:rPr lang="hu-HU" dirty="0" err="1" smtClean="0"/>
              <a:t>storing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dict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Example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corpus, </a:t>
            </a:r>
            <a:r>
              <a:rPr lang="hu-HU" i="1" dirty="0" err="1" smtClean="0"/>
              <a:t>the</a:t>
            </a:r>
            <a:r>
              <a:rPr lang="hu-HU" i="1" dirty="0" smtClean="0"/>
              <a:t> </a:t>
            </a:r>
            <a:r>
              <a:rPr lang="hu-HU" dirty="0" err="1" smtClean="0"/>
              <a:t>occurs</a:t>
            </a:r>
            <a:r>
              <a:rPr lang="hu-HU" dirty="0" smtClean="0"/>
              <a:t> </a:t>
            </a:r>
            <a:r>
              <a:rPr lang="hu-HU" dirty="0" err="1" smtClean="0"/>
              <a:t>exactly</a:t>
            </a:r>
            <a:r>
              <a:rPr lang="hu-HU" dirty="0" smtClean="0"/>
              <a:t>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dirty="0" smtClean="0"/>
              <a:t> = 100 </a:t>
            </a:r>
            <a:r>
              <a:rPr lang="hu-HU" dirty="0" err="1" smtClean="0"/>
              <a:t>times</a:t>
            </a:r>
            <a:endParaRPr lang="hu-HU" dirty="0" smtClean="0"/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followed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i="1" dirty="0" err="1" smtClean="0"/>
              <a:t>ship</a:t>
            </a:r>
            <a:r>
              <a:rPr lang="hu-HU" i="1" dirty="0" smtClean="0"/>
              <a:t> </a:t>
            </a:r>
            <a:r>
              <a:rPr lang="hu-HU" dirty="0" smtClean="0"/>
              <a:t>42 </a:t>
            </a:r>
            <a:r>
              <a:rPr lang="hu-HU" dirty="0" err="1" smtClean="0"/>
              <a:t>times</a:t>
            </a:r>
            <a:r>
              <a:rPr lang="hu-HU" dirty="0" smtClean="0"/>
              <a:t>, </a:t>
            </a:r>
            <a:r>
              <a:rPr lang="hu-HU" i="1" dirty="0" err="1" smtClean="0"/>
              <a:t>captain</a:t>
            </a:r>
            <a:r>
              <a:rPr lang="hu-HU" i="1" dirty="0" smtClean="0"/>
              <a:t> </a:t>
            </a:r>
            <a:r>
              <a:rPr lang="hu-HU" dirty="0" smtClean="0"/>
              <a:t>32 </a:t>
            </a:r>
            <a:r>
              <a:rPr lang="hu-HU" dirty="0" err="1" smtClean="0"/>
              <a:t>times</a:t>
            </a:r>
            <a:r>
              <a:rPr lang="hu-HU" dirty="0" smtClean="0"/>
              <a:t>, </a:t>
            </a:r>
            <a:r>
              <a:rPr lang="hu-HU" i="1" dirty="0" err="1" smtClean="0"/>
              <a:t>whale</a:t>
            </a:r>
            <a:r>
              <a:rPr lang="hu-HU" i="1" dirty="0" smtClean="0"/>
              <a:t> </a:t>
            </a:r>
            <a:r>
              <a:rPr lang="hu-HU" dirty="0" smtClean="0"/>
              <a:t>16 </a:t>
            </a:r>
            <a:r>
              <a:rPr lang="hu-HU" dirty="0" err="1" smtClean="0"/>
              <a:t>times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i="1" dirty="0" err="1" smtClean="0"/>
              <a:t>sailors</a:t>
            </a:r>
            <a:r>
              <a:rPr lang="hu-HU" i="1" dirty="0" smtClean="0"/>
              <a:t> </a:t>
            </a:r>
            <a:r>
              <a:rPr lang="hu-HU" dirty="0" smtClean="0"/>
              <a:t>10 </a:t>
            </a:r>
            <a:r>
              <a:rPr lang="hu-HU" dirty="0" err="1" smtClean="0"/>
              <a:t>times</a:t>
            </a:r>
            <a:endParaRPr lang="hu-HU" dirty="0" smtClean="0"/>
          </a:p>
          <a:p>
            <a:pPr lvl="1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conditional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:</a:t>
            </a:r>
          </a:p>
          <a:p>
            <a:pPr lvl="2"/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ship</a:t>
            </a:r>
            <a:r>
              <a:rPr lang="hu-HU" dirty="0" smtClean="0"/>
              <a:t> = 42;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ship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ship</a:t>
            </a:r>
            <a:r>
              <a:rPr lang="hu-HU" i="1" dirty="0" smtClean="0"/>
              <a:t> /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hu-HU" dirty="0" err="1" smtClean="0"/>
              <a:t>42</a:t>
            </a:r>
            <a:r>
              <a:rPr lang="hu-HU" dirty="0" smtClean="0"/>
              <a:t> / 100 = 0.42</a:t>
            </a:r>
          </a:p>
          <a:p>
            <a:pPr lvl="2"/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captain</a:t>
            </a:r>
            <a:r>
              <a:rPr lang="hu-HU" i="1" dirty="0" smtClean="0"/>
              <a:t> </a:t>
            </a:r>
            <a:r>
              <a:rPr lang="hu-HU" dirty="0" smtClean="0"/>
              <a:t>= 21;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captain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captain</a:t>
            </a:r>
            <a:r>
              <a:rPr lang="hu-HU" i="1" dirty="0" smtClean="0"/>
              <a:t> /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the</a:t>
            </a:r>
            <a:r>
              <a:rPr lang="hu-HU" dirty="0" smtClean="0"/>
              <a:t> = 32 / 100 = 0.32</a:t>
            </a:r>
          </a:p>
          <a:p>
            <a:pPr lvl="2"/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whale</a:t>
            </a:r>
            <a:r>
              <a:rPr lang="hu-HU" dirty="0" smtClean="0"/>
              <a:t> = 0.16</a:t>
            </a:r>
          </a:p>
          <a:p>
            <a:pPr lvl="2"/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sailor</a:t>
            </a:r>
            <a:r>
              <a:rPr lang="hu-HU" dirty="0" smtClean="0"/>
              <a:t> = 0.1</a:t>
            </a:r>
          </a:p>
          <a:p>
            <a:pPr lvl="2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/>
              <a:t> </a:t>
            </a:r>
            <a:r>
              <a:rPr lang="hu-HU" i="1" dirty="0" smtClean="0"/>
              <a:t>x</a:t>
            </a:r>
            <a:r>
              <a:rPr lang="hu-HU" dirty="0" smtClean="0"/>
              <a:t>, </a:t>
            </a:r>
            <a:r>
              <a:rPr lang="hu-HU" i="1" dirty="0" err="1" smtClean="0"/>
              <a:t>P</a:t>
            </a:r>
            <a:r>
              <a:rPr lang="hu-HU" i="1" baseline="-25000" dirty="0" err="1" smtClean="0"/>
              <a:t>the</a:t>
            </a:r>
            <a:r>
              <a:rPr lang="hu-HU" i="1" baseline="-25000" dirty="0" smtClean="0"/>
              <a:t>,</a:t>
            </a:r>
            <a:r>
              <a:rPr lang="hu-HU" i="1" baseline="-25000" dirty="0" err="1" smtClean="0"/>
              <a:t>x</a:t>
            </a:r>
            <a:r>
              <a:rPr lang="hu-HU" dirty="0" smtClean="0"/>
              <a:t> = 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52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</a:t>
            </a:r>
            <a:r>
              <a:rPr lang="hu-HU" dirty="0" smtClean="0"/>
              <a:t> </a:t>
            </a:r>
            <a:r>
              <a:rPr lang="hu-HU" dirty="0" err="1" smtClean="0"/>
              <a:t>Estimation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MLE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b="1" dirty="0" err="1" smtClean="0"/>
              <a:t>small</a:t>
            </a:r>
            <a:r>
              <a:rPr lang="hu-HU" b="1" dirty="0" smtClean="0"/>
              <a:t> corpus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estimated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reflect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overall </a:t>
            </a:r>
            <a:r>
              <a:rPr lang="hu-HU" b="1" dirty="0" err="1" smtClean="0"/>
              <a:t>true</a:t>
            </a:r>
            <a:r>
              <a:rPr lang="hu-HU" b="1" dirty="0" smtClean="0"/>
              <a:t> </a:t>
            </a:r>
            <a:r>
              <a:rPr lang="hu-HU" b="1" dirty="0" err="1" smtClean="0"/>
              <a:t>probabilities</a:t>
            </a:r>
            <a:r>
              <a:rPr lang="hu-HU" b="1" dirty="0" smtClean="0"/>
              <a:t> </a:t>
            </a:r>
            <a:r>
              <a:rPr lang="hu-HU" b="1" dirty="0" err="1" smtClean="0"/>
              <a:t>that</a:t>
            </a:r>
            <a:r>
              <a:rPr lang="hu-HU" b="1" dirty="0" smtClean="0"/>
              <a:t> </a:t>
            </a:r>
            <a:r>
              <a:rPr lang="hu-HU" b="1" dirty="0" err="1" smtClean="0"/>
              <a:t>are</a:t>
            </a:r>
            <a:r>
              <a:rPr lang="hu-HU" b="1" dirty="0" smtClean="0"/>
              <a:t> </a:t>
            </a:r>
            <a:r>
              <a:rPr lang="hu-HU" b="1" dirty="0" err="1" smtClean="0"/>
              <a:t>characteristic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general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strongly</a:t>
            </a:r>
            <a:r>
              <a:rPr lang="hu-HU" dirty="0" smtClean="0"/>
              <a:t> </a:t>
            </a:r>
            <a:r>
              <a:rPr lang="hu-HU" dirty="0" err="1" smtClean="0"/>
              <a:t>skewed</a:t>
            </a:r>
            <a:r>
              <a:rPr lang="hu-HU" dirty="0" smtClean="0"/>
              <a:t> </a:t>
            </a:r>
            <a:r>
              <a:rPr lang="hu-HU" dirty="0" err="1" smtClean="0"/>
              <a:t>toward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small</a:t>
            </a:r>
            <a:r>
              <a:rPr lang="hu-HU" dirty="0" smtClean="0"/>
              <a:t> corpus, </a:t>
            </a:r>
            <a:r>
              <a:rPr lang="hu-HU" dirty="0" err="1" smtClean="0"/>
              <a:t>determined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factors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topic</a:t>
            </a:r>
            <a:r>
              <a:rPr lang="hu-HU" dirty="0" smtClean="0"/>
              <a:t>, </a:t>
            </a:r>
            <a:r>
              <a:rPr lang="hu-HU" dirty="0" err="1" smtClean="0"/>
              <a:t>genre</a:t>
            </a:r>
            <a:r>
              <a:rPr lang="hu-HU" dirty="0" smtClean="0"/>
              <a:t>, </a:t>
            </a:r>
            <a:r>
              <a:rPr lang="hu-HU" dirty="0" err="1" smtClean="0"/>
              <a:t>author</a:t>
            </a:r>
            <a:endParaRPr lang="hu-HU" dirty="0"/>
          </a:p>
          <a:p>
            <a:pPr lvl="2"/>
            <a:r>
              <a:rPr lang="hu-HU" dirty="0" err="1" smtClean="0"/>
              <a:t>person-specific</a:t>
            </a:r>
            <a:r>
              <a:rPr lang="hu-HU" dirty="0" smtClean="0"/>
              <a:t>,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idiolectal</a:t>
            </a:r>
            <a:r>
              <a:rPr lang="hu-HU" dirty="0" smtClean="0"/>
              <a:t> </a:t>
            </a:r>
            <a:r>
              <a:rPr lang="hu-HU" dirty="0" err="1" smtClean="0"/>
              <a:t>characteristics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endParaRPr lang="hu-HU" dirty="0"/>
          </a:p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hope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b="1" dirty="0" err="1" smtClean="0"/>
              <a:t>very</a:t>
            </a:r>
            <a:r>
              <a:rPr lang="hu-HU" b="1" dirty="0" smtClean="0"/>
              <a:t> </a:t>
            </a:r>
            <a:r>
              <a:rPr lang="hu-HU" b="1" dirty="0" err="1" smtClean="0"/>
              <a:t>large</a:t>
            </a:r>
            <a:r>
              <a:rPr lang="hu-HU" b="1" dirty="0" smtClean="0"/>
              <a:t> corpus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approximate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true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b="1" dirty="0" err="1" smtClean="0"/>
              <a:t>much</a:t>
            </a:r>
            <a:r>
              <a:rPr lang="hu-HU" b="1" dirty="0" smtClean="0"/>
              <a:t> more </a:t>
            </a:r>
            <a:r>
              <a:rPr lang="hu-HU" b="1" dirty="0" err="1" smtClean="0"/>
              <a:t>accurately</a:t>
            </a:r>
            <a:r>
              <a:rPr lang="hu-HU" dirty="0" smtClean="0"/>
              <a:t>.</a:t>
            </a:r>
          </a:p>
          <a:p>
            <a:r>
              <a:rPr lang="hu-HU" b="1" dirty="0" err="1" smtClean="0"/>
              <a:t>If</a:t>
            </a:r>
            <a:r>
              <a:rPr lang="hu-HU" b="1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expressed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b="1" dirty="0" err="1" smtClean="0"/>
              <a:t>were</a:t>
            </a:r>
            <a:r>
              <a:rPr lang="hu-HU" b="1" dirty="0" smtClean="0"/>
              <a:t> </a:t>
            </a:r>
            <a:r>
              <a:rPr lang="hu-HU" b="1" dirty="0" err="1" smtClean="0"/>
              <a:t>finite</a:t>
            </a:r>
            <a:r>
              <a:rPr lang="hu-HU" dirty="0" smtClean="0"/>
              <a:t>, and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b="1" dirty="0" err="1" smtClean="0"/>
              <a:t>list</a:t>
            </a:r>
            <a:r>
              <a:rPr lang="hu-HU" b="1" dirty="0" smtClean="0"/>
              <a:t> </a:t>
            </a:r>
            <a:r>
              <a:rPr lang="hu-HU" b="1" dirty="0" err="1" smtClean="0"/>
              <a:t>and</a:t>
            </a:r>
            <a:r>
              <a:rPr lang="hu-HU" b="1" dirty="0" smtClean="0"/>
              <a:t> </a:t>
            </a:r>
            <a:r>
              <a:rPr lang="hu-HU" b="1" dirty="0" err="1" smtClean="0"/>
              <a:t>count</a:t>
            </a:r>
            <a:r>
              <a:rPr lang="hu-HU" b="1" dirty="0" smtClean="0"/>
              <a:t> </a:t>
            </a:r>
            <a:r>
              <a:rPr lang="hu-HU" b="1" dirty="0" err="1" smtClean="0"/>
              <a:t>them</a:t>
            </a:r>
            <a:r>
              <a:rPr lang="hu-HU" dirty="0" smtClean="0"/>
              <a:t>,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determine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exact</a:t>
            </a:r>
            <a:r>
              <a:rPr lang="hu-HU" dirty="0" smtClean="0"/>
              <a:t> </a:t>
            </a:r>
            <a:r>
              <a:rPr lang="hu-HU" dirty="0" err="1" smtClean="0"/>
              <a:t>true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of </a:t>
            </a:r>
            <a:r>
              <a:rPr lang="hu-HU" dirty="0" err="1" smtClean="0"/>
              <a:t>sentences</a:t>
            </a:r>
            <a:r>
              <a:rPr lang="hu-HU" dirty="0" smtClean="0"/>
              <a:t> is </a:t>
            </a:r>
            <a:r>
              <a:rPr lang="hu-HU" dirty="0" err="1" smtClean="0"/>
              <a:t>practically</a:t>
            </a:r>
            <a:r>
              <a:rPr lang="hu-HU" dirty="0" smtClean="0"/>
              <a:t> </a:t>
            </a:r>
            <a:r>
              <a:rPr lang="hu-HU" dirty="0" err="1" smtClean="0"/>
              <a:t>infinite</a:t>
            </a:r>
            <a:endParaRPr lang="hu-HU" dirty="0" smtClean="0"/>
          </a:p>
          <a:p>
            <a:pPr lvl="1"/>
            <a:r>
              <a:rPr lang="hu-HU" dirty="0" err="1" smtClean="0"/>
              <a:t>even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dirty="0" err="1" smtClean="0"/>
              <a:t>finite</a:t>
            </a:r>
            <a:r>
              <a:rPr lang="hu-HU" dirty="0" smtClean="0"/>
              <a:t>, </a:t>
            </a:r>
            <a:r>
              <a:rPr lang="hu-HU" dirty="0" err="1" smtClean="0"/>
              <a:t>there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be no </a:t>
            </a:r>
            <a:r>
              <a:rPr lang="hu-HU" dirty="0" err="1" smtClean="0"/>
              <a:t>known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of </a:t>
            </a:r>
            <a:r>
              <a:rPr lang="hu-HU" dirty="0" err="1" smtClean="0"/>
              <a:t>collecting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endParaRPr lang="hu-HU" dirty="0" smtClean="0"/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estimate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sample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/>
              <a:t>: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</a:t>
            </a:r>
          </a:p>
        </p:txBody>
      </p:sp>
    </p:spTree>
    <p:extLst>
      <p:ext uri="{BB962C8B-B14F-4D97-AF65-F5344CB8AC3E}">
        <p14:creationId xmlns:p14="http://schemas.microsoft.com/office/powerpoint/2010/main" val="25590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Maximum </a:t>
            </a:r>
            <a:r>
              <a:rPr lang="hu-HU" dirty="0" err="1" smtClean="0"/>
              <a:t>Likelihood</a:t>
            </a:r>
            <a:r>
              <a:rPr lang="hu-HU" dirty="0" smtClean="0"/>
              <a:t> </a:t>
            </a:r>
            <a:r>
              <a:rPr lang="hu-HU" dirty="0" err="1" smtClean="0"/>
              <a:t>Estimation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a </a:t>
            </a:r>
            <a:r>
              <a:rPr lang="hu-HU" b="1" dirty="0" err="1" smtClean="0"/>
              <a:t>matrix</a:t>
            </a:r>
            <a:r>
              <a:rPr lang="hu-HU" b="1" dirty="0" smtClean="0"/>
              <a:t> of </a:t>
            </a:r>
            <a:r>
              <a:rPr lang="hu-HU" b="1" dirty="0" err="1" smtClean="0"/>
              <a:t>counts</a:t>
            </a:r>
            <a:endParaRPr lang="hu-HU" b="1" dirty="0" smtClean="0"/>
          </a:p>
          <a:p>
            <a:pPr lvl="1"/>
            <a:r>
              <a:rPr lang="hu-HU" dirty="0" smtClean="0"/>
              <a:t>V x V </a:t>
            </a:r>
            <a:r>
              <a:rPr lang="hu-HU" dirty="0" err="1" smtClean="0"/>
              <a:t>dimensions</a:t>
            </a:r>
            <a:r>
              <a:rPr lang="hu-HU" dirty="0" smtClean="0"/>
              <a:t>, </a:t>
            </a:r>
            <a:r>
              <a:rPr lang="hu-HU" dirty="0" err="1" smtClean="0"/>
              <a:t>where</a:t>
            </a:r>
            <a:r>
              <a:rPr lang="hu-HU" dirty="0" smtClean="0"/>
              <a:t> </a:t>
            </a:r>
            <a:r>
              <a:rPr lang="hu-HU" dirty="0" err="1" smtClean="0"/>
              <a:t>V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endParaRPr lang="hu-HU" dirty="0"/>
          </a:p>
          <a:p>
            <a:pPr lvl="1"/>
            <a:r>
              <a:rPr lang="hu-HU" dirty="0" err="1" smtClean="0"/>
              <a:t>rows</a:t>
            </a:r>
            <a:r>
              <a:rPr lang="hu-HU" dirty="0" smtClean="0"/>
              <a:t>: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endParaRPr lang="hu-HU" dirty="0" smtClean="0"/>
          </a:p>
          <a:p>
            <a:pPr lvl="1"/>
            <a:r>
              <a:rPr lang="hu-HU" dirty="0" err="1" smtClean="0"/>
              <a:t>columns</a:t>
            </a:r>
            <a:r>
              <a:rPr lang="hu-HU" dirty="0" smtClean="0"/>
              <a:t>: </a:t>
            </a:r>
            <a:r>
              <a:rPr lang="hu-HU" dirty="0" err="1" smtClean="0"/>
              <a:t>counts</a:t>
            </a:r>
            <a:r>
              <a:rPr lang="hu-HU" dirty="0" smtClean="0"/>
              <a:t> of </a:t>
            </a:r>
            <a:r>
              <a:rPr lang="hu-HU" dirty="0" err="1" smtClean="0"/>
              <a:t>second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endParaRPr lang="hu-HU" dirty="0" smtClean="0"/>
          </a:p>
          <a:p>
            <a:pPr lvl="1"/>
            <a:r>
              <a:rPr lang="hu-HU" b="1" dirty="0" err="1" smtClean="0"/>
              <a:t>very</a:t>
            </a:r>
            <a:r>
              <a:rPr lang="hu-HU" b="1" dirty="0" smtClean="0"/>
              <a:t> </a:t>
            </a:r>
            <a:r>
              <a:rPr lang="hu-HU" b="1" dirty="0" err="1" smtClean="0"/>
              <a:t>sparse</a:t>
            </a:r>
            <a:r>
              <a:rPr lang="hu-HU" b="1" dirty="0" smtClean="0"/>
              <a:t> </a:t>
            </a:r>
            <a:r>
              <a:rPr lang="hu-HU" b="1" dirty="0" err="1" smtClean="0"/>
              <a:t>matrix</a:t>
            </a:r>
            <a:r>
              <a:rPr lang="hu-HU" dirty="0" smtClean="0"/>
              <a:t>, </a:t>
            </a:r>
            <a:r>
              <a:rPr lang="hu-HU" b="1" dirty="0" smtClean="0"/>
              <a:t>most </a:t>
            </a:r>
            <a:r>
              <a:rPr lang="hu-HU" b="1" dirty="0" err="1" smtClean="0"/>
              <a:t>counts</a:t>
            </a:r>
            <a:r>
              <a:rPr lang="hu-HU" b="1" dirty="0" smtClean="0"/>
              <a:t> </a:t>
            </a:r>
            <a:r>
              <a:rPr lang="hu-HU" b="1" dirty="0" err="1" smtClean="0"/>
              <a:t>are</a:t>
            </a:r>
            <a:r>
              <a:rPr lang="hu-HU" b="1" dirty="0" smtClean="0"/>
              <a:t> </a:t>
            </a:r>
            <a:r>
              <a:rPr lang="hu-HU" b="1" dirty="0" err="1" smtClean="0"/>
              <a:t>zero</a:t>
            </a:r>
            <a:endParaRPr lang="hu-HU" b="1" dirty="0" smtClean="0"/>
          </a:p>
          <a:p>
            <a:pPr lvl="1"/>
            <a:r>
              <a:rPr lang="hu-HU" dirty="0" smtClean="0"/>
              <a:t>A </a:t>
            </a:r>
            <a:r>
              <a:rPr lang="hu-HU" b="1" dirty="0" err="1" smtClean="0"/>
              <a:t>pair</a:t>
            </a:r>
            <a:r>
              <a:rPr lang="hu-HU" b="1" dirty="0" smtClean="0"/>
              <a:t> of </a:t>
            </a:r>
            <a:r>
              <a:rPr lang="hu-HU" b="1" dirty="0" err="1" smtClean="0"/>
              <a:t>adjacent</a:t>
            </a:r>
            <a:r>
              <a:rPr lang="hu-HU" b="1" dirty="0" smtClean="0"/>
              <a:t> </a:t>
            </a:r>
            <a:r>
              <a:rPr lang="hu-HU" b="1" dirty="0" err="1" smtClean="0"/>
              <a:t>tokens</a:t>
            </a:r>
            <a:r>
              <a:rPr lang="hu-HU" b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called</a:t>
            </a:r>
            <a:r>
              <a:rPr lang="hu-HU" dirty="0" smtClean="0"/>
              <a:t> a </a:t>
            </a:r>
            <a:r>
              <a:rPr lang="hu-HU" b="1" dirty="0" err="1" smtClean="0"/>
              <a:t>bigram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endParaRPr lang="hu-HU" dirty="0" smtClean="0"/>
          </a:p>
          <a:p>
            <a:pPr lvl="2"/>
            <a:r>
              <a:rPr lang="hu-HU" i="1" dirty="0" err="1" smtClean="0"/>
              <a:t>have</a:t>
            </a:r>
            <a:r>
              <a:rPr lang="hu-HU" i="1" dirty="0" smtClean="0"/>
              <a:t> a </a:t>
            </a:r>
            <a:r>
              <a:rPr lang="hu-HU" i="1" dirty="0" err="1" smtClean="0"/>
              <a:t>nice</a:t>
            </a:r>
            <a:r>
              <a:rPr lang="hu-HU" i="1" dirty="0" smtClean="0"/>
              <a:t> </a:t>
            </a:r>
            <a:r>
              <a:rPr lang="hu-HU" i="1" dirty="0" err="1" smtClean="0"/>
              <a:t>day</a:t>
            </a:r>
            <a:r>
              <a:rPr lang="hu-HU" i="1" dirty="0" smtClean="0"/>
              <a:t>:</a:t>
            </a:r>
            <a:r>
              <a:rPr lang="hu-HU" dirty="0" smtClean="0"/>
              <a:t> (</a:t>
            </a:r>
            <a:r>
              <a:rPr lang="hu-HU" dirty="0" err="1" smtClean="0"/>
              <a:t>have</a:t>
            </a:r>
            <a:r>
              <a:rPr lang="hu-HU" dirty="0" smtClean="0"/>
              <a:t>, </a:t>
            </a:r>
            <a:r>
              <a:rPr lang="hu-HU" dirty="0" err="1" smtClean="0"/>
              <a:t>a</a:t>
            </a:r>
            <a:r>
              <a:rPr lang="hu-HU" dirty="0" smtClean="0"/>
              <a:t>), (</a:t>
            </a:r>
            <a:r>
              <a:rPr lang="hu-HU" dirty="0" err="1" smtClean="0"/>
              <a:t>a</a:t>
            </a:r>
            <a:r>
              <a:rPr lang="hu-HU" dirty="0" smtClean="0"/>
              <a:t>, </a:t>
            </a:r>
            <a:r>
              <a:rPr lang="hu-HU" dirty="0" err="1" smtClean="0"/>
              <a:t>nice</a:t>
            </a:r>
            <a:r>
              <a:rPr lang="hu-HU" dirty="0" smtClean="0"/>
              <a:t>), (</a:t>
            </a:r>
            <a:r>
              <a:rPr lang="hu-HU" dirty="0" err="1" smtClean="0"/>
              <a:t>nice</a:t>
            </a:r>
            <a:r>
              <a:rPr lang="hu-HU" dirty="0" smtClean="0"/>
              <a:t>, </a:t>
            </a:r>
            <a:r>
              <a:rPr lang="hu-HU" dirty="0" err="1" smtClean="0"/>
              <a:t>day</a:t>
            </a:r>
            <a:r>
              <a:rPr lang="hu-HU" dirty="0" smtClean="0"/>
              <a:t>)</a:t>
            </a:r>
          </a:p>
          <a:p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divide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sum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row</a:t>
            </a:r>
            <a:r>
              <a:rPr lang="hu-HU" dirty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appears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yields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bigram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result</a:t>
            </a:r>
            <a:r>
              <a:rPr lang="hu-HU" dirty="0" smtClean="0"/>
              <a:t> is a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b="1" dirty="0" err="1" smtClean="0"/>
              <a:t>bigram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1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chain</a:t>
            </a:r>
            <a:r>
              <a:rPr lang="hu-HU" dirty="0" smtClean="0"/>
              <a:t> </a:t>
            </a:r>
            <a:r>
              <a:rPr lang="hu-HU" dirty="0" err="1" smtClean="0"/>
              <a:t>assumes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future</a:t>
            </a:r>
            <a:r>
              <a:rPr lang="hu-HU" dirty="0" smtClean="0"/>
              <a:t> is </a:t>
            </a:r>
            <a:r>
              <a:rPr lang="hu-HU" dirty="0" err="1" smtClean="0"/>
              <a:t>determined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present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past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generalised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b="1" dirty="0" err="1" smtClean="0"/>
              <a:t>extending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present</a:t>
            </a:r>
            <a:r>
              <a:rPr lang="hu-HU" b="1" dirty="0" smtClean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few</a:t>
            </a:r>
            <a:r>
              <a:rPr lang="hu-HU" dirty="0" smtClean="0"/>
              <a:t> </a:t>
            </a:r>
            <a:r>
              <a:rPr lang="hu-HU" dirty="0" err="1" smtClean="0"/>
              <a:t>steps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past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future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stochastic</a:t>
            </a:r>
            <a:r>
              <a:rPr lang="hu-HU" dirty="0" smtClean="0"/>
              <a:t> </a:t>
            </a:r>
            <a:r>
              <a:rPr lang="hu-HU" dirty="0" err="1" smtClean="0"/>
              <a:t>process</a:t>
            </a:r>
            <a:r>
              <a:rPr lang="hu-HU" dirty="0" smtClean="0"/>
              <a:t> </a:t>
            </a:r>
            <a:r>
              <a:rPr lang="hu-HU" dirty="0" err="1" smtClean="0"/>
              <a:t>depends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present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smtClean="0"/>
              <a:t>most </a:t>
            </a:r>
            <a:r>
              <a:rPr lang="hu-HU" b="1" dirty="0" err="1" smtClean="0"/>
              <a:t>recent</a:t>
            </a:r>
            <a:r>
              <a:rPr lang="hu-HU" b="1" dirty="0" smtClean="0"/>
              <a:t> </a:t>
            </a:r>
            <a:r>
              <a:rPr lang="hu-HU" b="1" i="1" dirty="0" smtClean="0"/>
              <a:t>k </a:t>
            </a:r>
            <a:r>
              <a:rPr lang="hu-HU" b="1" dirty="0" err="1" smtClean="0"/>
              <a:t>states</a:t>
            </a:r>
            <a:r>
              <a:rPr lang="hu-HU" b="1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process</a:t>
            </a:r>
            <a:r>
              <a:rPr lang="hu-HU" dirty="0" smtClean="0"/>
              <a:t> is </a:t>
            </a:r>
            <a:r>
              <a:rPr lang="hu-HU" dirty="0" err="1" smtClean="0"/>
              <a:t>called</a:t>
            </a:r>
            <a:r>
              <a:rPr lang="hu-HU" dirty="0" smtClean="0"/>
              <a:t> a </a:t>
            </a:r>
            <a:r>
              <a:rPr lang="hu-HU" b="1" i="1" dirty="0" err="1" smtClean="0"/>
              <a:t>k</a:t>
            </a:r>
            <a:r>
              <a:rPr lang="hu-HU" b="1" dirty="0" err="1" smtClean="0"/>
              <a:t>-th</a:t>
            </a:r>
            <a:r>
              <a:rPr lang="hu-HU" b="1" dirty="0" smtClean="0"/>
              <a:t> </a:t>
            </a:r>
            <a:r>
              <a:rPr lang="hu-HU" b="1" dirty="0" err="1" smtClean="0"/>
              <a:t>order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higher-order</a:t>
            </a:r>
            <a:r>
              <a:rPr lang="hu-HU" dirty="0" smtClean="0"/>
              <a:t>) </a:t>
            </a:r>
            <a:r>
              <a:rPr lang="hu-HU" b="1" dirty="0" err="1" smtClean="0"/>
              <a:t>Markov</a:t>
            </a:r>
            <a:r>
              <a:rPr lang="hu-HU" b="1" dirty="0" smtClean="0"/>
              <a:t> </a:t>
            </a:r>
            <a:r>
              <a:rPr lang="hu-HU" b="1" dirty="0" err="1" smtClean="0"/>
              <a:t>process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chain</a:t>
            </a:r>
            <a:r>
              <a:rPr lang="hu-HU" dirty="0" smtClean="0"/>
              <a:t>)</a:t>
            </a:r>
          </a:p>
          <a:p>
            <a:pPr lvl="1"/>
            <a:r>
              <a:rPr lang="en-GB" dirty="0" smtClean="0"/>
              <a:t>The next state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en-GB" dirty="0" smtClean="0"/>
              <a:t>depends only on </a:t>
            </a:r>
            <a:r>
              <a:rPr lang="en-GB" dirty="0" err="1" smtClean="0"/>
              <a:t>th</a:t>
            </a:r>
            <a:r>
              <a:rPr lang="hu-HU" dirty="0" smtClean="0"/>
              <a:t>is </a:t>
            </a:r>
            <a:r>
              <a:rPr lang="hu-HU" dirty="0" err="1" smtClean="0"/>
              <a:t>extended</a:t>
            </a:r>
            <a:r>
              <a:rPr lang="hu-HU" dirty="0" smtClean="0"/>
              <a:t> </a:t>
            </a:r>
            <a:r>
              <a:rPr lang="hu-HU" dirty="0" err="1" smtClean="0"/>
              <a:t>present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, </a:t>
            </a:r>
            <a:r>
              <a:rPr lang="en-GB" dirty="0" smtClean="0"/>
              <a:t>not the entire history.</a:t>
            </a:r>
            <a:endParaRPr lang="hu-HU" dirty="0" smtClean="0"/>
          </a:p>
          <a:p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applied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modelling: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sequence</a:t>
            </a:r>
            <a:r>
              <a:rPr lang="hu-HU" dirty="0" smtClean="0"/>
              <a:t> of </a:t>
            </a:r>
            <a:r>
              <a:rPr lang="hu-HU" i="1" dirty="0" smtClean="0"/>
              <a:t>n </a:t>
            </a:r>
            <a:r>
              <a:rPr lang="hu-HU" dirty="0" err="1" smtClean="0"/>
              <a:t>adjacent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is </a:t>
            </a:r>
            <a:r>
              <a:rPr lang="hu-HU" dirty="0" err="1" smtClean="0"/>
              <a:t>called</a:t>
            </a:r>
            <a:r>
              <a:rPr lang="hu-HU" dirty="0" smtClean="0"/>
              <a:t> an </a:t>
            </a:r>
            <a:r>
              <a:rPr lang="hu-HU" b="1" dirty="0" err="1" smtClean="0"/>
              <a:t>n-gram</a:t>
            </a:r>
            <a:endParaRPr lang="hu-HU" b="1" dirty="0"/>
          </a:p>
          <a:p>
            <a:pPr lvl="2"/>
            <a:r>
              <a:rPr lang="hu-HU" dirty="0" smtClean="0"/>
              <a:t>(</a:t>
            </a:r>
            <a:r>
              <a:rPr lang="hu-HU" dirty="0" err="1" smtClean="0"/>
              <a:t>have</a:t>
            </a:r>
            <a:r>
              <a:rPr lang="hu-HU" dirty="0" smtClean="0"/>
              <a:t>, a, </a:t>
            </a:r>
            <a:r>
              <a:rPr lang="hu-HU" dirty="0" err="1" smtClean="0"/>
              <a:t>nice</a:t>
            </a:r>
            <a:r>
              <a:rPr lang="hu-HU" dirty="0" smtClean="0"/>
              <a:t>), (</a:t>
            </a:r>
            <a:r>
              <a:rPr lang="hu-HU" dirty="0" err="1" smtClean="0"/>
              <a:t>a</a:t>
            </a:r>
            <a:r>
              <a:rPr lang="hu-HU" dirty="0" smtClean="0"/>
              <a:t>, </a:t>
            </a:r>
            <a:r>
              <a:rPr lang="hu-HU" dirty="0" err="1" smtClean="0"/>
              <a:t>nice</a:t>
            </a:r>
            <a:r>
              <a:rPr lang="hu-HU" dirty="0" smtClean="0"/>
              <a:t>, </a:t>
            </a:r>
            <a:r>
              <a:rPr lang="hu-HU" dirty="0" err="1" smtClean="0"/>
              <a:t>day</a:t>
            </a:r>
            <a:r>
              <a:rPr lang="hu-HU" dirty="0" smtClean="0"/>
              <a:t>) </a:t>
            </a:r>
            <a:r>
              <a:rPr lang="hu-HU" dirty="0" err="1" smtClean="0"/>
              <a:t>are</a:t>
            </a:r>
            <a:r>
              <a:rPr lang="hu-HU" dirty="0" smtClean="0"/>
              <a:t> 3-grams,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b="1" dirty="0" err="1" smtClean="0"/>
              <a:t>trigrams</a:t>
            </a:r>
            <a:endParaRPr lang="hu-HU" b="1" dirty="0" smtClean="0"/>
          </a:p>
          <a:p>
            <a:pPr lvl="2"/>
            <a:r>
              <a:rPr lang="hu-HU" dirty="0" smtClean="0"/>
              <a:t>2-grams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bigrams</a:t>
            </a:r>
            <a:r>
              <a:rPr lang="hu-HU" dirty="0" smtClean="0"/>
              <a:t>; no </a:t>
            </a:r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names</a:t>
            </a:r>
            <a:r>
              <a:rPr lang="hu-HU" dirty="0" smtClean="0"/>
              <a:t>: 4-grams, 5-grams, etc.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defines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previous</a:t>
            </a:r>
            <a:r>
              <a:rPr lang="hu-HU" dirty="0" smtClean="0"/>
              <a:t> </a:t>
            </a:r>
            <a:r>
              <a:rPr lang="hu-HU" i="1" dirty="0" smtClean="0"/>
              <a:t>n–1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err="1" smtClean="0"/>
              <a:t>n</a:t>
            </a:r>
            <a:r>
              <a:rPr lang="hu-HU" baseline="30000" dirty="0" err="1" smtClean="0"/>
              <a:t>th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called</a:t>
            </a:r>
            <a:r>
              <a:rPr lang="hu-HU" dirty="0" smtClean="0"/>
              <a:t> an </a:t>
            </a:r>
            <a:r>
              <a:rPr lang="hu-HU" b="1" dirty="0" err="1" smtClean="0"/>
              <a:t>n-gram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endParaRPr lang="hu-HU" b="1" dirty="0" smtClean="0"/>
          </a:p>
          <a:p>
            <a:pPr lvl="1"/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case</a:t>
            </a:r>
            <a:r>
              <a:rPr lang="hu-HU" dirty="0" smtClean="0"/>
              <a:t>: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assume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of </a:t>
            </a:r>
            <a:r>
              <a:rPr lang="hu-HU" dirty="0" err="1" smtClean="0"/>
              <a:t>independent</a:t>
            </a:r>
            <a:r>
              <a:rPr lang="hu-HU" dirty="0" smtClean="0"/>
              <a:t>, </a:t>
            </a:r>
            <a:r>
              <a:rPr lang="hu-HU" dirty="0" err="1" smtClean="0"/>
              <a:t>identically</a:t>
            </a:r>
            <a:r>
              <a:rPr lang="hu-HU" dirty="0" smtClean="0"/>
              <a:t> </a:t>
            </a:r>
            <a:r>
              <a:rPr lang="hu-HU" dirty="0" err="1" smtClean="0"/>
              <a:t>distributed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iid</a:t>
            </a:r>
            <a:r>
              <a:rPr lang="hu-HU" dirty="0" smtClean="0"/>
              <a:t>) random </a:t>
            </a:r>
            <a:r>
              <a:rPr lang="hu-HU" dirty="0" err="1" smtClean="0"/>
              <a:t>variables</a:t>
            </a:r>
            <a:r>
              <a:rPr lang="hu-HU" dirty="0" smtClean="0"/>
              <a:t>: 1-gram (</a:t>
            </a:r>
            <a:r>
              <a:rPr lang="hu-HU" dirty="0" err="1" smtClean="0"/>
              <a:t>unigram</a:t>
            </a:r>
            <a:r>
              <a:rPr lang="hu-HU" dirty="0" smtClean="0"/>
              <a:t>) </a:t>
            </a:r>
            <a:r>
              <a:rPr lang="hu-HU" dirty="0" err="1" smtClean="0"/>
              <a:t>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581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Tries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The standard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structure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represent</a:t>
            </a:r>
            <a:r>
              <a:rPr lang="hu-HU" dirty="0" smtClean="0"/>
              <a:t> an </a:t>
            </a:r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computer is a </a:t>
            </a:r>
            <a:r>
              <a:rPr lang="hu-HU" dirty="0" err="1" smtClean="0"/>
              <a:t>trie</a:t>
            </a:r>
            <a:r>
              <a:rPr lang="hu-HU" dirty="0" smtClean="0"/>
              <a:t> (</a:t>
            </a:r>
            <a:r>
              <a:rPr lang="hu-HU" dirty="0" err="1" smtClean="0"/>
              <a:t>pronounced</a:t>
            </a:r>
            <a:r>
              <a:rPr lang="hu-HU" dirty="0" smtClean="0"/>
              <a:t> </a:t>
            </a:r>
            <a:r>
              <a:rPr lang="hu-HU" dirty="0" err="1" smtClean="0"/>
              <a:t>tree</a:t>
            </a:r>
            <a:r>
              <a:rPr lang="hu-HU" dirty="0" smtClean="0"/>
              <a:t>).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trie</a:t>
            </a:r>
            <a:r>
              <a:rPr lang="hu-HU" dirty="0" smtClean="0"/>
              <a:t> is a </a:t>
            </a:r>
            <a:r>
              <a:rPr lang="hu-HU" dirty="0" err="1" smtClean="0"/>
              <a:t>tree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single</a:t>
            </a:r>
            <a:r>
              <a:rPr lang="hu-HU" dirty="0" smtClean="0"/>
              <a:t> </a:t>
            </a:r>
            <a:r>
              <a:rPr lang="hu-HU" dirty="0" err="1" smtClean="0"/>
              <a:t>root</a:t>
            </a:r>
            <a:r>
              <a:rPr lang="hu-HU" dirty="0" smtClean="0"/>
              <a:t> </a:t>
            </a:r>
            <a:r>
              <a:rPr lang="hu-HU" dirty="0" err="1" smtClean="0"/>
              <a:t>node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directed</a:t>
            </a:r>
            <a:r>
              <a:rPr lang="hu-HU" dirty="0" smtClean="0"/>
              <a:t> </a:t>
            </a:r>
            <a:r>
              <a:rPr lang="hu-HU" dirty="0" err="1" smtClean="0"/>
              <a:t>edges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labelled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nodes</a:t>
            </a:r>
            <a:r>
              <a:rPr lang="hu-HU" dirty="0" smtClean="0"/>
              <a:t> </a:t>
            </a:r>
            <a:r>
              <a:rPr lang="hu-HU" dirty="0" err="1" smtClean="0"/>
              <a:t>store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count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following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parent</a:t>
            </a:r>
            <a:r>
              <a:rPr lang="hu-HU" dirty="0" smtClean="0"/>
              <a:t> </a:t>
            </a:r>
            <a:r>
              <a:rPr lang="hu-HU" dirty="0" err="1" smtClean="0"/>
              <a:t>node</a:t>
            </a:r>
            <a:r>
              <a:rPr lang="hu-HU" dirty="0" smtClean="0"/>
              <a:t>’s </a:t>
            </a:r>
            <a:r>
              <a:rPr lang="hu-HU" dirty="0" err="1" smtClean="0"/>
              <a:t>token</a:t>
            </a:r>
            <a:r>
              <a:rPr lang="hu-HU" dirty="0" smtClean="0"/>
              <a:t> (i.e.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edge</a:t>
            </a:r>
            <a:r>
              <a:rPr lang="hu-HU" dirty="0" smtClean="0"/>
              <a:t> </a:t>
            </a:r>
            <a:r>
              <a:rPr lang="hu-HU" dirty="0" err="1" smtClean="0"/>
              <a:t>leading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node</a:t>
            </a:r>
            <a:r>
              <a:rPr lang="hu-HU" dirty="0" smtClean="0"/>
              <a:t>).</a:t>
            </a:r>
          </a:p>
          <a:p>
            <a:pPr lvl="2"/>
            <a:r>
              <a:rPr lang="hu-HU" dirty="0" smtClean="0"/>
              <a:t>The </a:t>
            </a:r>
            <a:r>
              <a:rPr lang="hu-HU" dirty="0" err="1" smtClean="0"/>
              <a:t>root</a:t>
            </a:r>
            <a:r>
              <a:rPr lang="hu-HU" dirty="0" smtClean="0"/>
              <a:t> </a:t>
            </a:r>
            <a:r>
              <a:rPr lang="hu-HU" dirty="0" err="1" smtClean="0"/>
              <a:t>node</a:t>
            </a:r>
            <a:r>
              <a:rPr lang="hu-HU" dirty="0" smtClean="0"/>
              <a:t> </a:t>
            </a:r>
            <a:r>
              <a:rPr lang="hu-HU" dirty="0" err="1" smtClean="0"/>
              <a:t>stores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total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count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corpus.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allows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an </a:t>
            </a:r>
            <a:r>
              <a:rPr lang="hu-HU" dirty="0" err="1" smtClean="0"/>
              <a:t>n-dimensional</a:t>
            </a:r>
            <a:r>
              <a:rPr lang="hu-HU" dirty="0" smtClean="0"/>
              <a:t> </a:t>
            </a:r>
            <a:r>
              <a:rPr lang="hu-HU" dirty="0" err="1" smtClean="0"/>
              <a:t>matrix-like</a:t>
            </a:r>
            <a:r>
              <a:rPr lang="hu-HU" dirty="0" smtClean="0"/>
              <a:t> </a:t>
            </a:r>
            <a:r>
              <a:rPr lang="hu-HU" dirty="0" err="1" smtClean="0"/>
              <a:t>structure</a:t>
            </a:r>
            <a:r>
              <a:rPr lang="hu-HU" dirty="0" smtClean="0"/>
              <a:t>, a </a:t>
            </a:r>
            <a:r>
              <a:rPr lang="hu-HU" dirty="0" err="1" smtClean="0"/>
              <a:t>tree</a:t>
            </a:r>
            <a:r>
              <a:rPr lang="hu-HU" dirty="0" smtClean="0"/>
              <a:t> of </a:t>
            </a:r>
            <a:r>
              <a:rPr lang="hu-HU" dirty="0" err="1" smtClean="0"/>
              <a:t>depth</a:t>
            </a:r>
            <a:r>
              <a:rPr lang="hu-HU" dirty="0" smtClean="0"/>
              <a:t> n,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represents</a:t>
            </a:r>
            <a:r>
              <a:rPr lang="hu-HU" dirty="0" smtClean="0"/>
              <a:t> an </a:t>
            </a:r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total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r>
              <a:rPr lang="hu-HU" dirty="0" smtClean="0"/>
              <a:t>,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penultimate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r>
              <a:rPr lang="hu-HU" dirty="0" smtClean="0"/>
              <a:t>,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something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zero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: </a:t>
            </a:r>
            <a:r>
              <a:rPr lang="hu-HU" b="1" dirty="0" err="1" smtClean="0"/>
              <a:t>smoothing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don</a:t>
            </a:r>
            <a:r>
              <a:rPr lang="hu-HU" dirty="0" smtClean="0"/>
              <a:t>’t </a:t>
            </a:r>
            <a:r>
              <a:rPr lang="hu-HU" dirty="0" err="1" smtClean="0"/>
              <a:t>want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a </a:t>
            </a:r>
            <a:r>
              <a:rPr lang="hu-HU" dirty="0" err="1" smtClean="0"/>
              <a:t>bigram</a:t>
            </a:r>
            <a:r>
              <a:rPr lang="hu-HU" dirty="0" smtClean="0"/>
              <a:t> is </a:t>
            </a:r>
            <a:r>
              <a:rPr lang="hu-HU" dirty="0" err="1" smtClean="0"/>
              <a:t>impossible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because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happened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corpus.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want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assign</a:t>
            </a:r>
            <a:r>
              <a:rPr lang="hu-HU" dirty="0" smtClean="0"/>
              <a:t> </a:t>
            </a:r>
            <a:r>
              <a:rPr lang="hu-HU" dirty="0" err="1" smtClean="0"/>
              <a:t>low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non-zero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events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70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Smoothing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sz="3100" dirty="0" smtClean="0"/>
              <a:t>Most </a:t>
            </a:r>
            <a:r>
              <a:rPr lang="hu-HU" sz="3100" dirty="0" err="1" smtClean="0"/>
              <a:t>simplistic</a:t>
            </a:r>
            <a:r>
              <a:rPr lang="hu-HU" sz="3100" dirty="0" smtClean="0"/>
              <a:t> </a:t>
            </a:r>
            <a:r>
              <a:rPr lang="hu-HU" sz="3100" dirty="0" err="1" smtClean="0"/>
              <a:t>solution</a:t>
            </a:r>
            <a:r>
              <a:rPr lang="hu-HU" sz="3100" dirty="0" smtClean="0"/>
              <a:t>: </a:t>
            </a:r>
            <a:r>
              <a:rPr lang="hu-HU" sz="3100" b="1" dirty="0" smtClean="0"/>
              <a:t>add 1 </a:t>
            </a:r>
            <a:r>
              <a:rPr lang="hu-HU" sz="3100" b="1" dirty="0" err="1" smtClean="0"/>
              <a:t>to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the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n-gram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counts</a:t>
            </a:r>
            <a:r>
              <a:rPr lang="hu-HU" sz="3100" b="1" dirty="0" smtClean="0"/>
              <a:t> </a:t>
            </a:r>
            <a:r>
              <a:rPr lang="hu-HU" sz="3100" dirty="0" err="1" smtClean="0"/>
              <a:t>found</a:t>
            </a:r>
            <a:r>
              <a:rPr lang="hu-HU" sz="3100" dirty="0" smtClean="0"/>
              <a:t> </a:t>
            </a:r>
            <a:r>
              <a:rPr lang="hu-HU" sz="3100" dirty="0" err="1" smtClean="0"/>
              <a:t>in</a:t>
            </a:r>
            <a:r>
              <a:rPr lang="hu-HU" sz="3100" dirty="0" smtClean="0"/>
              <a:t> </a:t>
            </a:r>
            <a:r>
              <a:rPr lang="hu-HU" sz="3100" dirty="0" err="1" smtClean="0"/>
              <a:t>the</a:t>
            </a:r>
            <a:r>
              <a:rPr lang="hu-HU" sz="3100" dirty="0" smtClean="0"/>
              <a:t> corpus </a:t>
            </a:r>
            <a:r>
              <a:rPr lang="hu-HU" sz="3100" dirty="0" err="1" smtClean="0"/>
              <a:t>for</a:t>
            </a:r>
            <a:r>
              <a:rPr lang="hu-HU" sz="3100" dirty="0" smtClean="0"/>
              <a:t> </a:t>
            </a:r>
            <a:r>
              <a:rPr lang="hu-HU" sz="3100" dirty="0" err="1" smtClean="0"/>
              <a:t>all</a:t>
            </a:r>
            <a:r>
              <a:rPr lang="hu-HU" sz="3100" dirty="0" smtClean="0"/>
              <a:t> </a:t>
            </a:r>
            <a:r>
              <a:rPr lang="hu-HU" sz="3100" dirty="0" err="1" smtClean="0"/>
              <a:t>elements</a:t>
            </a:r>
            <a:r>
              <a:rPr lang="hu-HU" sz="3100" dirty="0" smtClean="0"/>
              <a:t> of </a:t>
            </a:r>
            <a:r>
              <a:rPr lang="hu-HU" sz="3100" dirty="0" err="1" smtClean="0"/>
              <a:t>the</a:t>
            </a:r>
            <a:r>
              <a:rPr lang="hu-HU" sz="3100" dirty="0" smtClean="0"/>
              <a:t> </a:t>
            </a:r>
            <a:r>
              <a:rPr lang="hu-HU" sz="3100" dirty="0" err="1" smtClean="0"/>
              <a:t>vocabulary</a:t>
            </a:r>
            <a:endParaRPr lang="hu-HU" sz="3100" dirty="0" smtClean="0"/>
          </a:p>
          <a:p>
            <a:pPr lvl="1"/>
            <a:r>
              <a:rPr lang="hu-HU" sz="2600" dirty="0" smtClean="0"/>
              <a:t>1 </a:t>
            </a:r>
            <a:r>
              <a:rPr lang="hu-HU" sz="2600" dirty="0" err="1" smtClean="0"/>
              <a:t>becomes</a:t>
            </a:r>
            <a:r>
              <a:rPr lang="hu-HU" sz="2600" dirty="0" smtClean="0"/>
              <a:t> 2, 0 </a:t>
            </a:r>
            <a:r>
              <a:rPr lang="hu-HU" sz="2600" dirty="0" err="1" smtClean="0"/>
              <a:t>becomes</a:t>
            </a:r>
            <a:r>
              <a:rPr lang="hu-HU" sz="2600" dirty="0" smtClean="0"/>
              <a:t> 1, etc.</a:t>
            </a:r>
          </a:p>
          <a:p>
            <a:pPr lvl="1"/>
            <a:r>
              <a:rPr lang="hu-HU" sz="2600" dirty="0" smtClean="0"/>
              <a:t>add a </a:t>
            </a:r>
            <a:r>
              <a:rPr lang="hu-HU" sz="2600" dirty="0" err="1" smtClean="0"/>
              <a:t>column</a:t>
            </a:r>
            <a:r>
              <a:rPr lang="hu-HU" sz="2600" dirty="0" smtClean="0"/>
              <a:t> and </a:t>
            </a:r>
            <a:r>
              <a:rPr lang="hu-HU" sz="2600" dirty="0" err="1" smtClean="0"/>
              <a:t>row</a:t>
            </a:r>
            <a:r>
              <a:rPr lang="hu-HU" sz="2600" dirty="0" smtClean="0"/>
              <a:t> </a:t>
            </a:r>
            <a:r>
              <a:rPr lang="hu-HU" sz="2600" dirty="0" err="1" smtClean="0"/>
              <a:t>for</a:t>
            </a:r>
            <a:r>
              <a:rPr lang="hu-HU" sz="2600" dirty="0" smtClean="0"/>
              <a:t> </a:t>
            </a:r>
            <a:r>
              <a:rPr lang="hu-HU" sz="2600" dirty="0" err="1" smtClean="0"/>
              <a:t>OOV</a:t>
            </a:r>
            <a:r>
              <a:rPr lang="hu-HU" sz="2600" dirty="0" smtClean="0"/>
              <a:t> (out of </a:t>
            </a:r>
            <a:r>
              <a:rPr lang="hu-HU" sz="2600" dirty="0" err="1" smtClean="0"/>
              <a:t>vocabulary</a:t>
            </a:r>
            <a:r>
              <a:rPr lang="hu-HU" sz="2600" dirty="0" smtClean="0"/>
              <a:t>) </a:t>
            </a:r>
            <a:r>
              <a:rPr lang="hu-HU" sz="2600" dirty="0" err="1" smtClean="0"/>
              <a:t>tokens</a:t>
            </a:r>
            <a:r>
              <a:rPr lang="hu-HU" sz="2600" dirty="0" smtClean="0"/>
              <a:t> </a:t>
            </a:r>
            <a:r>
              <a:rPr lang="hu-HU" sz="2600" dirty="0" err="1" smtClean="0"/>
              <a:t>that</a:t>
            </a:r>
            <a:r>
              <a:rPr lang="hu-HU" sz="2600" dirty="0" smtClean="0"/>
              <a:t> </a:t>
            </a:r>
            <a:r>
              <a:rPr lang="hu-HU" sz="2600" dirty="0" err="1" smtClean="0"/>
              <a:t>never</a:t>
            </a:r>
            <a:r>
              <a:rPr lang="hu-HU" sz="2600" dirty="0" smtClean="0"/>
              <a:t> </a:t>
            </a:r>
            <a:r>
              <a:rPr lang="hu-HU" sz="2600" dirty="0" err="1" smtClean="0"/>
              <a:t>occurred</a:t>
            </a:r>
            <a:r>
              <a:rPr lang="hu-HU" sz="2600" dirty="0" smtClean="0"/>
              <a:t> </a:t>
            </a:r>
            <a:r>
              <a:rPr lang="hu-HU" sz="2600" dirty="0" err="1" smtClean="0"/>
              <a:t>in</a:t>
            </a:r>
            <a:r>
              <a:rPr lang="hu-HU" sz="2600" dirty="0" smtClean="0"/>
              <a:t> </a:t>
            </a:r>
            <a:r>
              <a:rPr lang="hu-HU" sz="2600" dirty="0" err="1" smtClean="0"/>
              <a:t>the</a:t>
            </a:r>
            <a:r>
              <a:rPr lang="hu-HU" sz="2600" dirty="0" smtClean="0"/>
              <a:t> corpus, </a:t>
            </a:r>
            <a:r>
              <a:rPr lang="hu-HU" sz="2600" dirty="0" err="1" smtClean="0"/>
              <a:t>also</a:t>
            </a:r>
            <a:r>
              <a:rPr lang="hu-HU" sz="2600" dirty="0" smtClean="0"/>
              <a:t> </a:t>
            </a:r>
            <a:r>
              <a:rPr lang="hu-HU" sz="2600" dirty="0" err="1" smtClean="0"/>
              <a:t>count</a:t>
            </a:r>
            <a:r>
              <a:rPr lang="hu-HU" sz="2600" dirty="0" smtClean="0"/>
              <a:t> </a:t>
            </a:r>
            <a:r>
              <a:rPr lang="hu-HU" sz="2600" dirty="0" err="1" smtClean="0"/>
              <a:t>this</a:t>
            </a:r>
            <a:r>
              <a:rPr lang="hu-HU" sz="2600" dirty="0" smtClean="0"/>
              <a:t> </a:t>
            </a:r>
            <a:r>
              <a:rPr lang="hu-HU" sz="2600" dirty="0" err="1" smtClean="0"/>
              <a:t>as</a:t>
            </a:r>
            <a:r>
              <a:rPr lang="hu-HU" sz="2600" dirty="0" smtClean="0"/>
              <a:t> 1</a:t>
            </a:r>
          </a:p>
          <a:p>
            <a:pPr lvl="1"/>
            <a:r>
              <a:rPr lang="hu-HU" sz="2600" dirty="0" err="1" smtClean="0"/>
              <a:t>Problem</a:t>
            </a:r>
            <a:r>
              <a:rPr lang="hu-HU" sz="2600" dirty="0" smtClean="0"/>
              <a:t>: </a:t>
            </a:r>
            <a:r>
              <a:rPr lang="hu-HU" sz="2600" dirty="0" err="1" smtClean="0"/>
              <a:t>adding</a:t>
            </a:r>
            <a:r>
              <a:rPr lang="hu-HU" sz="2600" dirty="0" smtClean="0"/>
              <a:t> 1 </a:t>
            </a:r>
            <a:r>
              <a:rPr lang="hu-HU" sz="2600" dirty="0" err="1" smtClean="0"/>
              <a:t>to</a:t>
            </a:r>
            <a:r>
              <a:rPr lang="hu-HU" sz="2600" dirty="0" smtClean="0"/>
              <a:t> </a:t>
            </a:r>
            <a:r>
              <a:rPr lang="hu-HU" sz="2600" dirty="0" err="1" smtClean="0"/>
              <a:t>all</a:t>
            </a:r>
            <a:r>
              <a:rPr lang="hu-HU" sz="2600" dirty="0" smtClean="0"/>
              <a:t> </a:t>
            </a:r>
            <a:r>
              <a:rPr lang="hu-HU" sz="2600" dirty="0" err="1" smtClean="0"/>
              <a:t>n-gram</a:t>
            </a:r>
            <a:r>
              <a:rPr lang="hu-HU" sz="2600" dirty="0" smtClean="0"/>
              <a:t> </a:t>
            </a:r>
            <a:r>
              <a:rPr lang="hu-HU" sz="2600" dirty="0" err="1" smtClean="0"/>
              <a:t>counts</a:t>
            </a:r>
            <a:r>
              <a:rPr lang="hu-HU" sz="2600" dirty="0" smtClean="0"/>
              <a:t> </a:t>
            </a:r>
            <a:r>
              <a:rPr lang="hu-HU" sz="2600" dirty="0" err="1" smtClean="0"/>
              <a:t>overestimates</a:t>
            </a:r>
            <a:r>
              <a:rPr lang="hu-HU" sz="2600" dirty="0"/>
              <a:t> </a:t>
            </a:r>
            <a:r>
              <a:rPr lang="hu-HU" sz="2600" dirty="0" err="1" smtClean="0"/>
              <a:t>the</a:t>
            </a:r>
            <a:r>
              <a:rPr lang="hu-HU" sz="2600" dirty="0" smtClean="0"/>
              <a:t> </a:t>
            </a:r>
            <a:r>
              <a:rPr lang="hu-HU" sz="2600" dirty="0" err="1" smtClean="0"/>
              <a:t>true</a:t>
            </a:r>
            <a:r>
              <a:rPr lang="hu-HU" sz="2600" dirty="0" smtClean="0"/>
              <a:t> </a:t>
            </a:r>
            <a:r>
              <a:rPr lang="hu-HU" sz="2600" dirty="0" err="1" smtClean="0"/>
              <a:t>probability</a:t>
            </a:r>
            <a:r>
              <a:rPr lang="hu-HU" sz="2600" dirty="0" smtClean="0"/>
              <a:t> of </a:t>
            </a:r>
            <a:r>
              <a:rPr lang="hu-HU" sz="2600" dirty="0" err="1" smtClean="0"/>
              <a:t>unlikely</a:t>
            </a:r>
            <a:r>
              <a:rPr lang="hu-HU" sz="2600" dirty="0" smtClean="0"/>
              <a:t> </a:t>
            </a:r>
            <a:r>
              <a:rPr lang="hu-HU" sz="2600" dirty="0" err="1" smtClean="0"/>
              <a:t>events</a:t>
            </a:r>
            <a:r>
              <a:rPr lang="hu-HU" sz="2600" dirty="0" smtClean="0"/>
              <a:t> </a:t>
            </a:r>
            <a:r>
              <a:rPr lang="hu-HU" sz="2600" dirty="0" err="1" smtClean="0"/>
              <a:t>drastically</a:t>
            </a:r>
            <a:endParaRPr lang="hu-HU" sz="2600" dirty="0" smtClean="0"/>
          </a:p>
          <a:p>
            <a:r>
              <a:rPr lang="hu-HU" sz="3100" dirty="0" err="1" smtClean="0"/>
              <a:t>Better</a:t>
            </a:r>
            <a:r>
              <a:rPr lang="hu-HU" sz="3100" dirty="0" smtClean="0"/>
              <a:t> </a:t>
            </a:r>
            <a:r>
              <a:rPr lang="hu-HU" sz="3100" dirty="0" err="1" smtClean="0"/>
              <a:t>solution</a:t>
            </a:r>
            <a:r>
              <a:rPr lang="hu-HU" sz="3100" dirty="0" smtClean="0"/>
              <a:t>: </a:t>
            </a:r>
            <a:r>
              <a:rPr lang="hu-HU" sz="3100" b="1" dirty="0" err="1" smtClean="0"/>
              <a:t>reduce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all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real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counts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by</a:t>
            </a:r>
            <a:r>
              <a:rPr lang="hu-HU" sz="3100" b="1" dirty="0" smtClean="0"/>
              <a:t> a </a:t>
            </a:r>
            <a:r>
              <a:rPr lang="hu-HU" sz="3100" b="1" dirty="0" err="1" smtClean="0"/>
              <a:t>certain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proportion</a:t>
            </a:r>
            <a:r>
              <a:rPr lang="hu-HU" sz="3100" b="1" dirty="0" smtClean="0"/>
              <a:t>, </a:t>
            </a:r>
            <a:r>
              <a:rPr lang="hu-HU" sz="3100" dirty="0" err="1" smtClean="0"/>
              <a:t>e.g</a:t>
            </a:r>
            <a:r>
              <a:rPr lang="hu-HU" sz="3100" dirty="0" smtClean="0"/>
              <a:t>. 10%, </a:t>
            </a:r>
            <a:r>
              <a:rPr lang="hu-HU" sz="3100" dirty="0" err="1" smtClean="0"/>
              <a:t>then</a:t>
            </a:r>
            <a:r>
              <a:rPr lang="hu-HU" sz="3100" dirty="0" smtClean="0"/>
              <a:t> </a:t>
            </a:r>
            <a:r>
              <a:rPr lang="hu-HU" sz="3100" b="1" dirty="0" err="1" smtClean="0"/>
              <a:t>distribute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this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amount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uniformly</a:t>
            </a:r>
            <a:r>
              <a:rPr lang="hu-HU" sz="3100" b="1" dirty="0" smtClean="0"/>
              <a:t> </a:t>
            </a:r>
            <a:r>
              <a:rPr lang="hu-HU" sz="3100" dirty="0" err="1" smtClean="0"/>
              <a:t>between</a:t>
            </a:r>
            <a:r>
              <a:rPr lang="hu-HU" sz="3100" dirty="0" smtClean="0"/>
              <a:t> </a:t>
            </a:r>
            <a:r>
              <a:rPr lang="hu-HU" sz="3100" dirty="0" err="1" smtClean="0"/>
              <a:t>the</a:t>
            </a:r>
            <a:r>
              <a:rPr lang="hu-HU" sz="3100" dirty="0" smtClean="0"/>
              <a:t> </a:t>
            </a:r>
            <a:r>
              <a:rPr lang="hu-HU" sz="3100" dirty="0" err="1" smtClean="0"/>
              <a:t>unattested</a:t>
            </a:r>
            <a:r>
              <a:rPr lang="hu-HU" sz="3100" dirty="0"/>
              <a:t> </a:t>
            </a:r>
            <a:r>
              <a:rPr lang="hu-HU" sz="3100" dirty="0" err="1" smtClean="0"/>
              <a:t>n-grams</a:t>
            </a:r>
            <a:r>
              <a:rPr lang="hu-HU" sz="3100" dirty="0" smtClean="0"/>
              <a:t> </a:t>
            </a:r>
            <a:r>
              <a:rPr lang="hu-HU" sz="3100" dirty="0" err="1" smtClean="0"/>
              <a:t>with</a:t>
            </a:r>
            <a:r>
              <a:rPr lang="hu-HU" sz="3100" dirty="0" smtClean="0"/>
              <a:t> </a:t>
            </a:r>
            <a:r>
              <a:rPr lang="hu-HU" sz="3100" dirty="0" err="1" smtClean="0"/>
              <a:t>count</a:t>
            </a:r>
            <a:r>
              <a:rPr lang="hu-HU" sz="3100" dirty="0" smtClean="0"/>
              <a:t> 0</a:t>
            </a:r>
          </a:p>
          <a:p>
            <a:pPr lvl="1"/>
            <a:r>
              <a:rPr lang="hu-HU" sz="2500" dirty="0" err="1" smtClean="0"/>
              <a:t>For</a:t>
            </a:r>
            <a:r>
              <a:rPr lang="hu-HU" sz="2500" dirty="0" smtClean="0"/>
              <a:t> </a:t>
            </a:r>
            <a:r>
              <a:rPr lang="hu-HU" sz="2500" dirty="0" err="1" smtClean="0"/>
              <a:t>example</a:t>
            </a:r>
            <a:r>
              <a:rPr lang="hu-HU" sz="2500" dirty="0" smtClean="0"/>
              <a:t>: V = 1000, </a:t>
            </a:r>
            <a:r>
              <a:rPr lang="hu-HU" sz="2500" dirty="0" err="1" smtClean="0"/>
              <a:t>the</a:t>
            </a:r>
            <a:r>
              <a:rPr lang="hu-HU" sz="2500" dirty="0" smtClean="0"/>
              <a:t> corpus </a:t>
            </a:r>
            <a:r>
              <a:rPr lang="hu-HU" sz="2500" dirty="0" err="1" smtClean="0"/>
              <a:t>contains</a:t>
            </a:r>
            <a:r>
              <a:rPr lang="hu-HU" sz="2500" dirty="0" smtClean="0"/>
              <a:t> 20,000 </a:t>
            </a:r>
            <a:r>
              <a:rPr lang="hu-HU" sz="2500" dirty="0" err="1" smtClean="0"/>
              <a:t>n-grams</a:t>
            </a:r>
            <a:r>
              <a:rPr lang="hu-HU" sz="2500" dirty="0" smtClean="0"/>
              <a:t>, </a:t>
            </a:r>
            <a:r>
              <a:rPr lang="hu-HU" sz="2500" dirty="0" err="1" smtClean="0"/>
              <a:t>distributed</a:t>
            </a:r>
            <a:r>
              <a:rPr lang="hu-HU" sz="2500" dirty="0" smtClean="0"/>
              <a:t> </a:t>
            </a:r>
            <a:r>
              <a:rPr lang="hu-HU" sz="2500" dirty="0" err="1" smtClean="0"/>
              <a:t>between</a:t>
            </a:r>
            <a:r>
              <a:rPr lang="hu-HU" sz="2500" dirty="0" smtClean="0"/>
              <a:t> 10,000 </a:t>
            </a:r>
            <a:r>
              <a:rPr lang="hu-HU" sz="2500" dirty="0" err="1" smtClean="0"/>
              <a:t>n-gram</a:t>
            </a:r>
            <a:r>
              <a:rPr lang="hu-HU" sz="2500" dirty="0" smtClean="0"/>
              <a:t> </a:t>
            </a:r>
            <a:r>
              <a:rPr lang="hu-HU" sz="2500" dirty="0" err="1" smtClean="0"/>
              <a:t>types</a:t>
            </a:r>
            <a:r>
              <a:rPr lang="hu-HU" sz="2500" dirty="0" smtClean="0"/>
              <a:t>; </a:t>
            </a:r>
            <a:r>
              <a:rPr lang="hu-HU" sz="2500" dirty="0" err="1" smtClean="0"/>
              <a:t>reduce</a:t>
            </a:r>
            <a:r>
              <a:rPr lang="hu-HU" sz="2500" dirty="0" smtClean="0"/>
              <a:t> </a:t>
            </a:r>
            <a:r>
              <a:rPr lang="hu-HU" sz="2500" dirty="0" err="1" smtClean="0"/>
              <a:t>all</a:t>
            </a:r>
            <a:r>
              <a:rPr lang="hu-HU" sz="2500" dirty="0" smtClean="0"/>
              <a:t> </a:t>
            </a:r>
            <a:r>
              <a:rPr lang="hu-HU" sz="2500" dirty="0" err="1" smtClean="0"/>
              <a:t>counts</a:t>
            </a:r>
            <a:r>
              <a:rPr lang="hu-HU" sz="2500" dirty="0" smtClean="0"/>
              <a:t> </a:t>
            </a:r>
            <a:r>
              <a:rPr lang="hu-HU" sz="2500" dirty="0" err="1" smtClean="0"/>
              <a:t>by</a:t>
            </a:r>
            <a:r>
              <a:rPr lang="hu-HU" sz="2500" dirty="0" smtClean="0"/>
              <a:t> 10%, and </a:t>
            </a:r>
            <a:r>
              <a:rPr lang="hu-HU" sz="2500" dirty="0" err="1" smtClean="0"/>
              <a:t>distribute</a:t>
            </a:r>
            <a:r>
              <a:rPr lang="hu-HU" sz="2500" dirty="0" smtClean="0"/>
              <a:t> </a:t>
            </a:r>
            <a:r>
              <a:rPr lang="hu-HU" sz="2500" dirty="0" err="1" smtClean="0"/>
              <a:t>the</a:t>
            </a:r>
            <a:r>
              <a:rPr lang="hu-HU" sz="2500" dirty="0" smtClean="0"/>
              <a:t> 2,000 </a:t>
            </a:r>
            <a:r>
              <a:rPr lang="hu-HU" sz="2500" dirty="0" err="1" smtClean="0"/>
              <a:t>between</a:t>
            </a:r>
            <a:r>
              <a:rPr lang="hu-HU" sz="2500" dirty="0" smtClean="0"/>
              <a:t> </a:t>
            </a:r>
            <a:r>
              <a:rPr lang="hu-HU" sz="2500" dirty="0" err="1" smtClean="0"/>
              <a:t>the</a:t>
            </a:r>
            <a:r>
              <a:rPr lang="hu-HU" sz="2500" dirty="0" smtClean="0"/>
              <a:t> 990,000 </a:t>
            </a:r>
            <a:r>
              <a:rPr lang="hu-HU" sz="2500" dirty="0" err="1" smtClean="0"/>
              <a:t>unattested</a:t>
            </a:r>
            <a:r>
              <a:rPr lang="hu-HU" sz="2500" dirty="0" smtClean="0"/>
              <a:t> </a:t>
            </a:r>
            <a:r>
              <a:rPr lang="hu-HU" sz="2500" dirty="0" err="1" smtClean="0"/>
              <a:t>bigrams</a:t>
            </a:r>
            <a:endParaRPr lang="hu-HU" sz="2500" dirty="0" smtClean="0"/>
          </a:p>
          <a:p>
            <a:r>
              <a:rPr lang="hu-HU" sz="3100" dirty="0" err="1" smtClean="0"/>
              <a:t>Even</a:t>
            </a:r>
            <a:r>
              <a:rPr lang="hu-HU" sz="3100" dirty="0" smtClean="0"/>
              <a:t> </a:t>
            </a:r>
            <a:r>
              <a:rPr lang="hu-HU" sz="3100" dirty="0" err="1" smtClean="0"/>
              <a:t>better</a:t>
            </a:r>
            <a:r>
              <a:rPr lang="hu-HU" sz="3100" dirty="0" smtClean="0"/>
              <a:t>: </a:t>
            </a:r>
            <a:r>
              <a:rPr lang="hu-HU" sz="3100" dirty="0" err="1" smtClean="0"/>
              <a:t>do</a:t>
            </a:r>
            <a:r>
              <a:rPr lang="hu-HU" sz="3100" dirty="0" smtClean="0"/>
              <a:t> </a:t>
            </a:r>
            <a:r>
              <a:rPr lang="hu-HU" sz="3100" dirty="0" err="1" smtClean="0"/>
              <a:t>not</a:t>
            </a:r>
            <a:r>
              <a:rPr lang="hu-HU" sz="3100" dirty="0" smtClean="0"/>
              <a:t> </a:t>
            </a:r>
            <a:r>
              <a:rPr lang="hu-HU" sz="3100" b="1" dirty="0" err="1" smtClean="0"/>
              <a:t>distribute</a:t>
            </a:r>
            <a:r>
              <a:rPr lang="hu-HU" sz="3100" b="1" dirty="0" smtClean="0"/>
              <a:t> </a:t>
            </a:r>
            <a:r>
              <a:rPr lang="hu-HU" sz="3100" dirty="0" err="1" smtClean="0"/>
              <a:t>uniformly</a:t>
            </a:r>
            <a:r>
              <a:rPr lang="hu-HU" sz="3100" dirty="0" smtClean="0"/>
              <a:t>, </a:t>
            </a:r>
            <a:r>
              <a:rPr lang="hu-HU" sz="3100" dirty="0" err="1" smtClean="0"/>
              <a:t>but</a:t>
            </a:r>
            <a:r>
              <a:rPr lang="hu-HU" sz="3100" dirty="0" smtClean="0"/>
              <a:t> </a:t>
            </a:r>
            <a:r>
              <a:rPr lang="hu-HU" sz="3100" b="1" dirty="0" err="1" smtClean="0"/>
              <a:t>in</a:t>
            </a:r>
            <a:r>
              <a:rPr lang="hu-HU" sz="3100" b="1" dirty="0" smtClean="0"/>
              <a:t> a </a:t>
            </a:r>
            <a:r>
              <a:rPr lang="hu-HU" sz="3100" b="1" dirty="0" err="1" smtClean="0"/>
              <a:t>differentiated</a:t>
            </a:r>
            <a:r>
              <a:rPr lang="hu-HU" sz="3100" b="1" dirty="0" smtClean="0"/>
              <a:t> </a:t>
            </a:r>
            <a:r>
              <a:rPr lang="hu-HU" sz="3100" b="1" dirty="0" err="1" smtClean="0"/>
              <a:t>way</a:t>
            </a:r>
            <a:r>
              <a:rPr lang="hu-HU" sz="3100" b="1" dirty="0" smtClean="0"/>
              <a:t> </a:t>
            </a:r>
            <a:r>
              <a:rPr lang="hu-HU" sz="3100" dirty="0" err="1" smtClean="0"/>
              <a:t>based</a:t>
            </a:r>
            <a:r>
              <a:rPr lang="hu-HU" sz="3100" dirty="0" smtClean="0"/>
              <a:t> </a:t>
            </a:r>
            <a:r>
              <a:rPr lang="hu-HU" sz="3100" dirty="0" err="1" smtClean="0"/>
              <a:t>on</a:t>
            </a:r>
            <a:r>
              <a:rPr lang="hu-HU" sz="3100" dirty="0" smtClean="0"/>
              <a:t> </a:t>
            </a:r>
            <a:r>
              <a:rPr lang="hu-HU" sz="3100" dirty="0" err="1" smtClean="0"/>
              <a:t>unigram</a:t>
            </a:r>
            <a:r>
              <a:rPr lang="hu-HU" sz="3100" dirty="0" smtClean="0"/>
              <a:t> </a:t>
            </a:r>
            <a:r>
              <a:rPr lang="hu-HU" sz="3100" dirty="0" err="1" smtClean="0"/>
              <a:t>frequency</a:t>
            </a:r>
            <a:r>
              <a:rPr lang="hu-HU" sz="3100" dirty="0" smtClean="0"/>
              <a:t>, POS </a:t>
            </a:r>
            <a:r>
              <a:rPr lang="hu-HU" sz="3100" dirty="0" err="1" smtClean="0"/>
              <a:t>transition</a:t>
            </a:r>
            <a:r>
              <a:rPr lang="hu-HU" sz="3100" dirty="0" smtClean="0"/>
              <a:t> </a:t>
            </a:r>
            <a:r>
              <a:rPr lang="hu-HU" sz="3100" dirty="0" err="1" smtClean="0"/>
              <a:t>probability</a:t>
            </a:r>
            <a:r>
              <a:rPr lang="hu-HU" sz="3100" dirty="0" smtClean="0"/>
              <a:t> </a:t>
            </a:r>
            <a:r>
              <a:rPr lang="hu-HU" sz="3100" dirty="0" err="1" smtClean="0"/>
              <a:t>or</a:t>
            </a:r>
            <a:r>
              <a:rPr lang="hu-HU" sz="3100" dirty="0" smtClean="0"/>
              <a:t> </a:t>
            </a:r>
            <a:r>
              <a:rPr lang="hu-HU" sz="3100" dirty="0" err="1" smtClean="0"/>
              <a:t>similar</a:t>
            </a:r>
            <a:r>
              <a:rPr lang="hu-HU" sz="3100" dirty="0" smtClean="0"/>
              <a:t> </a:t>
            </a:r>
            <a:r>
              <a:rPr lang="hu-HU" sz="3100" dirty="0" err="1" smtClean="0"/>
              <a:t>factors</a:t>
            </a:r>
            <a:endParaRPr lang="hu-HU" sz="3100" dirty="0" smtClean="0"/>
          </a:p>
          <a:p>
            <a:pPr lvl="1"/>
            <a:r>
              <a:rPr lang="hu-HU" sz="2500" dirty="0" err="1" smtClean="0"/>
              <a:t>For</a:t>
            </a:r>
            <a:r>
              <a:rPr lang="hu-HU" sz="2500" dirty="0" smtClean="0"/>
              <a:t> </a:t>
            </a:r>
            <a:r>
              <a:rPr lang="hu-HU" sz="2500" dirty="0" err="1" smtClean="0"/>
              <a:t>example</a:t>
            </a:r>
            <a:r>
              <a:rPr lang="hu-HU" sz="2500" dirty="0" smtClean="0"/>
              <a:t>: </a:t>
            </a:r>
            <a:r>
              <a:rPr lang="hu-HU" sz="2500" i="1" dirty="0" err="1" smtClean="0"/>
              <a:t>the</a:t>
            </a:r>
            <a:r>
              <a:rPr lang="hu-HU" sz="2500" i="1" dirty="0" smtClean="0"/>
              <a:t> </a:t>
            </a:r>
            <a:r>
              <a:rPr lang="hu-HU" sz="2500" i="1" dirty="0" err="1" smtClean="0"/>
              <a:t>girl</a:t>
            </a:r>
            <a:r>
              <a:rPr lang="hu-HU" sz="2500" i="1" dirty="0" smtClean="0"/>
              <a:t> </a:t>
            </a:r>
            <a:r>
              <a:rPr lang="hu-HU" sz="2500" dirty="0" smtClean="0"/>
              <a:t>is </a:t>
            </a:r>
            <a:r>
              <a:rPr lang="hu-HU" sz="2500" dirty="0" err="1" smtClean="0"/>
              <a:t>not</a:t>
            </a:r>
            <a:r>
              <a:rPr lang="hu-HU" sz="2500" dirty="0" smtClean="0"/>
              <a:t> </a:t>
            </a:r>
            <a:r>
              <a:rPr lang="hu-HU" sz="2500" dirty="0" err="1" smtClean="0"/>
              <a:t>in</a:t>
            </a:r>
            <a:r>
              <a:rPr lang="hu-HU" sz="2500" dirty="0" smtClean="0"/>
              <a:t> </a:t>
            </a:r>
            <a:r>
              <a:rPr lang="hu-HU" sz="2500" dirty="0" err="1" smtClean="0"/>
              <a:t>the</a:t>
            </a:r>
            <a:r>
              <a:rPr lang="hu-HU" sz="2500" dirty="0" smtClean="0"/>
              <a:t> corpus, </a:t>
            </a:r>
            <a:r>
              <a:rPr lang="hu-HU" sz="2500" dirty="0" err="1" smtClean="0"/>
              <a:t>but</a:t>
            </a:r>
            <a:r>
              <a:rPr lang="hu-HU" sz="2500" dirty="0" smtClean="0"/>
              <a:t> </a:t>
            </a:r>
            <a:r>
              <a:rPr lang="hu-HU" sz="2500" dirty="0" err="1" smtClean="0"/>
              <a:t>both</a:t>
            </a:r>
            <a:r>
              <a:rPr lang="hu-HU" sz="2500" dirty="0" smtClean="0"/>
              <a:t> </a:t>
            </a:r>
            <a:r>
              <a:rPr lang="hu-HU" sz="2500" i="1" dirty="0" err="1" smtClean="0"/>
              <a:t>the</a:t>
            </a:r>
            <a:r>
              <a:rPr lang="hu-HU" sz="2500" dirty="0" smtClean="0"/>
              <a:t> and </a:t>
            </a:r>
            <a:r>
              <a:rPr lang="hu-HU" sz="2500" i="1" dirty="0" err="1" smtClean="0"/>
              <a:t>girl</a:t>
            </a:r>
            <a:r>
              <a:rPr lang="hu-HU" sz="2500" i="1" dirty="0" smtClean="0"/>
              <a:t> </a:t>
            </a:r>
            <a:r>
              <a:rPr lang="hu-HU" sz="2500" dirty="0" err="1" smtClean="0"/>
              <a:t>are</a:t>
            </a:r>
            <a:r>
              <a:rPr lang="hu-HU" sz="2500" dirty="0" smtClean="0"/>
              <a:t> </a:t>
            </a:r>
            <a:r>
              <a:rPr lang="hu-HU" sz="2500" dirty="0" err="1" smtClean="0"/>
              <a:t>relatively</a:t>
            </a:r>
            <a:r>
              <a:rPr lang="hu-HU" sz="2500" dirty="0" smtClean="0"/>
              <a:t> </a:t>
            </a:r>
            <a:r>
              <a:rPr lang="hu-HU" sz="2500" dirty="0" err="1" smtClean="0"/>
              <a:t>frequent</a:t>
            </a:r>
            <a:r>
              <a:rPr lang="hu-HU" sz="2500" dirty="0" smtClean="0"/>
              <a:t> </a:t>
            </a:r>
            <a:r>
              <a:rPr lang="hu-HU" sz="2500" dirty="0" err="1" smtClean="0"/>
              <a:t>as</a:t>
            </a:r>
            <a:r>
              <a:rPr lang="hu-HU" sz="2500" dirty="0" smtClean="0"/>
              <a:t> </a:t>
            </a:r>
            <a:r>
              <a:rPr lang="hu-HU" sz="2500" dirty="0" err="1" smtClean="0"/>
              <a:t>unigrams</a:t>
            </a:r>
            <a:r>
              <a:rPr lang="hu-HU" sz="2500" dirty="0" smtClean="0"/>
              <a:t>, </a:t>
            </a:r>
            <a:r>
              <a:rPr lang="hu-HU" sz="2500" dirty="0" err="1" smtClean="0"/>
              <a:t>so</a:t>
            </a:r>
            <a:r>
              <a:rPr lang="hu-HU" sz="2500" dirty="0" smtClean="0"/>
              <a:t> </a:t>
            </a:r>
            <a:r>
              <a:rPr lang="hu-HU" sz="2500" dirty="0" err="1" smtClean="0"/>
              <a:t>their</a:t>
            </a:r>
            <a:r>
              <a:rPr lang="hu-HU" sz="2500" dirty="0" smtClean="0"/>
              <a:t> </a:t>
            </a:r>
            <a:r>
              <a:rPr lang="hu-HU" sz="2500" dirty="0" err="1" smtClean="0"/>
              <a:t>combination</a:t>
            </a:r>
            <a:r>
              <a:rPr lang="hu-HU" sz="2500" dirty="0" smtClean="0"/>
              <a:t> </a:t>
            </a:r>
            <a:r>
              <a:rPr lang="hu-HU" sz="2500" dirty="0" err="1" smtClean="0"/>
              <a:t>should</a:t>
            </a:r>
            <a:r>
              <a:rPr lang="hu-HU" sz="2500" dirty="0" smtClean="0"/>
              <a:t> </a:t>
            </a:r>
            <a:r>
              <a:rPr lang="hu-HU" sz="2500" dirty="0" err="1" smtClean="0"/>
              <a:t>receive</a:t>
            </a:r>
            <a:r>
              <a:rPr lang="hu-HU" sz="2500" dirty="0" smtClean="0"/>
              <a:t> a </a:t>
            </a:r>
            <a:r>
              <a:rPr lang="hu-HU" sz="2500" dirty="0" err="1" smtClean="0"/>
              <a:t>much</a:t>
            </a:r>
            <a:r>
              <a:rPr lang="hu-HU" sz="2500" dirty="0" smtClean="0"/>
              <a:t> </a:t>
            </a:r>
            <a:r>
              <a:rPr lang="hu-HU" sz="2500" dirty="0" err="1" smtClean="0"/>
              <a:t>higher</a:t>
            </a:r>
            <a:r>
              <a:rPr lang="hu-HU" sz="2500" dirty="0" smtClean="0"/>
              <a:t> </a:t>
            </a:r>
            <a:r>
              <a:rPr lang="hu-HU" sz="2500" dirty="0" err="1" smtClean="0"/>
              <a:t>probability</a:t>
            </a:r>
            <a:r>
              <a:rPr lang="hu-HU" sz="2500" dirty="0" smtClean="0"/>
              <a:t> </a:t>
            </a:r>
            <a:r>
              <a:rPr lang="hu-HU" sz="2500" dirty="0" err="1" smtClean="0"/>
              <a:t>than</a:t>
            </a:r>
            <a:r>
              <a:rPr lang="hu-HU" sz="2500" dirty="0" smtClean="0"/>
              <a:t> </a:t>
            </a:r>
            <a:r>
              <a:rPr lang="hu-HU" sz="2500" i="1" dirty="0" err="1" smtClean="0"/>
              <a:t>compendious</a:t>
            </a:r>
            <a:r>
              <a:rPr lang="hu-HU" sz="2500" i="1" dirty="0" smtClean="0"/>
              <a:t> </a:t>
            </a:r>
            <a:r>
              <a:rPr lang="hu-HU" sz="2500" i="1" dirty="0" err="1" smtClean="0"/>
              <a:t>loweringly</a:t>
            </a:r>
            <a:r>
              <a:rPr lang="hu-HU" sz="2500" i="1" dirty="0" smtClean="0"/>
              <a:t>, </a:t>
            </a:r>
            <a:r>
              <a:rPr lang="hu-HU" sz="2500" dirty="0" err="1" smtClean="0"/>
              <a:t>both</a:t>
            </a:r>
            <a:r>
              <a:rPr lang="hu-HU" sz="2500" dirty="0" smtClean="0"/>
              <a:t> of </a:t>
            </a:r>
            <a:r>
              <a:rPr lang="hu-HU" sz="2500" dirty="0" err="1" smtClean="0"/>
              <a:t>which</a:t>
            </a:r>
            <a:r>
              <a:rPr lang="hu-HU" sz="2500" dirty="0" smtClean="0"/>
              <a:t> </a:t>
            </a:r>
            <a:r>
              <a:rPr lang="hu-HU" sz="2500" dirty="0" err="1" smtClean="0"/>
              <a:t>are</a:t>
            </a:r>
            <a:r>
              <a:rPr lang="hu-HU" sz="2500" dirty="0" smtClean="0"/>
              <a:t> </a:t>
            </a:r>
            <a:r>
              <a:rPr lang="hu-HU" sz="2500" dirty="0" err="1" smtClean="0"/>
              <a:t>rare</a:t>
            </a:r>
            <a:r>
              <a:rPr lang="hu-HU" sz="2500" dirty="0" smtClean="0"/>
              <a:t> </a:t>
            </a:r>
            <a:r>
              <a:rPr lang="hu-HU" sz="2500" dirty="0" err="1" smtClean="0"/>
              <a:t>individually</a:t>
            </a:r>
            <a:endParaRPr lang="hu-HU" sz="2500" dirty="0" smtClean="0"/>
          </a:p>
          <a:p>
            <a:r>
              <a:rPr lang="hu-HU" sz="3100" dirty="0" err="1" smtClean="0"/>
              <a:t>That</a:t>
            </a:r>
            <a:r>
              <a:rPr lang="hu-HU" sz="3100" dirty="0" smtClean="0"/>
              <a:t> </a:t>
            </a:r>
            <a:r>
              <a:rPr lang="hu-HU" sz="3100" dirty="0" err="1" smtClean="0"/>
              <a:t>having</a:t>
            </a:r>
            <a:r>
              <a:rPr lang="hu-HU" sz="3100" dirty="0" smtClean="0"/>
              <a:t> </a:t>
            </a:r>
            <a:r>
              <a:rPr lang="hu-HU" sz="3100" dirty="0" err="1" smtClean="0"/>
              <a:t>been</a:t>
            </a:r>
            <a:r>
              <a:rPr lang="hu-HU" sz="3100" dirty="0" smtClean="0"/>
              <a:t> </a:t>
            </a:r>
            <a:r>
              <a:rPr lang="hu-HU" sz="3100" dirty="0" err="1" smtClean="0"/>
              <a:t>said</a:t>
            </a:r>
            <a:r>
              <a:rPr lang="hu-HU" sz="3100" dirty="0"/>
              <a:t>:</a:t>
            </a:r>
            <a:r>
              <a:rPr lang="hu-HU" sz="3100" dirty="0" smtClean="0"/>
              <a:t> </a:t>
            </a:r>
            <a:r>
              <a:rPr lang="hu-HU" sz="3100" dirty="0" err="1" smtClean="0"/>
              <a:t>while</a:t>
            </a:r>
            <a:r>
              <a:rPr lang="hu-HU" sz="3100" dirty="0" smtClean="0"/>
              <a:t> a </a:t>
            </a:r>
            <a:r>
              <a:rPr lang="hu-HU" sz="3100" dirty="0" err="1" smtClean="0"/>
              <a:t>mathematically</a:t>
            </a:r>
            <a:r>
              <a:rPr lang="hu-HU" sz="3100" dirty="0" smtClean="0"/>
              <a:t> </a:t>
            </a:r>
            <a:r>
              <a:rPr lang="hu-HU" sz="3100" dirty="0" err="1" smtClean="0"/>
              <a:t>correct</a:t>
            </a:r>
            <a:r>
              <a:rPr lang="hu-HU" sz="3100" dirty="0" smtClean="0"/>
              <a:t> </a:t>
            </a:r>
            <a:r>
              <a:rPr lang="hu-HU" sz="3100" dirty="0" err="1" smtClean="0"/>
              <a:t>model</a:t>
            </a:r>
            <a:r>
              <a:rPr lang="hu-HU" sz="3100" dirty="0" smtClean="0"/>
              <a:t> is a </a:t>
            </a:r>
            <a:r>
              <a:rPr lang="hu-HU" sz="3100" dirty="0" err="1" smtClean="0"/>
              <a:t>nice</a:t>
            </a:r>
            <a:r>
              <a:rPr lang="hu-HU" sz="3100" dirty="0" smtClean="0"/>
              <a:t> </a:t>
            </a:r>
            <a:r>
              <a:rPr lang="hu-HU" sz="3100" dirty="0" err="1" smtClean="0"/>
              <a:t>thing</a:t>
            </a:r>
            <a:r>
              <a:rPr lang="hu-HU" sz="3100" dirty="0" smtClean="0"/>
              <a:t> </a:t>
            </a:r>
            <a:r>
              <a:rPr lang="hu-HU" sz="3100" dirty="0" err="1" smtClean="0"/>
              <a:t>to</a:t>
            </a:r>
            <a:r>
              <a:rPr lang="hu-HU" sz="3100" dirty="0" smtClean="0"/>
              <a:t> </a:t>
            </a:r>
            <a:r>
              <a:rPr lang="hu-HU" sz="3100" dirty="0" err="1" smtClean="0"/>
              <a:t>have</a:t>
            </a:r>
            <a:r>
              <a:rPr lang="hu-HU" sz="3100" dirty="0" smtClean="0"/>
              <a:t>, </a:t>
            </a:r>
            <a:r>
              <a:rPr lang="hu-HU" sz="3100" dirty="0" err="1" smtClean="0"/>
              <a:t>it</a:t>
            </a:r>
            <a:r>
              <a:rPr lang="hu-HU" sz="3100" dirty="0" smtClean="0"/>
              <a:t> </a:t>
            </a:r>
            <a:r>
              <a:rPr lang="hu-HU" sz="3100" dirty="0" err="1" smtClean="0"/>
              <a:t>doesn</a:t>
            </a:r>
            <a:r>
              <a:rPr lang="hu-HU" sz="3100" dirty="0" smtClean="0"/>
              <a:t>’t </a:t>
            </a:r>
            <a:r>
              <a:rPr lang="hu-HU" sz="3100" dirty="0" err="1" smtClean="0"/>
              <a:t>really</a:t>
            </a:r>
            <a:r>
              <a:rPr lang="hu-HU" sz="3100" dirty="0" smtClean="0"/>
              <a:t> </a:t>
            </a:r>
            <a:r>
              <a:rPr lang="hu-HU" sz="3100" dirty="0" err="1" smtClean="0"/>
              <a:t>hurt</a:t>
            </a:r>
            <a:r>
              <a:rPr lang="hu-HU" sz="3100" dirty="0" smtClean="0"/>
              <a:t> </a:t>
            </a:r>
            <a:r>
              <a:rPr lang="hu-HU" sz="3100" dirty="0" err="1" smtClean="0"/>
              <a:t>if</a:t>
            </a:r>
            <a:r>
              <a:rPr lang="hu-HU" sz="3100" dirty="0" smtClean="0"/>
              <a:t> </a:t>
            </a:r>
            <a:r>
              <a:rPr lang="hu-HU" sz="3100" dirty="0" err="1" smtClean="0"/>
              <a:t>we</a:t>
            </a:r>
            <a:r>
              <a:rPr lang="hu-HU" sz="3100" dirty="0" smtClean="0"/>
              <a:t> </a:t>
            </a:r>
            <a:r>
              <a:rPr lang="hu-HU" sz="3100" dirty="0" err="1" smtClean="0"/>
              <a:t>simply</a:t>
            </a:r>
            <a:r>
              <a:rPr lang="hu-HU" sz="3100" dirty="0" smtClean="0"/>
              <a:t> </a:t>
            </a:r>
            <a:r>
              <a:rPr lang="hu-HU" sz="3100" dirty="0" err="1" smtClean="0"/>
              <a:t>assign</a:t>
            </a:r>
            <a:r>
              <a:rPr lang="hu-HU" sz="3100" dirty="0" smtClean="0"/>
              <a:t> a </a:t>
            </a:r>
            <a:r>
              <a:rPr lang="hu-HU" sz="3100" dirty="0" err="1" smtClean="0"/>
              <a:t>very</a:t>
            </a:r>
            <a:r>
              <a:rPr lang="hu-HU" sz="3100" dirty="0" smtClean="0"/>
              <a:t> </a:t>
            </a:r>
            <a:r>
              <a:rPr lang="hu-HU" sz="3100" dirty="0" err="1" smtClean="0"/>
              <a:t>small</a:t>
            </a:r>
            <a:r>
              <a:rPr lang="hu-HU" sz="3100" dirty="0" smtClean="0"/>
              <a:t> </a:t>
            </a:r>
            <a:r>
              <a:rPr lang="hu-HU" sz="3100" dirty="0" err="1" smtClean="0"/>
              <a:t>float</a:t>
            </a:r>
            <a:r>
              <a:rPr lang="hu-HU" sz="3100" dirty="0" smtClean="0"/>
              <a:t> (</a:t>
            </a:r>
            <a:r>
              <a:rPr lang="hu-HU" sz="3100" dirty="0" err="1" smtClean="0"/>
              <a:t>like</a:t>
            </a:r>
            <a:r>
              <a:rPr lang="hu-HU" sz="3100" dirty="0" smtClean="0"/>
              <a:t> 1e-8) </a:t>
            </a:r>
            <a:r>
              <a:rPr lang="hu-HU" sz="3100" dirty="0" err="1" smtClean="0"/>
              <a:t>to</a:t>
            </a:r>
            <a:r>
              <a:rPr lang="hu-HU" sz="3100" dirty="0" smtClean="0"/>
              <a:t> </a:t>
            </a:r>
            <a:r>
              <a:rPr lang="hu-HU" sz="3100" dirty="0" err="1" smtClean="0"/>
              <a:t>unattested</a:t>
            </a:r>
            <a:r>
              <a:rPr lang="hu-HU" sz="3100" dirty="0" smtClean="0"/>
              <a:t> </a:t>
            </a:r>
            <a:r>
              <a:rPr lang="hu-HU" sz="3100" dirty="0" err="1" smtClean="0"/>
              <a:t>events</a:t>
            </a:r>
            <a:r>
              <a:rPr lang="hu-HU" sz="3100" dirty="0" smtClean="0"/>
              <a:t> </a:t>
            </a:r>
            <a:r>
              <a:rPr lang="hu-HU" sz="3100" dirty="0" err="1" smtClean="0"/>
              <a:t>without</a:t>
            </a:r>
            <a:r>
              <a:rPr lang="hu-HU" sz="3100" dirty="0" smtClean="0"/>
              <a:t> </a:t>
            </a:r>
            <a:r>
              <a:rPr lang="hu-HU" sz="3100" dirty="0" err="1" smtClean="0"/>
              <a:t>overthinking</a:t>
            </a:r>
            <a:r>
              <a:rPr lang="hu-HU" sz="3100" dirty="0" smtClean="0"/>
              <a:t> </a:t>
            </a:r>
            <a:r>
              <a:rPr lang="hu-HU" sz="3100" dirty="0" err="1" smtClean="0"/>
              <a:t>it</a:t>
            </a:r>
            <a:r>
              <a:rPr lang="hu-HU" sz="3100" dirty="0" smtClean="0"/>
              <a:t>, and </a:t>
            </a:r>
            <a:r>
              <a:rPr lang="hu-HU" sz="3100" dirty="0" err="1" smtClean="0"/>
              <a:t>the</a:t>
            </a:r>
            <a:r>
              <a:rPr lang="hu-HU" sz="3100" dirty="0" smtClean="0"/>
              <a:t> </a:t>
            </a:r>
            <a:r>
              <a:rPr lang="hu-HU" sz="3100" dirty="0" err="1" smtClean="0"/>
              <a:t>individual</a:t>
            </a:r>
            <a:r>
              <a:rPr lang="hu-HU" sz="3100" dirty="0" smtClean="0"/>
              <a:t> </a:t>
            </a:r>
            <a:r>
              <a:rPr lang="hu-HU" sz="3100" dirty="0" err="1" smtClean="0"/>
              <a:t>probabilities</a:t>
            </a:r>
            <a:r>
              <a:rPr lang="hu-HU" sz="3100" dirty="0" smtClean="0"/>
              <a:t> </a:t>
            </a:r>
            <a:r>
              <a:rPr lang="hu-HU" sz="3100" dirty="0" err="1" smtClean="0"/>
              <a:t>do</a:t>
            </a:r>
            <a:r>
              <a:rPr lang="hu-HU" sz="3100" dirty="0" smtClean="0"/>
              <a:t> </a:t>
            </a:r>
            <a:r>
              <a:rPr lang="hu-HU" sz="3100" dirty="0" err="1" smtClean="0"/>
              <a:t>not</a:t>
            </a:r>
            <a:r>
              <a:rPr lang="hu-HU" sz="3100" dirty="0" smtClean="0"/>
              <a:t> add </a:t>
            </a:r>
            <a:r>
              <a:rPr lang="hu-HU" sz="3100" dirty="0" err="1" smtClean="0"/>
              <a:t>up</a:t>
            </a:r>
            <a:r>
              <a:rPr lang="hu-HU" sz="3100" dirty="0" smtClean="0"/>
              <a:t> </a:t>
            </a:r>
            <a:r>
              <a:rPr lang="hu-HU" sz="3100" dirty="0" err="1" smtClean="0"/>
              <a:t>to</a:t>
            </a:r>
            <a:r>
              <a:rPr lang="hu-HU" sz="3100" dirty="0" smtClean="0"/>
              <a:t> </a:t>
            </a:r>
            <a:r>
              <a:rPr lang="hu-HU" sz="3100" dirty="0" err="1" smtClean="0"/>
              <a:t>exactly</a:t>
            </a:r>
            <a:r>
              <a:rPr lang="hu-HU" sz="3100" dirty="0" smtClean="0"/>
              <a:t> 1</a:t>
            </a:r>
          </a:p>
          <a:p>
            <a:pPr lvl="1"/>
            <a:r>
              <a:rPr lang="hu-HU" sz="2500" dirty="0" err="1" smtClean="0"/>
              <a:t>In</a:t>
            </a:r>
            <a:r>
              <a:rPr lang="hu-HU" sz="2500" dirty="0" smtClean="0"/>
              <a:t> </a:t>
            </a:r>
            <a:r>
              <a:rPr lang="hu-HU" sz="2500" dirty="0" err="1" smtClean="0"/>
              <a:t>practice</a:t>
            </a:r>
            <a:r>
              <a:rPr lang="hu-HU" sz="2500" dirty="0" smtClean="0"/>
              <a:t>, </a:t>
            </a:r>
            <a:r>
              <a:rPr lang="hu-HU" sz="2500" dirty="0" err="1" smtClean="0"/>
              <a:t>they</a:t>
            </a:r>
            <a:r>
              <a:rPr lang="hu-HU" sz="2500" dirty="0" smtClean="0"/>
              <a:t> </a:t>
            </a:r>
            <a:r>
              <a:rPr lang="hu-HU" sz="2500" dirty="0" err="1" smtClean="0"/>
              <a:t>will</a:t>
            </a:r>
            <a:r>
              <a:rPr lang="hu-HU" sz="2500" dirty="0" smtClean="0"/>
              <a:t> </a:t>
            </a:r>
            <a:r>
              <a:rPr lang="hu-HU" sz="2500" dirty="0" err="1" smtClean="0"/>
              <a:t>not</a:t>
            </a:r>
            <a:r>
              <a:rPr lang="hu-HU" sz="2500" dirty="0" smtClean="0"/>
              <a:t> sum </a:t>
            </a:r>
            <a:r>
              <a:rPr lang="hu-HU" sz="2500" dirty="0" err="1" smtClean="0"/>
              <a:t>to</a:t>
            </a:r>
            <a:r>
              <a:rPr lang="hu-HU" sz="2500" dirty="0" smtClean="0"/>
              <a:t> </a:t>
            </a:r>
            <a:r>
              <a:rPr lang="hu-HU" sz="2500" dirty="0" err="1" smtClean="0"/>
              <a:t>exactly</a:t>
            </a:r>
            <a:r>
              <a:rPr lang="hu-HU" sz="2500" dirty="0" smtClean="0"/>
              <a:t> 1 </a:t>
            </a:r>
            <a:r>
              <a:rPr lang="hu-HU" sz="2500" dirty="0" err="1" smtClean="0"/>
              <a:t>anyway</a:t>
            </a:r>
            <a:r>
              <a:rPr lang="hu-HU" sz="2500" dirty="0" smtClean="0"/>
              <a:t> </a:t>
            </a:r>
            <a:r>
              <a:rPr lang="hu-HU" sz="2500" dirty="0" err="1" smtClean="0"/>
              <a:t>because</a:t>
            </a:r>
            <a:r>
              <a:rPr lang="hu-HU" sz="2500" dirty="0" smtClean="0"/>
              <a:t> of </a:t>
            </a:r>
            <a:r>
              <a:rPr lang="hu-HU" sz="2500" dirty="0" err="1" smtClean="0"/>
              <a:t>numerical</a:t>
            </a:r>
            <a:r>
              <a:rPr lang="hu-HU" sz="2500" dirty="0" smtClean="0"/>
              <a:t> </a:t>
            </a:r>
            <a:r>
              <a:rPr lang="hu-HU" sz="2500" dirty="0" err="1" smtClean="0"/>
              <a:t>floating-point</a:t>
            </a:r>
            <a:r>
              <a:rPr lang="hu-HU" sz="2500" dirty="0" smtClean="0"/>
              <a:t> </a:t>
            </a:r>
            <a:r>
              <a:rPr lang="hu-HU" sz="2500" dirty="0" err="1" smtClean="0"/>
              <a:t>inaccuracies</a:t>
            </a: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11493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Backoff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Generally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higher-order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is, </a:t>
            </a:r>
            <a:r>
              <a:rPr lang="hu-HU" b="1" dirty="0" err="1" smtClean="0"/>
              <a:t>the</a:t>
            </a:r>
            <a:r>
              <a:rPr lang="hu-HU" b="1" dirty="0" smtClean="0"/>
              <a:t> more </a:t>
            </a:r>
            <a:r>
              <a:rPr lang="hu-HU" b="1" dirty="0" err="1" smtClean="0"/>
              <a:t>accurately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allows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approximate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n-grams</a:t>
            </a:r>
            <a:r>
              <a:rPr lang="hu-HU" dirty="0" smtClean="0"/>
              <a:t> </a:t>
            </a:r>
            <a:r>
              <a:rPr lang="hu-HU" b="1" dirty="0" err="1" smtClean="0"/>
              <a:t>that</a:t>
            </a:r>
            <a:r>
              <a:rPr lang="hu-HU" b="1" dirty="0" smtClean="0"/>
              <a:t> </a:t>
            </a:r>
            <a:r>
              <a:rPr lang="hu-HU" b="1" dirty="0" err="1" smtClean="0"/>
              <a:t>are</a:t>
            </a:r>
            <a:r>
              <a:rPr lang="hu-HU" b="1" dirty="0" smtClean="0"/>
              <a:t> </a:t>
            </a:r>
            <a:r>
              <a:rPr lang="hu-HU" b="1" dirty="0" err="1" smtClean="0"/>
              <a:t>attested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corpus.</a:t>
            </a:r>
          </a:p>
          <a:p>
            <a:pPr lvl="1"/>
            <a:r>
              <a:rPr lang="hu-HU" b="1" dirty="0" smtClean="0"/>
              <a:t>The </a:t>
            </a:r>
            <a:r>
              <a:rPr lang="hu-HU" b="1" dirty="0" err="1" smtClean="0"/>
              <a:t>higher-order</a:t>
            </a:r>
            <a:r>
              <a:rPr lang="hu-HU" b="1" dirty="0" smtClean="0"/>
              <a:t> </a:t>
            </a:r>
            <a:r>
              <a:rPr lang="hu-HU" b="1" dirty="0" err="1" smtClean="0"/>
              <a:t>n-gram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want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, </a:t>
            </a:r>
            <a:r>
              <a:rPr lang="hu-HU" b="1" dirty="0" err="1" smtClean="0"/>
              <a:t>the</a:t>
            </a:r>
            <a:r>
              <a:rPr lang="hu-HU" b="1" dirty="0"/>
              <a:t> </a:t>
            </a:r>
            <a:r>
              <a:rPr lang="hu-HU" b="1" dirty="0" err="1" smtClean="0"/>
              <a:t>larger</a:t>
            </a:r>
            <a:r>
              <a:rPr lang="hu-HU" b="1" dirty="0" smtClean="0"/>
              <a:t> corpus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estimate</a:t>
            </a:r>
            <a:r>
              <a:rPr lang="hu-HU" dirty="0" smtClean="0"/>
              <a:t> </a:t>
            </a:r>
            <a:r>
              <a:rPr lang="hu-HU" dirty="0" err="1" smtClean="0"/>
              <a:t>good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.</a:t>
            </a:r>
          </a:p>
          <a:p>
            <a:pPr lvl="1"/>
            <a:r>
              <a:rPr lang="hu-HU" b="1" dirty="0" smtClean="0"/>
              <a:t>The </a:t>
            </a:r>
            <a:r>
              <a:rPr lang="hu-HU" b="1" dirty="0" err="1" smtClean="0"/>
              <a:t>higher-order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,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sparser</a:t>
            </a:r>
            <a:r>
              <a:rPr lang="hu-HU" b="1" dirty="0"/>
              <a:t> </a:t>
            </a:r>
            <a:r>
              <a:rPr lang="hu-HU" b="1" dirty="0" err="1" smtClean="0"/>
              <a:t>it</a:t>
            </a:r>
            <a:r>
              <a:rPr lang="hu-HU" b="1" dirty="0" smtClean="0"/>
              <a:t> is</a:t>
            </a:r>
            <a:r>
              <a:rPr lang="hu-HU" dirty="0" smtClean="0"/>
              <a:t>, and </a:t>
            </a:r>
            <a:r>
              <a:rPr lang="hu-HU" dirty="0" err="1" smtClean="0"/>
              <a:t>increasing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help</a:t>
            </a:r>
            <a:r>
              <a:rPr lang="hu-HU" dirty="0" smtClean="0"/>
              <a:t> a </a:t>
            </a:r>
            <a:r>
              <a:rPr lang="hu-HU" dirty="0" err="1" smtClean="0"/>
              <a:t>lot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endParaRPr lang="hu-HU" dirty="0" smtClean="0"/>
          </a:p>
          <a:p>
            <a:r>
              <a:rPr lang="hu-HU" dirty="0" err="1" smtClean="0"/>
              <a:t>Solution</a:t>
            </a:r>
            <a:r>
              <a:rPr lang="hu-HU" dirty="0" smtClean="0"/>
              <a:t>: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a 5-gram </a:t>
            </a:r>
            <a:r>
              <a:rPr lang="hu-HU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4-gram, 3-gram, 2-gram and 1-gram </a:t>
            </a:r>
            <a:r>
              <a:rPr lang="hu-HU" dirty="0" err="1" smtClean="0"/>
              <a:t>models</a:t>
            </a:r>
            <a:r>
              <a:rPr lang="hu-HU" dirty="0" smtClean="0"/>
              <a:t>.</a:t>
            </a:r>
          </a:p>
          <a:p>
            <a:r>
              <a:rPr lang="hu-HU" b="1" dirty="0" err="1" smtClean="0"/>
              <a:t>Backoff</a:t>
            </a:r>
            <a:r>
              <a:rPr lang="hu-HU" b="1" dirty="0" smtClean="0"/>
              <a:t> </a:t>
            </a:r>
            <a:r>
              <a:rPr lang="hu-HU" b="1" dirty="0" err="1" smtClean="0"/>
              <a:t>mechanism</a:t>
            </a:r>
            <a:r>
              <a:rPr lang="hu-HU" dirty="0" smtClean="0"/>
              <a:t>: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higher-order</a:t>
            </a:r>
            <a:r>
              <a:rPr lang="hu-HU" dirty="0" smtClean="0"/>
              <a:t> </a:t>
            </a:r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corpus, </a:t>
            </a:r>
            <a:r>
              <a:rPr lang="hu-HU" dirty="0" err="1" smtClean="0"/>
              <a:t>fall</a:t>
            </a:r>
            <a:r>
              <a:rPr lang="hu-HU" dirty="0" smtClean="0"/>
              <a:t> back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lower-order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a 5-gram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attested</a:t>
            </a:r>
            <a:r>
              <a:rPr lang="hu-HU" dirty="0" smtClean="0"/>
              <a:t>, </a:t>
            </a:r>
            <a:r>
              <a:rPr lang="hu-HU" dirty="0" err="1" smtClean="0"/>
              <a:t>estimate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of </a:t>
            </a:r>
            <a:r>
              <a:rPr lang="hu-HU" dirty="0" err="1" smtClean="0"/>
              <a:t>two</a:t>
            </a:r>
            <a:r>
              <a:rPr lang="hu-HU" dirty="0" smtClean="0"/>
              <a:t> 4-gram </a:t>
            </a:r>
            <a:r>
              <a:rPr lang="hu-HU" dirty="0" err="1" smtClean="0"/>
              <a:t>probabilities</a:t>
            </a:r>
            <a:endParaRPr lang="hu-HU" dirty="0" smtClean="0"/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4-gram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attested</a:t>
            </a:r>
            <a:r>
              <a:rPr lang="hu-HU" dirty="0" smtClean="0"/>
              <a:t>, back </a:t>
            </a:r>
            <a:r>
              <a:rPr lang="hu-HU" dirty="0" err="1" smtClean="0"/>
              <a:t>off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3-gram </a:t>
            </a:r>
            <a:r>
              <a:rPr lang="hu-HU" dirty="0" err="1" smtClean="0"/>
              <a:t>model</a:t>
            </a:r>
            <a:r>
              <a:rPr lang="hu-HU" dirty="0" smtClean="0"/>
              <a:t>, and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,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1-gram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necessary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77087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Use</a:t>
            </a:r>
            <a:r>
              <a:rPr lang="hu-HU" dirty="0" smtClean="0"/>
              <a:t> of </a:t>
            </a:r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 err="1" smtClean="0"/>
              <a:t>Historically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most </a:t>
            </a:r>
            <a:r>
              <a:rPr lang="hu-HU" dirty="0" err="1" smtClean="0"/>
              <a:t>important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tagging</a:t>
            </a:r>
            <a:r>
              <a:rPr lang="hu-HU" dirty="0" smtClean="0"/>
              <a:t>,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part of </a:t>
            </a:r>
            <a:r>
              <a:rPr lang="hu-HU" dirty="0" err="1" smtClean="0"/>
              <a:t>speech</a:t>
            </a:r>
            <a:r>
              <a:rPr lang="hu-HU" dirty="0" smtClean="0"/>
              <a:t> </a:t>
            </a:r>
            <a:r>
              <a:rPr lang="hu-HU" dirty="0" err="1" smtClean="0"/>
              <a:t>labels</a:t>
            </a:r>
            <a:endParaRPr lang="hu-HU" dirty="0" smtClean="0"/>
          </a:p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, a </a:t>
            </a:r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kind</a:t>
            </a:r>
            <a:r>
              <a:rPr lang="hu-HU" dirty="0" smtClean="0"/>
              <a:t> of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involved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,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likely</a:t>
            </a:r>
            <a:r>
              <a:rPr lang="hu-HU" dirty="0" smtClean="0"/>
              <a:t> is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a </a:t>
            </a:r>
            <a:r>
              <a:rPr lang="hu-HU" dirty="0" err="1" smtClean="0"/>
              <a:t>certain</a:t>
            </a:r>
            <a:r>
              <a:rPr lang="hu-HU" dirty="0" smtClean="0"/>
              <a:t> </a:t>
            </a:r>
            <a:r>
              <a:rPr lang="hu-HU" dirty="0" err="1" smtClean="0"/>
              <a:t>part-of-speech</a:t>
            </a:r>
            <a:r>
              <a:rPr lang="hu-HU" dirty="0" smtClean="0"/>
              <a:t> </a:t>
            </a:r>
            <a:r>
              <a:rPr lang="hu-HU" dirty="0" err="1" smtClean="0"/>
              <a:t>label</a:t>
            </a:r>
            <a:endParaRPr lang="hu-HU" dirty="0" smtClean="0"/>
          </a:p>
          <a:p>
            <a:pPr lvl="1"/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transition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labels</a:t>
            </a:r>
            <a:endParaRPr lang="hu-HU" dirty="0" smtClean="0"/>
          </a:p>
          <a:p>
            <a:pPr lvl="1"/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</a:t>
            </a:r>
            <a:r>
              <a:rPr lang="hu-HU" dirty="0" err="1" smtClean="0"/>
              <a:t>step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label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/>
              <a:t> </a:t>
            </a:r>
            <a:r>
              <a:rPr lang="hu-HU" dirty="0" err="1" smtClean="0"/>
              <a:t>step</a:t>
            </a:r>
            <a:r>
              <a:rPr lang="hu-HU" dirty="0" smtClean="0"/>
              <a:t>, and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maximise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POS </a:t>
            </a:r>
            <a:r>
              <a:rPr lang="hu-HU" dirty="0" err="1" smtClean="0"/>
              <a:t>labels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dynamic</a:t>
            </a:r>
            <a:r>
              <a:rPr lang="hu-HU" dirty="0" smtClean="0"/>
              <a:t> </a:t>
            </a:r>
            <a:r>
              <a:rPr lang="hu-HU" dirty="0" err="1" smtClean="0"/>
              <a:t>programming</a:t>
            </a:r>
            <a:endParaRPr lang="hu-HU" dirty="0" smtClean="0"/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kind</a:t>
            </a:r>
            <a:r>
              <a:rPr lang="hu-HU" dirty="0" smtClean="0"/>
              <a:t> of </a:t>
            </a:r>
            <a:r>
              <a:rPr lang="hu-HU" dirty="0" err="1" smtClean="0"/>
              <a:t>Markov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where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know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label</a:t>
            </a:r>
            <a:r>
              <a:rPr lang="hu-HU" dirty="0" smtClean="0"/>
              <a:t> is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</a:t>
            </a:r>
            <a:r>
              <a:rPr lang="hu-HU" dirty="0" err="1" smtClean="0"/>
              <a:t>step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label</a:t>
            </a:r>
            <a:r>
              <a:rPr lang="hu-HU" dirty="0" smtClean="0"/>
              <a:t>, is </a:t>
            </a:r>
            <a:r>
              <a:rPr lang="hu-HU" dirty="0" err="1" smtClean="0"/>
              <a:t>known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b="1" dirty="0" err="1" smtClean="0"/>
              <a:t>Hidden</a:t>
            </a:r>
            <a:r>
              <a:rPr lang="hu-HU" b="1" dirty="0" smtClean="0"/>
              <a:t> </a:t>
            </a:r>
            <a:r>
              <a:rPr lang="hu-HU" b="1" dirty="0" err="1" smtClean="0"/>
              <a:t>Markov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 </a:t>
            </a:r>
            <a:r>
              <a:rPr lang="hu-HU" dirty="0" smtClean="0"/>
              <a:t>(HMM)</a:t>
            </a:r>
          </a:p>
          <a:p>
            <a:pPr lvl="1"/>
            <a:r>
              <a:rPr lang="hu-HU" dirty="0" err="1" smtClean="0"/>
              <a:t>hidden</a:t>
            </a:r>
            <a:r>
              <a:rPr lang="hu-HU" dirty="0" smtClean="0"/>
              <a:t>, </a:t>
            </a:r>
            <a:r>
              <a:rPr lang="hu-HU" dirty="0" err="1" smtClean="0"/>
              <a:t>because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know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state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18528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Use</a:t>
            </a:r>
            <a:r>
              <a:rPr lang="hu-HU" dirty="0"/>
              <a:t> of </a:t>
            </a:r>
            <a:r>
              <a:rPr lang="hu-HU" dirty="0" err="1"/>
              <a:t>N-gram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 </a:t>
            </a:r>
            <a:r>
              <a:rPr lang="hu-HU" dirty="0" err="1"/>
              <a:t>Models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sz="3000" dirty="0" err="1" smtClean="0"/>
              <a:t>Generally</a:t>
            </a:r>
            <a:r>
              <a:rPr lang="hu-HU" sz="3000" dirty="0" smtClean="0"/>
              <a:t> an </a:t>
            </a:r>
            <a:r>
              <a:rPr lang="hu-HU" sz="3000" dirty="0" err="1" smtClean="0"/>
              <a:t>n-gram</a:t>
            </a:r>
            <a:r>
              <a:rPr lang="hu-HU" sz="3000" dirty="0" smtClean="0"/>
              <a:t> </a:t>
            </a:r>
            <a:r>
              <a:rPr lang="hu-HU" sz="3000" dirty="0" err="1" smtClean="0"/>
              <a:t>model</a:t>
            </a:r>
            <a:r>
              <a:rPr lang="hu-HU" sz="3000" dirty="0" smtClean="0"/>
              <a:t> </a:t>
            </a:r>
            <a:r>
              <a:rPr lang="hu-HU" sz="3000" dirty="0" err="1" smtClean="0"/>
              <a:t>can</a:t>
            </a:r>
            <a:r>
              <a:rPr lang="hu-HU" sz="3000" dirty="0" smtClean="0"/>
              <a:t> be </a:t>
            </a:r>
            <a:r>
              <a:rPr lang="hu-HU" sz="3000" dirty="0" err="1" smtClean="0"/>
              <a:t>used</a:t>
            </a:r>
            <a:r>
              <a:rPr lang="hu-HU" sz="3000" dirty="0" smtClean="0"/>
              <a:t> </a:t>
            </a:r>
            <a:r>
              <a:rPr lang="hu-HU" sz="3000" dirty="0" err="1" smtClean="0"/>
              <a:t>to</a:t>
            </a:r>
            <a:r>
              <a:rPr lang="hu-HU" sz="3000" dirty="0" smtClean="0"/>
              <a:t> </a:t>
            </a:r>
            <a:r>
              <a:rPr lang="hu-HU" sz="3000" dirty="0" err="1" smtClean="0"/>
              <a:t>estimate</a:t>
            </a:r>
            <a:r>
              <a:rPr lang="hu-HU" sz="3000" dirty="0" smtClean="0"/>
              <a:t> </a:t>
            </a:r>
            <a:r>
              <a:rPr lang="hu-HU" sz="3000" dirty="0" err="1" smtClean="0"/>
              <a:t>the</a:t>
            </a:r>
            <a:r>
              <a:rPr lang="hu-HU" sz="3000" dirty="0" smtClean="0"/>
              <a:t> overall </a:t>
            </a:r>
            <a:r>
              <a:rPr lang="hu-HU" sz="3000" dirty="0" err="1" smtClean="0"/>
              <a:t>probability</a:t>
            </a:r>
            <a:r>
              <a:rPr lang="hu-HU" sz="3000" dirty="0" smtClean="0"/>
              <a:t> of an </a:t>
            </a:r>
            <a:r>
              <a:rPr lang="hu-HU" sz="3000" dirty="0" err="1" smtClean="0"/>
              <a:t>entire</a:t>
            </a:r>
            <a:r>
              <a:rPr lang="hu-HU" sz="3000" dirty="0" smtClean="0"/>
              <a:t> </a:t>
            </a:r>
            <a:r>
              <a:rPr lang="hu-HU" sz="3000" dirty="0" err="1" smtClean="0"/>
              <a:t>long</a:t>
            </a:r>
            <a:r>
              <a:rPr lang="hu-HU" sz="3000" dirty="0" smtClean="0"/>
              <a:t> </a:t>
            </a:r>
            <a:r>
              <a:rPr lang="hu-HU" sz="3000" dirty="0" err="1" smtClean="0"/>
              <a:t>sequence</a:t>
            </a:r>
            <a:endParaRPr lang="hu-HU" sz="3000" dirty="0" smtClean="0"/>
          </a:p>
          <a:p>
            <a:pPr lvl="1"/>
            <a:r>
              <a:rPr lang="hu-HU" sz="2700" dirty="0" err="1" smtClean="0"/>
              <a:t>at</a:t>
            </a:r>
            <a:r>
              <a:rPr lang="hu-HU" sz="2700" dirty="0" smtClean="0"/>
              <a:t> </a:t>
            </a:r>
            <a:r>
              <a:rPr lang="hu-HU" sz="2700" dirty="0" err="1" smtClean="0"/>
              <a:t>each</a:t>
            </a:r>
            <a:r>
              <a:rPr lang="hu-HU" sz="2700" dirty="0" smtClean="0"/>
              <a:t> </a:t>
            </a:r>
            <a:r>
              <a:rPr lang="hu-HU" sz="2700" dirty="0" err="1" smtClean="0"/>
              <a:t>time</a:t>
            </a:r>
            <a:r>
              <a:rPr lang="hu-HU" sz="2700" dirty="0" smtClean="0"/>
              <a:t> </a:t>
            </a:r>
            <a:r>
              <a:rPr lang="hu-HU" sz="2700" dirty="0" err="1" smtClean="0"/>
              <a:t>step</a:t>
            </a:r>
            <a:r>
              <a:rPr lang="hu-HU" sz="2700" dirty="0" smtClean="0"/>
              <a:t>, </a:t>
            </a:r>
            <a:r>
              <a:rPr lang="hu-HU" sz="2700" dirty="0" err="1" smtClean="0"/>
              <a:t>we</a:t>
            </a:r>
            <a:r>
              <a:rPr lang="hu-HU" sz="2700" dirty="0" smtClean="0"/>
              <a:t> </a:t>
            </a:r>
            <a:r>
              <a:rPr lang="hu-HU" sz="2700" dirty="0" err="1" smtClean="0"/>
              <a:t>look</a:t>
            </a:r>
            <a:r>
              <a:rPr lang="hu-HU" sz="2700" dirty="0" smtClean="0"/>
              <a:t> </a:t>
            </a:r>
            <a:r>
              <a:rPr lang="hu-HU" sz="2700" dirty="0" err="1" smtClean="0"/>
              <a:t>up</a:t>
            </a:r>
            <a:r>
              <a:rPr lang="hu-HU" sz="2700" dirty="0" smtClean="0"/>
              <a:t>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transition</a:t>
            </a:r>
            <a:r>
              <a:rPr lang="hu-HU" sz="2700" dirty="0" smtClean="0"/>
              <a:t> </a:t>
            </a:r>
            <a:r>
              <a:rPr lang="hu-HU" sz="2700" dirty="0" err="1" smtClean="0"/>
              <a:t>probability</a:t>
            </a:r>
            <a:r>
              <a:rPr lang="hu-HU" sz="2700" dirty="0" smtClean="0"/>
              <a:t> </a:t>
            </a:r>
            <a:r>
              <a:rPr lang="hu-HU" sz="2700" dirty="0" err="1" smtClean="0"/>
              <a:t>for</a:t>
            </a:r>
            <a:r>
              <a:rPr lang="hu-HU" sz="2700" dirty="0" smtClean="0"/>
              <a:t> </a:t>
            </a:r>
            <a:r>
              <a:rPr lang="hu-HU" sz="2700" dirty="0" err="1" smtClean="0"/>
              <a:t>that</a:t>
            </a:r>
            <a:r>
              <a:rPr lang="hu-HU" sz="2700" dirty="0" smtClean="0"/>
              <a:t> </a:t>
            </a:r>
            <a:r>
              <a:rPr lang="hu-HU" sz="2700" dirty="0" err="1" smtClean="0"/>
              <a:t>time</a:t>
            </a:r>
            <a:r>
              <a:rPr lang="hu-HU" sz="2700" dirty="0" smtClean="0"/>
              <a:t> </a:t>
            </a:r>
            <a:r>
              <a:rPr lang="hu-HU" sz="2700" dirty="0" err="1" smtClean="0"/>
              <a:t>step</a:t>
            </a:r>
            <a:endParaRPr lang="hu-HU" sz="2700" dirty="0" smtClean="0"/>
          </a:p>
          <a:p>
            <a:pPr lvl="1"/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probability</a:t>
            </a:r>
            <a:r>
              <a:rPr lang="hu-HU" sz="2700" dirty="0" smtClean="0"/>
              <a:t> of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entire</a:t>
            </a:r>
            <a:r>
              <a:rPr lang="hu-HU" sz="2700" dirty="0" smtClean="0"/>
              <a:t> </a:t>
            </a:r>
            <a:r>
              <a:rPr lang="hu-HU" sz="2700" dirty="0" err="1" smtClean="0"/>
              <a:t>sequence</a:t>
            </a:r>
            <a:r>
              <a:rPr lang="hu-HU" sz="2700" dirty="0" smtClean="0"/>
              <a:t> is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product</a:t>
            </a:r>
            <a:r>
              <a:rPr lang="hu-HU" sz="2700" dirty="0" smtClean="0"/>
              <a:t> of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stepwise</a:t>
            </a:r>
            <a:r>
              <a:rPr lang="hu-HU" sz="2700" dirty="0" smtClean="0"/>
              <a:t> </a:t>
            </a:r>
            <a:r>
              <a:rPr lang="hu-HU" sz="2700" dirty="0" err="1" smtClean="0"/>
              <a:t>probabilities</a:t>
            </a:r>
            <a:endParaRPr lang="hu-HU" sz="2700" dirty="0" smtClean="0"/>
          </a:p>
          <a:p>
            <a:pPr lvl="1"/>
            <a:r>
              <a:rPr lang="hu-HU" sz="2700" dirty="0" smtClean="0"/>
              <a:t>a </a:t>
            </a:r>
            <a:r>
              <a:rPr lang="hu-HU" sz="2700" dirty="0" err="1" smtClean="0"/>
              <a:t>probability</a:t>
            </a:r>
            <a:r>
              <a:rPr lang="hu-HU" sz="2700" dirty="0" smtClean="0"/>
              <a:t> is </a:t>
            </a:r>
            <a:r>
              <a:rPr lang="hu-HU" sz="2700" dirty="0" err="1" smtClean="0"/>
              <a:t>generally</a:t>
            </a:r>
            <a:r>
              <a:rPr lang="hu-HU" sz="2700" dirty="0" smtClean="0"/>
              <a:t> a </a:t>
            </a:r>
            <a:r>
              <a:rPr lang="hu-HU" sz="2700" dirty="0" err="1" smtClean="0"/>
              <a:t>small</a:t>
            </a:r>
            <a:r>
              <a:rPr lang="hu-HU" sz="2700" dirty="0" smtClean="0"/>
              <a:t> </a:t>
            </a:r>
            <a:r>
              <a:rPr lang="hu-HU" sz="2700" dirty="0" err="1" smtClean="0"/>
              <a:t>number</a:t>
            </a:r>
            <a:r>
              <a:rPr lang="hu-HU" sz="2700" dirty="0" smtClean="0"/>
              <a:t>, </a:t>
            </a:r>
            <a:r>
              <a:rPr lang="hu-HU" sz="2700" dirty="0" err="1" smtClean="0"/>
              <a:t>like</a:t>
            </a:r>
            <a:r>
              <a:rPr lang="hu-HU" sz="2700" dirty="0" smtClean="0"/>
              <a:t> 0.003, </a:t>
            </a:r>
            <a:r>
              <a:rPr lang="hu-HU" sz="2700" dirty="0" err="1" smtClean="0"/>
              <a:t>which</a:t>
            </a:r>
            <a:r>
              <a:rPr lang="hu-HU" sz="2700" dirty="0" smtClean="0"/>
              <a:t> is </a:t>
            </a:r>
            <a:r>
              <a:rPr lang="hu-HU" sz="2700" dirty="0" err="1" smtClean="0"/>
              <a:t>on</a:t>
            </a:r>
            <a:r>
              <a:rPr lang="hu-HU" sz="2700" dirty="0" smtClean="0"/>
              <a:t>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order</a:t>
            </a:r>
            <a:r>
              <a:rPr lang="hu-HU" sz="2700" dirty="0" smtClean="0"/>
              <a:t> of e-3</a:t>
            </a:r>
          </a:p>
          <a:p>
            <a:pPr lvl="1"/>
            <a:r>
              <a:rPr lang="hu-HU" sz="2700" dirty="0" err="1" smtClean="0"/>
              <a:t>multiplying</a:t>
            </a:r>
            <a:r>
              <a:rPr lang="hu-HU" sz="2700" dirty="0" smtClean="0"/>
              <a:t> </a:t>
            </a:r>
            <a:r>
              <a:rPr lang="hu-HU" sz="2700" dirty="0" err="1" smtClean="0"/>
              <a:t>e.g</a:t>
            </a:r>
            <a:r>
              <a:rPr lang="hu-HU" sz="2700" dirty="0" smtClean="0"/>
              <a:t>. 20 of </a:t>
            </a:r>
            <a:r>
              <a:rPr lang="hu-HU" sz="2700" dirty="0" err="1" smtClean="0"/>
              <a:t>these</a:t>
            </a:r>
            <a:r>
              <a:rPr lang="hu-HU" sz="2700" dirty="0" smtClean="0"/>
              <a:t> </a:t>
            </a:r>
            <a:r>
              <a:rPr lang="hu-HU" sz="2700" dirty="0" err="1" smtClean="0"/>
              <a:t>will</a:t>
            </a:r>
            <a:r>
              <a:rPr lang="hu-HU" sz="2700" dirty="0" smtClean="0"/>
              <a:t> be a </a:t>
            </a:r>
            <a:r>
              <a:rPr lang="hu-HU" sz="2700" dirty="0" err="1" smtClean="0"/>
              <a:t>very</a:t>
            </a:r>
            <a:r>
              <a:rPr lang="hu-HU" sz="2700" dirty="0" smtClean="0"/>
              <a:t> </a:t>
            </a:r>
            <a:r>
              <a:rPr lang="hu-HU" sz="2700" dirty="0" err="1" smtClean="0"/>
              <a:t>small</a:t>
            </a:r>
            <a:r>
              <a:rPr lang="hu-HU" sz="2700" dirty="0" smtClean="0"/>
              <a:t> </a:t>
            </a:r>
            <a:r>
              <a:rPr lang="hu-HU" sz="2700" dirty="0" err="1" smtClean="0"/>
              <a:t>number</a:t>
            </a:r>
            <a:r>
              <a:rPr lang="hu-HU" sz="2700" dirty="0" smtClean="0"/>
              <a:t>, </a:t>
            </a:r>
            <a:r>
              <a:rPr lang="hu-HU" sz="2700" dirty="0" err="1" smtClean="0"/>
              <a:t>on</a:t>
            </a:r>
            <a:r>
              <a:rPr lang="hu-HU" sz="2700" dirty="0" smtClean="0"/>
              <a:t>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order</a:t>
            </a:r>
            <a:r>
              <a:rPr lang="hu-HU" sz="2700" dirty="0" smtClean="0"/>
              <a:t> of e-60</a:t>
            </a:r>
          </a:p>
          <a:p>
            <a:pPr lvl="1"/>
            <a:r>
              <a:rPr lang="hu-HU" sz="2700" dirty="0" err="1" smtClean="0"/>
              <a:t>floating-point</a:t>
            </a:r>
            <a:r>
              <a:rPr lang="hu-HU" sz="2700" dirty="0" smtClean="0"/>
              <a:t> </a:t>
            </a:r>
            <a:r>
              <a:rPr lang="hu-HU" sz="2700" dirty="0" err="1" smtClean="0"/>
              <a:t>arithmetic</a:t>
            </a:r>
            <a:r>
              <a:rPr lang="hu-HU" sz="2700" dirty="0" smtClean="0"/>
              <a:t> is </a:t>
            </a:r>
            <a:r>
              <a:rPr lang="hu-HU" sz="2700" dirty="0" err="1" smtClean="0"/>
              <a:t>unable</a:t>
            </a:r>
            <a:r>
              <a:rPr lang="hu-HU" sz="2700" dirty="0" smtClean="0"/>
              <a:t> </a:t>
            </a:r>
            <a:r>
              <a:rPr lang="hu-HU" sz="2700" dirty="0" err="1" smtClean="0"/>
              <a:t>to</a:t>
            </a:r>
            <a:r>
              <a:rPr lang="hu-HU" sz="2700" dirty="0" smtClean="0"/>
              <a:t> </a:t>
            </a:r>
            <a:r>
              <a:rPr lang="hu-HU" sz="2700" dirty="0" err="1" smtClean="0"/>
              <a:t>express</a:t>
            </a:r>
            <a:r>
              <a:rPr lang="hu-HU" sz="2700" dirty="0" smtClean="0"/>
              <a:t> </a:t>
            </a:r>
            <a:r>
              <a:rPr lang="hu-HU" sz="2700" dirty="0" err="1" smtClean="0"/>
              <a:t>such</a:t>
            </a:r>
            <a:r>
              <a:rPr lang="hu-HU" sz="2700" dirty="0" smtClean="0"/>
              <a:t> </a:t>
            </a:r>
            <a:r>
              <a:rPr lang="hu-HU" sz="2700" dirty="0" err="1" smtClean="0"/>
              <a:t>small</a:t>
            </a:r>
            <a:r>
              <a:rPr lang="hu-HU" sz="2700" dirty="0" smtClean="0"/>
              <a:t> </a:t>
            </a:r>
            <a:r>
              <a:rPr lang="hu-HU" sz="2700" dirty="0" err="1" smtClean="0"/>
              <a:t>numbers</a:t>
            </a:r>
            <a:endParaRPr lang="hu-HU" sz="2700" dirty="0" smtClean="0"/>
          </a:p>
          <a:p>
            <a:pPr lvl="1"/>
            <a:r>
              <a:rPr lang="hu-HU" sz="2700" dirty="0" err="1" smtClean="0"/>
              <a:t>thus</a:t>
            </a:r>
            <a:r>
              <a:rPr lang="hu-HU" sz="2700" dirty="0" smtClean="0"/>
              <a:t> </a:t>
            </a:r>
            <a:r>
              <a:rPr lang="hu-HU" sz="2700" dirty="0" err="1" smtClean="0"/>
              <a:t>first</a:t>
            </a:r>
            <a:r>
              <a:rPr lang="hu-HU" sz="2700" dirty="0" smtClean="0"/>
              <a:t> </a:t>
            </a:r>
            <a:r>
              <a:rPr lang="hu-HU" sz="2700" dirty="0" err="1" smtClean="0"/>
              <a:t>we</a:t>
            </a:r>
            <a:r>
              <a:rPr lang="hu-HU" sz="2700" dirty="0" smtClean="0"/>
              <a:t> </a:t>
            </a:r>
            <a:r>
              <a:rPr lang="hu-HU" sz="2700" dirty="0" err="1" smtClean="0"/>
              <a:t>take</a:t>
            </a:r>
            <a:r>
              <a:rPr lang="hu-HU" sz="2700" dirty="0" smtClean="0"/>
              <a:t> a </a:t>
            </a:r>
            <a:r>
              <a:rPr lang="hu-HU" sz="2700" dirty="0" err="1" smtClean="0"/>
              <a:t>logarithm</a:t>
            </a:r>
            <a:r>
              <a:rPr lang="hu-HU" sz="2700" dirty="0" smtClean="0"/>
              <a:t> of </a:t>
            </a:r>
            <a:r>
              <a:rPr lang="hu-HU" sz="2700" dirty="0" err="1" smtClean="0"/>
              <a:t>each</a:t>
            </a:r>
            <a:r>
              <a:rPr lang="hu-HU" sz="2700" dirty="0" smtClean="0"/>
              <a:t> </a:t>
            </a:r>
            <a:r>
              <a:rPr lang="hu-HU" sz="2700" dirty="0" err="1" smtClean="0"/>
              <a:t>probability</a:t>
            </a:r>
            <a:r>
              <a:rPr lang="hu-HU" sz="2700" dirty="0"/>
              <a:t> </a:t>
            </a:r>
            <a:r>
              <a:rPr lang="hu-HU" sz="2700" dirty="0" err="1" smtClean="0"/>
              <a:t>with</a:t>
            </a:r>
            <a:r>
              <a:rPr lang="hu-HU" sz="2700" dirty="0" smtClean="0"/>
              <a:t> </a:t>
            </a:r>
            <a:r>
              <a:rPr lang="hu-HU" sz="2700" dirty="0" err="1" smtClean="0"/>
              <a:t>whatever</a:t>
            </a:r>
            <a:r>
              <a:rPr lang="hu-HU" sz="2700" dirty="0" smtClean="0"/>
              <a:t> </a:t>
            </a:r>
            <a:r>
              <a:rPr lang="hu-HU" sz="2700" dirty="0" err="1" smtClean="0"/>
              <a:t>base</a:t>
            </a:r>
            <a:r>
              <a:rPr lang="hu-HU" sz="2700" dirty="0" smtClean="0"/>
              <a:t> </a:t>
            </a:r>
            <a:r>
              <a:rPr lang="hu-HU" sz="2700" dirty="0" err="1" smtClean="0"/>
              <a:t>we</a:t>
            </a:r>
            <a:r>
              <a:rPr lang="hu-HU" sz="2700" dirty="0" smtClean="0"/>
              <a:t> </a:t>
            </a:r>
            <a:r>
              <a:rPr lang="hu-HU" sz="2700" dirty="0" err="1" smtClean="0"/>
              <a:t>like</a:t>
            </a:r>
            <a:r>
              <a:rPr lang="hu-HU" sz="2700" dirty="0" smtClean="0"/>
              <a:t>, </a:t>
            </a:r>
            <a:r>
              <a:rPr lang="hu-HU" sz="2700" dirty="0" err="1" smtClean="0"/>
              <a:t>e.g</a:t>
            </a:r>
            <a:r>
              <a:rPr lang="hu-HU" sz="2700" dirty="0" smtClean="0"/>
              <a:t>. 10: log</a:t>
            </a:r>
            <a:r>
              <a:rPr lang="hu-HU" sz="2700" baseline="-25000" dirty="0" smtClean="0"/>
              <a:t>10</a:t>
            </a:r>
            <a:r>
              <a:rPr lang="hu-HU" sz="2700" dirty="0" smtClean="0"/>
              <a:t>(0.003) = -2.5229</a:t>
            </a:r>
          </a:p>
          <a:p>
            <a:r>
              <a:rPr lang="hu-HU" sz="3000" dirty="0" err="1" smtClean="0"/>
              <a:t>Instead</a:t>
            </a:r>
            <a:r>
              <a:rPr lang="hu-HU" sz="3000" dirty="0" smtClean="0"/>
              <a:t> of </a:t>
            </a:r>
            <a:r>
              <a:rPr lang="hu-HU" sz="3000" dirty="0" err="1" smtClean="0"/>
              <a:t>calculating</a:t>
            </a:r>
            <a:r>
              <a:rPr lang="hu-HU" sz="3000" dirty="0" smtClean="0"/>
              <a:t> </a:t>
            </a:r>
            <a:r>
              <a:rPr lang="hu-HU" sz="3000" dirty="0" err="1" smtClean="0"/>
              <a:t>the</a:t>
            </a:r>
            <a:r>
              <a:rPr lang="hu-HU" sz="3000" dirty="0" smtClean="0"/>
              <a:t> </a:t>
            </a:r>
            <a:r>
              <a:rPr lang="hu-HU" sz="3000" dirty="0" err="1" smtClean="0"/>
              <a:t>product</a:t>
            </a:r>
            <a:r>
              <a:rPr lang="hu-HU" sz="3000" dirty="0" smtClean="0"/>
              <a:t> </a:t>
            </a:r>
            <a:r>
              <a:rPr lang="hu-HU" sz="3000" dirty="0" err="1" smtClean="0"/>
              <a:t>of</a:t>
            </a:r>
            <a:r>
              <a:rPr lang="hu-HU" sz="3000" dirty="0" smtClean="0"/>
              <a:t> </a:t>
            </a:r>
            <a:r>
              <a:rPr lang="hu-HU" sz="3000" dirty="0" err="1" smtClean="0"/>
              <a:t>probabilities</a:t>
            </a:r>
            <a:r>
              <a:rPr lang="hu-HU" sz="3000" dirty="0" smtClean="0"/>
              <a:t> </a:t>
            </a:r>
            <a:r>
              <a:rPr lang="hu-HU" sz="3000" dirty="0" err="1" smtClean="0"/>
              <a:t>for</a:t>
            </a:r>
            <a:r>
              <a:rPr lang="hu-HU" sz="3000" dirty="0" smtClean="0"/>
              <a:t> </a:t>
            </a:r>
            <a:r>
              <a:rPr lang="hu-HU" sz="3000" dirty="0" err="1" smtClean="0"/>
              <a:t>the</a:t>
            </a:r>
            <a:r>
              <a:rPr lang="hu-HU" sz="3000" dirty="0" smtClean="0"/>
              <a:t> </a:t>
            </a:r>
            <a:r>
              <a:rPr lang="hu-HU" sz="3000" dirty="0" err="1" smtClean="0"/>
              <a:t>whole</a:t>
            </a:r>
            <a:r>
              <a:rPr lang="hu-HU" sz="3000" dirty="0" smtClean="0"/>
              <a:t> </a:t>
            </a:r>
            <a:r>
              <a:rPr lang="hu-HU" sz="3000" dirty="0" err="1" smtClean="0"/>
              <a:t>sequence</a:t>
            </a:r>
            <a:r>
              <a:rPr lang="hu-HU" sz="3000" dirty="0" smtClean="0"/>
              <a:t>, </a:t>
            </a:r>
            <a:r>
              <a:rPr lang="hu-HU" sz="3000" dirty="0" err="1" smtClean="0"/>
              <a:t>we</a:t>
            </a:r>
            <a:r>
              <a:rPr lang="hu-HU" sz="3000" dirty="0" smtClean="0"/>
              <a:t> </a:t>
            </a:r>
            <a:r>
              <a:rPr lang="hu-HU" sz="3000" dirty="0" err="1" smtClean="0"/>
              <a:t>calculate</a:t>
            </a:r>
            <a:r>
              <a:rPr lang="hu-HU" sz="3000" dirty="0" smtClean="0"/>
              <a:t> </a:t>
            </a:r>
            <a:r>
              <a:rPr lang="hu-HU" sz="3000" dirty="0" err="1" smtClean="0"/>
              <a:t>the</a:t>
            </a:r>
            <a:r>
              <a:rPr lang="hu-HU" sz="3000" dirty="0" smtClean="0"/>
              <a:t> sum of </a:t>
            </a:r>
            <a:r>
              <a:rPr lang="hu-HU" sz="3000" dirty="0" err="1" smtClean="0"/>
              <a:t>logarithms</a:t>
            </a:r>
            <a:endParaRPr lang="hu-HU" sz="3000" dirty="0" smtClean="0"/>
          </a:p>
          <a:p>
            <a:pPr lvl="1"/>
            <a:r>
              <a:rPr lang="hu-HU" sz="2700" dirty="0" err="1" smtClean="0"/>
              <a:t>this</a:t>
            </a:r>
            <a:r>
              <a:rPr lang="hu-HU" sz="2700" dirty="0" smtClean="0"/>
              <a:t> sum </a:t>
            </a:r>
            <a:r>
              <a:rPr lang="hu-HU" sz="2700" dirty="0" err="1" smtClean="0"/>
              <a:t>will</a:t>
            </a:r>
            <a:r>
              <a:rPr lang="hu-HU" sz="2700" dirty="0" smtClean="0"/>
              <a:t> be a </a:t>
            </a:r>
            <a:r>
              <a:rPr lang="hu-HU" sz="2700" dirty="0" err="1" smtClean="0"/>
              <a:t>negative</a:t>
            </a:r>
            <a:r>
              <a:rPr lang="hu-HU" sz="2700" dirty="0" smtClean="0"/>
              <a:t> </a:t>
            </a:r>
            <a:r>
              <a:rPr lang="hu-HU" sz="2700" dirty="0" err="1" smtClean="0"/>
              <a:t>number</a:t>
            </a:r>
            <a:endParaRPr lang="hu-HU" sz="2700" dirty="0" smtClean="0"/>
          </a:p>
          <a:p>
            <a:pPr lvl="1"/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smaller</a:t>
            </a:r>
            <a:r>
              <a:rPr lang="hu-HU" sz="2700" dirty="0" smtClean="0"/>
              <a:t> </a:t>
            </a:r>
            <a:r>
              <a:rPr lang="hu-HU" sz="2700" dirty="0" err="1" smtClean="0"/>
              <a:t>its</a:t>
            </a:r>
            <a:r>
              <a:rPr lang="hu-HU" sz="2700" dirty="0" smtClean="0"/>
              <a:t> </a:t>
            </a:r>
            <a:r>
              <a:rPr lang="hu-HU" sz="2700" dirty="0" err="1" smtClean="0"/>
              <a:t>absolute</a:t>
            </a:r>
            <a:r>
              <a:rPr lang="hu-HU" sz="2700" dirty="0" smtClean="0"/>
              <a:t> </a:t>
            </a:r>
            <a:r>
              <a:rPr lang="hu-HU" sz="2700" dirty="0" err="1" smtClean="0"/>
              <a:t>value</a:t>
            </a:r>
            <a:r>
              <a:rPr lang="hu-HU" sz="2700" dirty="0" smtClean="0"/>
              <a:t>, </a:t>
            </a:r>
            <a:r>
              <a:rPr lang="hu-HU" sz="2700" dirty="0" err="1" smtClean="0"/>
              <a:t>the</a:t>
            </a:r>
            <a:r>
              <a:rPr lang="hu-HU" sz="2700" dirty="0" smtClean="0"/>
              <a:t> more </a:t>
            </a:r>
            <a:r>
              <a:rPr lang="hu-HU" sz="2700" dirty="0" err="1" smtClean="0"/>
              <a:t>likely</a:t>
            </a:r>
            <a:r>
              <a:rPr lang="hu-HU" sz="2700" dirty="0" smtClean="0"/>
              <a:t>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sequence</a:t>
            </a:r>
            <a:r>
              <a:rPr lang="hu-HU" sz="2700" dirty="0" smtClean="0"/>
              <a:t> is</a:t>
            </a:r>
          </a:p>
          <a:p>
            <a:r>
              <a:rPr lang="hu-HU" sz="3000" dirty="0" smtClean="0"/>
              <a:t>Main </a:t>
            </a:r>
            <a:r>
              <a:rPr lang="hu-HU" sz="3000" dirty="0" err="1" smtClean="0"/>
              <a:t>reason</a:t>
            </a:r>
            <a:r>
              <a:rPr lang="hu-HU" sz="3000" dirty="0" smtClean="0"/>
              <a:t> </a:t>
            </a:r>
            <a:r>
              <a:rPr lang="hu-HU" sz="3000" dirty="0" err="1" smtClean="0"/>
              <a:t>why</a:t>
            </a:r>
            <a:r>
              <a:rPr lang="hu-HU" sz="3000" dirty="0" smtClean="0"/>
              <a:t> </a:t>
            </a:r>
            <a:r>
              <a:rPr lang="hu-HU" sz="3000" dirty="0" err="1" smtClean="0"/>
              <a:t>predicting</a:t>
            </a:r>
            <a:r>
              <a:rPr lang="hu-HU" sz="3000" dirty="0" smtClean="0"/>
              <a:t> </a:t>
            </a:r>
            <a:r>
              <a:rPr lang="hu-HU" sz="3000" dirty="0" err="1" smtClean="0"/>
              <a:t>zero</a:t>
            </a:r>
            <a:r>
              <a:rPr lang="hu-HU" sz="3000" dirty="0" smtClean="0"/>
              <a:t> </a:t>
            </a:r>
            <a:r>
              <a:rPr lang="hu-HU" sz="3000" dirty="0" err="1" smtClean="0"/>
              <a:t>probabilities</a:t>
            </a:r>
            <a:r>
              <a:rPr lang="hu-HU" sz="3000" dirty="0" smtClean="0"/>
              <a:t> </a:t>
            </a:r>
            <a:r>
              <a:rPr lang="hu-HU" sz="3000" dirty="0" err="1" smtClean="0"/>
              <a:t>for</a:t>
            </a:r>
            <a:r>
              <a:rPr lang="hu-HU" sz="3000" dirty="0" smtClean="0"/>
              <a:t> </a:t>
            </a:r>
            <a:r>
              <a:rPr lang="hu-HU" sz="3000" dirty="0" err="1" smtClean="0"/>
              <a:t>individual</a:t>
            </a:r>
            <a:r>
              <a:rPr lang="hu-HU" sz="3000" dirty="0" smtClean="0"/>
              <a:t> </a:t>
            </a:r>
            <a:r>
              <a:rPr lang="hu-HU" sz="3000" dirty="0" err="1" smtClean="0"/>
              <a:t>transitions</a:t>
            </a:r>
            <a:r>
              <a:rPr lang="hu-HU" sz="3000" dirty="0" smtClean="0"/>
              <a:t> is a </a:t>
            </a:r>
            <a:r>
              <a:rPr lang="hu-HU" sz="3000" dirty="0" err="1" smtClean="0"/>
              <a:t>huge</a:t>
            </a:r>
            <a:r>
              <a:rPr lang="hu-HU" sz="3000" dirty="0" smtClean="0"/>
              <a:t> </a:t>
            </a:r>
            <a:r>
              <a:rPr lang="hu-HU" sz="3000" dirty="0" err="1" smtClean="0"/>
              <a:t>problem</a:t>
            </a:r>
            <a:endParaRPr lang="hu-HU" sz="3000" dirty="0"/>
          </a:p>
          <a:p>
            <a:pPr lvl="1"/>
            <a:r>
              <a:rPr lang="hu-HU" sz="2700" dirty="0" smtClean="0"/>
              <a:t>A </a:t>
            </a:r>
            <a:r>
              <a:rPr lang="hu-HU" sz="2700" dirty="0" err="1" smtClean="0"/>
              <a:t>zero-probability</a:t>
            </a:r>
            <a:r>
              <a:rPr lang="hu-HU" sz="2700" dirty="0" smtClean="0"/>
              <a:t> </a:t>
            </a:r>
            <a:r>
              <a:rPr lang="hu-HU" sz="2700" dirty="0" err="1" smtClean="0"/>
              <a:t>transition</a:t>
            </a:r>
            <a:r>
              <a:rPr lang="hu-HU" sz="2700" dirty="0" smtClean="0"/>
              <a:t> </a:t>
            </a:r>
            <a:r>
              <a:rPr lang="hu-HU" sz="2700" dirty="0" err="1" smtClean="0"/>
              <a:t>anywhere</a:t>
            </a:r>
            <a:r>
              <a:rPr lang="hu-HU" sz="2700" dirty="0" smtClean="0"/>
              <a:t> </a:t>
            </a:r>
            <a:r>
              <a:rPr lang="hu-HU" sz="2700" dirty="0" err="1" smtClean="0"/>
              <a:t>would</a:t>
            </a:r>
            <a:r>
              <a:rPr lang="hu-HU" sz="2700" dirty="0" smtClean="0"/>
              <a:t> </a:t>
            </a:r>
            <a:r>
              <a:rPr lang="hu-HU" sz="2700" dirty="0" err="1" smtClean="0"/>
              <a:t>make</a:t>
            </a:r>
            <a:r>
              <a:rPr lang="hu-HU" sz="2700" dirty="0" smtClean="0"/>
              <a:t>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entire</a:t>
            </a:r>
            <a:r>
              <a:rPr lang="hu-HU" sz="2700" dirty="0" smtClean="0"/>
              <a:t> </a:t>
            </a:r>
            <a:r>
              <a:rPr lang="hu-HU" sz="2700" dirty="0" err="1" smtClean="0"/>
              <a:t>sequence</a:t>
            </a:r>
            <a:r>
              <a:rPr lang="hu-HU" sz="2700" dirty="0" smtClean="0"/>
              <a:t> </a:t>
            </a:r>
            <a:r>
              <a:rPr lang="hu-HU" sz="2700" dirty="0" err="1" smtClean="0"/>
              <a:t>impossible</a:t>
            </a:r>
            <a:endParaRPr lang="hu-HU" sz="2700" dirty="0" smtClean="0"/>
          </a:p>
          <a:p>
            <a:pPr lvl="1"/>
            <a:r>
              <a:rPr lang="hu-HU" sz="2700" dirty="0" smtClean="0"/>
              <a:t>0 </a:t>
            </a:r>
            <a:r>
              <a:rPr lang="hu-HU" sz="2700" dirty="0" err="1" smtClean="0"/>
              <a:t>does</a:t>
            </a:r>
            <a:r>
              <a:rPr lang="hu-HU" sz="2700" dirty="0" smtClean="0"/>
              <a:t> </a:t>
            </a:r>
            <a:r>
              <a:rPr lang="hu-HU" sz="2700" dirty="0" err="1" smtClean="0"/>
              <a:t>not</a:t>
            </a:r>
            <a:r>
              <a:rPr lang="hu-HU" sz="2700" dirty="0" smtClean="0"/>
              <a:t> </a:t>
            </a:r>
            <a:r>
              <a:rPr lang="hu-HU" sz="2700" dirty="0" err="1" smtClean="0"/>
              <a:t>have</a:t>
            </a:r>
            <a:r>
              <a:rPr lang="hu-HU" sz="2700" dirty="0" smtClean="0"/>
              <a:t> a </a:t>
            </a:r>
            <a:r>
              <a:rPr lang="hu-HU" sz="2700" dirty="0" err="1" smtClean="0"/>
              <a:t>logarithm</a:t>
            </a:r>
            <a:r>
              <a:rPr lang="hu-HU" sz="2700" dirty="0" smtClean="0"/>
              <a:t>, </a:t>
            </a:r>
            <a:r>
              <a:rPr lang="hu-HU" sz="2700" dirty="0" err="1" smtClean="0"/>
              <a:t>thus</a:t>
            </a:r>
            <a:r>
              <a:rPr lang="hu-HU" sz="2700" dirty="0" smtClean="0"/>
              <a:t> </a:t>
            </a:r>
            <a:r>
              <a:rPr lang="hu-HU" sz="2700" dirty="0" err="1"/>
              <a:t>the</a:t>
            </a:r>
            <a:r>
              <a:rPr lang="hu-HU" sz="2700" dirty="0"/>
              <a:t> </a:t>
            </a:r>
            <a:r>
              <a:rPr lang="hu-HU" sz="2700" dirty="0" smtClean="0"/>
              <a:t>sum log </a:t>
            </a:r>
            <a:r>
              <a:rPr lang="hu-HU" sz="2700" dirty="0" err="1"/>
              <a:t>probability</a:t>
            </a:r>
            <a:r>
              <a:rPr lang="hu-HU" sz="2700" dirty="0"/>
              <a:t> </a:t>
            </a:r>
            <a:r>
              <a:rPr lang="hu-HU" sz="2700" dirty="0" err="1" smtClean="0"/>
              <a:t>cannot</a:t>
            </a:r>
            <a:r>
              <a:rPr lang="hu-HU" sz="2700" dirty="0" smtClean="0"/>
              <a:t> be </a:t>
            </a:r>
            <a:r>
              <a:rPr lang="hu-HU" sz="2700" dirty="0" err="1" smtClean="0"/>
              <a:t>calculated</a:t>
            </a:r>
            <a:endParaRPr lang="en-GB" sz="2700" dirty="0"/>
          </a:p>
        </p:txBody>
      </p:sp>
    </p:spTree>
    <p:extLst>
      <p:ext uri="{BB962C8B-B14F-4D97-AF65-F5344CB8AC3E}">
        <p14:creationId xmlns:p14="http://schemas.microsoft.com/office/powerpoint/2010/main" val="428476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Surprisal</a:t>
            </a:r>
            <a:r>
              <a:rPr lang="hu-HU" dirty="0" smtClean="0"/>
              <a:t> and </a:t>
            </a:r>
            <a:r>
              <a:rPr lang="hu-HU" dirty="0" err="1" smtClean="0"/>
              <a:t>perplexity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The </a:t>
            </a:r>
            <a:r>
              <a:rPr lang="hu-HU" dirty="0" err="1" smtClean="0"/>
              <a:t>measure</a:t>
            </a:r>
            <a:r>
              <a:rPr lang="hu-HU" dirty="0" smtClean="0"/>
              <a:t> of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appearance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a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is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surprisal</a:t>
            </a:r>
            <a:r>
              <a:rPr lang="hu-HU" dirty="0" smtClean="0"/>
              <a:t>.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defined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endParaRPr lang="hu-HU" dirty="0"/>
          </a:p>
          <a:p>
            <a:pPr lvl="1"/>
            <a:r>
              <a:rPr lang="hu-HU" dirty="0" smtClean="0"/>
              <a:t> </a:t>
            </a:r>
          </a:p>
          <a:p>
            <a:pPr lvl="1"/>
            <a:r>
              <a:rPr lang="hu-HU" dirty="0" smtClean="0"/>
              <a:t>The less </a:t>
            </a:r>
            <a:r>
              <a:rPr lang="hu-HU" dirty="0" err="1" smtClean="0"/>
              <a:t>likely</a:t>
            </a:r>
            <a:r>
              <a:rPr lang="hu-HU" dirty="0" smtClean="0"/>
              <a:t> a </a:t>
            </a:r>
            <a:r>
              <a:rPr lang="hu-HU" dirty="0" err="1" smtClean="0"/>
              <a:t>word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higher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surprisal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related</a:t>
            </a:r>
            <a:r>
              <a:rPr lang="hu-HU" dirty="0" smtClean="0"/>
              <a:t> </a:t>
            </a:r>
            <a:r>
              <a:rPr lang="hu-HU" dirty="0" err="1" smtClean="0"/>
              <a:t>measure</a:t>
            </a:r>
            <a:r>
              <a:rPr lang="hu-HU" dirty="0" smtClean="0"/>
              <a:t> is </a:t>
            </a:r>
            <a:r>
              <a:rPr lang="hu-HU" dirty="0" err="1" smtClean="0"/>
              <a:t>perplexity</a:t>
            </a:r>
            <a:r>
              <a:rPr lang="hu-HU" dirty="0" smtClean="0"/>
              <a:t> (PP </a:t>
            </a:r>
            <a:r>
              <a:rPr lang="hu-HU" dirty="0" err="1" smtClean="0"/>
              <a:t>below</a:t>
            </a:r>
            <a:r>
              <a:rPr lang="hu-HU" dirty="0" smtClean="0"/>
              <a:t>),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characterises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overall </a:t>
            </a:r>
            <a:r>
              <a:rPr lang="hu-HU" dirty="0" err="1" smtClean="0"/>
              <a:t>average</a:t>
            </a:r>
            <a:r>
              <a:rPr lang="hu-HU" dirty="0" smtClean="0"/>
              <a:t> </a:t>
            </a:r>
            <a:r>
              <a:rPr lang="hu-HU" dirty="0" err="1" smtClean="0"/>
              <a:t>surprisal</a:t>
            </a:r>
            <a:r>
              <a:rPr lang="hu-HU" dirty="0" smtClean="0"/>
              <a:t> of an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.</a:t>
            </a:r>
          </a:p>
          <a:p>
            <a:endParaRPr lang="hu-HU" dirty="0"/>
          </a:p>
          <a:p>
            <a:r>
              <a:rPr lang="hu-HU" dirty="0" err="1" smtClean="0"/>
              <a:t>Note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chain</a:t>
            </a:r>
            <a:r>
              <a:rPr lang="hu-HU" dirty="0" smtClean="0"/>
              <a:t> </a:t>
            </a:r>
            <a:r>
              <a:rPr lang="hu-HU" dirty="0" err="1" smtClean="0"/>
              <a:t>rule</a:t>
            </a:r>
            <a:r>
              <a:rPr lang="hu-HU" dirty="0" smtClean="0"/>
              <a:t> of </a:t>
            </a:r>
            <a:r>
              <a:rPr lang="hu-HU" dirty="0" err="1" smtClean="0"/>
              <a:t>probability</a:t>
            </a:r>
            <a:r>
              <a:rPr lang="hu-HU" dirty="0" smtClean="0"/>
              <a:t> is:</a:t>
            </a:r>
          </a:p>
          <a:p>
            <a:endParaRPr lang="hu-HU" dirty="0" smtClean="0"/>
          </a:p>
          <a:p>
            <a:endParaRPr lang="hu-HU" dirty="0" smtClean="0"/>
          </a:p>
          <a:p>
            <a:r>
              <a:rPr lang="hu-HU" dirty="0" err="1" smtClean="0"/>
              <a:t>Therefore</a:t>
            </a:r>
            <a:r>
              <a:rPr lang="hu-HU" dirty="0" smtClean="0"/>
              <a:t>:</a:t>
            </a:r>
          </a:p>
          <a:p>
            <a:endParaRPr lang="hu-HU" dirty="0"/>
          </a:p>
          <a:p>
            <a:endParaRPr lang="hu-HU" dirty="0" smtClean="0"/>
          </a:p>
          <a:p>
            <a:endParaRPr lang="hu-HU" dirty="0" smtClean="0"/>
          </a:p>
          <a:p>
            <a:r>
              <a:rPr lang="hu-HU" dirty="0" smtClean="0"/>
              <a:t>T</a:t>
            </a:r>
            <a:r>
              <a:rPr lang="en-GB" dirty="0" smtClean="0"/>
              <a:t>he </a:t>
            </a:r>
            <a:r>
              <a:rPr lang="en-GB" dirty="0"/>
              <a:t>term inside the exponential is </a:t>
            </a:r>
            <a:r>
              <a:rPr lang="en-GB" dirty="0" smtClean="0"/>
              <a:t>the </a:t>
            </a:r>
            <a:r>
              <a:rPr lang="en-GB" dirty="0"/>
              <a:t>average </a:t>
            </a:r>
            <a:r>
              <a:rPr lang="en-GB" dirty="0" err="1"/>
              <a:t>surprisal</a:t>
            </a:r>
            <a:r>
              <a:rPr lang="en-GB" dirty="0"/>
              <a:t> over the </a:t>
            </a:r>
            <a:r>
              <a:rPr lang="en-GB" dirty="0" smtClean="0"/>
              <a:t>sequence</a:t>
            </a:r>
            <a:r>
              <a:rPr lang="hu-HU" dirty="0" smtClean="0"/>
              <a:t>, </a:t>
            </a:r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is </a:t>
            </a:r>
            <a:r>
              <a:rPr lang="hu-HU" dirty="0" err="1" smtClean="0"/>
              <a:t>equal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exponentiated</a:t>
            </a:r>
            <a:r>
              <a:rPr lang="hu-HU" dirty="0" smtClean="0"/>
              <a:t> </a:t>
            </a:r>
            <a:r>
              <a:rPr lang="hu-HU" dirty="0" err="1" smtClean="0"/>
              <a:t>average</a:t>
            </a:r>
            <a:r>
              <a:rPr lang="hu-HU" dirty="0" smtClean="0"/>
              <a:t> </a:t>
            </a:r>
            <a:r>
              <a:rPr lang="hu-HU" dirty="0" err="1" smtClean="0"/>
              <a:t>surprisal</a:t>
            </a:r>
            <a:r>
              <a:rPr lang="hu-HU" dirty="0"/>
              <a:t>.</a:t>
            </a:r>
            <a:endParaRPr lang="hu-HU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87072"/>
            <a:ext cx="3420069" cy="26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441" y="3027153"/>
            <a:ext cx="3168352" cy="298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750" y="3573016"/>
            <a:ext cx="3435095" cy="602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509120"/>
            <a:ext cx="5920282" cy="593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554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Perplexity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err="1" smtClean="0"/>
              <a:t>When</a:t>
            </a:r>
            <a:r>
              <a:rPr lang="hu-HU" dirty="0" smtClean="0"/>
              <a:t> 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corpus,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minimise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perplexity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training</a:t>
            </a:r>
            <a:r>
              <a:rPr lang="hu-HU" b="1" dirty="0" smtClean="0"/>
              <a:t> corpus</a:t>
            </a:r>
          </a:p>
          <a:p>
            <a:pPr lvl="1"/>
            <a:r>
              <a:rPr lang="hu-HU" dirty="0" err="1" smtClean="0"/>
              <a:t>regardless</a:t>
            </a:r>
            <a:r>
              <a:rPr lang="hu-HU" dirty="0" smtClean="0"/>
              <a:t> of </a:t>
            </a:r>
            <a:r>
              <a:rPr lang="hu-HU" dirty="0" err="1" smtClean="0"/>
              <a:t>whether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statistical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i.e. an </a:t>
            </a:r>
            <a:r>
              <a:rPr lang="hu-HU" dirty="0" err="1" smtClean="0"/>
              <a:t>n-gram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or</a:t>
            </a:r>
            <a:r>
              <a:rPr lang="hu-HU" dirty="0" smtClean="0"/>
              <a:t> a </a:t>
            </a:r>
            <a:r>
              <a:rPr lang="hu-HU" dirty="0" err="1" smtClean="0"/>
              <a:t>neural</a:t>
            </a:r>
            <a:r>
              <a:rPr lang="hu-HU" dirty="0" smtClean="0"/>
              <a:t> (</a:t>
            </a:r>
            <a:r>
              <a:rPr lang="hu-HU" dirty="0" err="1" smtClean="0"/>
              <a:t>recurrent</a:t>
            </a:r>
            <a:r>
              <a:rPr lang="hu-HU" dirty="0" smtClean="0"/>
              <a:t>, </a:t>
            </a:r>
            <a:r>
              <a:rPr lang="hu-HU" dirty="0" err="1" smtClean="0"/>
              <a:t>transformer</a:t>
            </a:r>
            <a:r>
              <a:rPr lang="hu-HU" dirty="0" smtClean="0"/>
              <a:t>, etc.)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b="1" dirty="0" err="1" smtClean="0"/>
              <a:t>useful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minimises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of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text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general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: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generalises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addition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</a:t>
            </a:r>
          </a:p>
          <a:p>
            <a:pPr lvl="2"/>
            <a:r>
              <a:rPr lang="hu-HU" dirty="0" err="1" smtClean="0"/>
              <a:t>smoothing</a:t>
            </a:r>
            <a:r>
              <a:rPr lang="hu-HU" dirty="0" smtClean="0"/>
              <a:t>, </a:t>
            </a:r>
            <a:r>
              <a:rPr lang="hu-HU" dirty="0" err="1" smtClean="0"/>
              <a:t>backoff</a:t>
            </a:r>
            <a:r>
              <a:rPr lang="hu-HU" dirty="0" smtClean="0"/>
              <a:t> and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techniques</a:t>
            </a:r>
            <a:r>
              <a:rPr lang="hu-HU" dirty="0" smtClean="0"/>
              <a:t> </a:t>
            </a:r>
            <a:r>
              <a:rPr lang="hu-HU" b="1" dirty="0" err="1" smtClean="0"/>
              <a:t>help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 </a:t>
            </a:r>
            <a:r>
              <a:rPr lang="hu-HU" b="1" dirty="0" err="1" smtClean="0"/>
              <a:t>generalise</a:t>
            </a:r>
            <a:r>
              <a:rPr lang="hu-HU" dirty="0" smtClean="0"/>
              <a:t>,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improve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435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Perplexity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Intuition</a:t>
            </a:r>
            <a:r>
              <a:rPr lang="hu-HU" dirty="0" smtClean="0"/>
              <a:t>: </a:t>
            </a:r>
            <a:r>
              <a:rPr lang="hu-HU" dirty="0" err="1" smtClean="0"/>
              <a:t>perplexity</a:t>
            </a:r>
            <a:r>
              <a:rPr lang="hu-HU" dirty="0" smtClean="0"/>
              <a:t> (</a:t>
            </a:r>
            <a:r>
              <a:rPr lang="en-GB" dirty="0"/>
              <a:t>≈</a:t>
            </a:r>
            <a:r>
              <a:rPr lang="hu-HU" dirty="0" smtClean="0"/>
              <a:t> </a:t>
            </a:r>
            <a:r>
              <a:rPr lang="hu-HU" dirty="0" err="1" smtClean="0"/>
              <a:t>surprisal</a:t>
            </a:r>
            <a:r>
              <a:rPr lang="hu-HU" dirty="0" smtClean="0"/>
              <a:t>) </a:t>
            </a:r>
            <a:r>
              <a:rPr lang="hu-HU" dirty="0" err="1" smtClean="0"/>
              <a:t>expresses</a:t>
            </a:r>
            <a:r>
              <a:rPr lang="hu-HU" dirty="0" smtClean="0"/>
              <a:t>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that</a:t>
            </a:r>
            <a:r>
              <a:rPr lang="hu-HU" dirty="0" smtClean="0"/>
              <a:t> a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sampled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/>
              <a:t> </a:t>
            </a:r>
            <a:r>
              <a:rPr lang="hu-HU" dirty="0" err="1" smtClean="0"/>
              <a:t>describes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lower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perpexity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more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</a:t>
            </a:r>
            <a:endParaRPr lang="hu-HU" dirty="0" smtClean="0"/>
          </a:p>
          <a:p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plays</a:t>
            </a:r>
            <a:r>
              <a:rPr lang="hu-HU" dirty="0" smtClean="0"/>
              <a:t> an </a:t>
            </a:r>
            <a:r>
              <a:rPr lang="hu-HU" dirty="0" err="1" smtClean="0"/>
              <a:t>important</a:t>
            </a:r>
            <a:r>
              <a:rPr lang="hu-HU" dirty="0" smtClean="0"/>
              <a:t> </a:t>
            </a:r>
            <a:r>
              <a:rPr lang="hu-HU" dirty="0" err="1" smtClean="0"/>
              <a:t>role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ways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measure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same</a:t>
            </a:r>
            <a:r>
              <a:rPr lang="hu-HU" b="1" dirty="0" smtClean="0"/>
              <a:t> test corpus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b="1" dirty="0" err="1" smtClean="0"/>
              <a:t>two</a:t>
            </a:r>
            <a:r>
              <a:rPr lang="hu-HU" b="1" dirty="0" smtClean="0"/>
              <a:t> </a:t>
            </a:r>
            <a:r>
              <a:rPr lang="hu-HU" b="1" dirty="0" err="1" smtClean="0"/>
              <a:t>different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models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predicts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actual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more </a:t>
            </a:r>
            <a:r>
              <a:rPr lang="hu-HU" dirty="0" err="1" smtClean="0"/>
              <a:t>successfully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a </a:t>
            </a:r>
            <a:r>
              <a:rPr lang="hu-HU" dirty="0" err="1" smtClean="0"/>
              <a:t>lower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,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lower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measured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corpus </a:t>
            </a:r>
            <a:r>
              <a:rPr lang="hu-HU" dirty="0" err="1" smtClean="0"/>
              <a:t>indicates</a:t>
            </a:r>
            <a:r>
              <a:rPr lang="hu-HU" dirty="0" smtClean="0"/>
              <a:t> a </a:t>
            </a:r>
            <a:r>
              <a:rPr lang="hu-HU" b="1" dirty="0" err="1" smtClean="0"/>
              <a:t>better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measure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of </a:t>
            </a:r>
            <a:r>
              <a:rPr lang="hu-HU" b="1" dirty="0" err="1" smtClean="0"/>
              <a:t>two</a:t>
            </a:r>
            <a:r>
              <a:rPr lang="hu-HU" b="1" dirty="0" smtClean="0"/>
              <a:t> </a:t>
            </a:r>
            <a:r>
              <a:rPr lang="hu-HU" b="1" dirty="0" err="1" smtClean="0"/>
              <a:t>different</a:t>
            </a:r>
            <a:r>
              <a:rPr lang="hu-HU" b="1" dirty="0" smtClean="0"/>
              <a:t> </a:t>
            </a:r>
            <a:r>
              <a:rPr lang="hu-HU" b="1" dirty="0" err="1" smtClean="0"/>
              <a:t>texts</a:t>
            </a:r>
            <a:r>
              <a:rPr lang="hu-HU" b="1" dirty="0" smtClean="0"/>
              <a:t> (</a:t>
            </a:r>
            <a:r>
              <a:rPr lang="hu-HU" b="1" dirty="0" err="1" smtClean="0"/>
              <a:t>or</a:t>
            </a:r>
            <a:r>
              <a:rPr lang="hu-HU" b="1" dirty="0" smtClean="0"/>
              <a:t> </a:t>
            </a:r>
            <a:r>
              <a:rPr lang="hu-HU" b="1" dirty="0" err="1" smtClean="0"/>
              <a:t>corpora</a:t>
            </a:r>
            <a:r>
              <a:rPr lang="hu-HU" b="1" dirty="0" smtClean="0"/>
              <a:t>)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same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tells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</a:t>
            </a:r>
            <a:r>
              <a:rPr lang="hu-HU" dirty="0" err="1" smtClean="0"/>
              <a:t>something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quality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.</a:t>
            </a:r>
            <a:endParaRPr lang="hu-HU" dirty="0"/>
          </a:p>
          <a:p>
            <a:pPr lvl="2"/>
            <a:r>
              <a:rPr lang="hu-HU" dirty="0" err="1" smtClean="0"/>
              <a:t>low</a:t>
            </a:r>
            <a:r>
              <a:rPr lang="hu-HU" dirty="0" smtClean="0"/>
              <a:t> </a:t>
            </a:r>
            <a:r>
              <a:rPr lang="hu-HU" dirty="0" err="1" smtClean="0"/>
              <a:t>perpexit</a:t>
            </a:r>
            <a:r>
              <a:rPr lang="hu-HU" dirty="0" err="1" smtClean="0"/>
              <a:t>y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text is </a:t>
            </a:r>
            <a:r>
              <a:rPr lang="hu-HU" dirty="0" err="1" smtClean="0"/>
              <a:t>predictable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come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expected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2"/>
            <a:r>
              <a:rPr lang="hu-HU" dirty="0" err="1" smtClean="0"/>
              <a:t>high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mean</a:t>
            </a:r>
            <a:r>
              <a:rPr lang="hu-HU" dirty="0" smtClean="0"/>
              <a:t> </a:t>
            </a:r>
            <a:r>
              <a:rPr lang="hu-HU" dirty="0" err="1" smtClean="0"/>
              <a:t>various</a:t>
            </a:r>
            <a:r>
              <a:rPr lang="hu-HU" dirty="0" smtClean="0"/>
              <a:t> </a:t>
            </a:r>
            <a:r>
              <a:rPr lang="hu-HU" dirty="0" err="1" smtClean="0"/>
              <a:t>things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22582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Perplexity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 err="1" smtClean="0"/>
              <a:t>Sources</a:t>
            </a:r>
            <a:r>
              <a:rPr lang="hu-HU" b="1" dirty="0" smtClean="0"/>
              <a:t> of </a:t>
            </a:r>
            <a:r>
              <a:rPr lang="hu-HU" b="1" dirty="0" err="1" smtClean="0"/>
              <a:t>high</a:t>
            </a:r>
            <a:r>
              <a:rPr lang="hu-HU" b="1" dirty="0" smtClean="0"/>
              <a:t> </a:t>
            </a:r>
            <a:r>
              <a:rPr lang="hu-HU" b="1" dirty="0" err="1" smtClean="0"/>
              <a:t>perplexity</a:t>
            </a:r>
            <a:r>
              <a:rPr lang="hu-HU" b="1" dirty="0" smtClean="0"/>
              <a:t>:</a:t>
            </a:r>
          </a:p>
          <a:p>
            <a:pPr lvl="1"/>
            <a:r>
              <a:rPr lang="hu-HU" dirty="0" smtClean="0"/>
              <a:t>text is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wrong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endParaRPr lang="hu-HU" dirty="0" smtClean="0"/>
          </a:p>
          <a:p>
            <a:pPr lvl="1"/>
            <a:r>
              <a:rPr lang="hu-HU" dirty="0" err="1" smtClean="0"/>
              <a:t>elementary</a:t>
            </a:r>
            <a:r>
              <a:rPr lang="hu-HU" dirty="0" smtClean="0"/>
              <a:t> </a:t>
            </a:r>
            <a:r>
              <a:rPr lang="hu-HU" dirty="0" err="1" smtClean="0"/>
              <a:t>grammatical</a:t>
            </a:r>
            <a:r>
              <a:rPr lang="hu-HU" dirty="0" smtClean="0"/>
              <a:t> </a:t>
            </a:r>
            <a:r>
              <a:rPr lang="hu-HU" dirty="0" err="1" smtClean="0"/>
              <a:t>mistakes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subject-verb</a:t>
            </a:r>
            <a:r>
              <a:rPr lang="hu-HU" dirty="0" smtClean="0"/>
              <a:t> </a:t>
            </a:r>
            <a:r>
              <a:rPr lang="hu-HU" dirty="0" err="1" smtClean="0"/>
              <a:t>agreement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elementary</a:t>
            </a:r>
            <a:r>
              <a:rPr lang="hu-HU" dirty="0" smtClean="0"/>
              <a:t> </a:t>
            </a:r>
            <a:r>
              <a:rPr lang="hu-HU" dirty="0" err="1" smtClean="0"/>
              <a:t>lexical</a:t>
            </a:r>
            <a:r>
              <a:rPr lang="hu-HU" dirty="0" smtClean="0"/>
              <a:t> </a:t>
            </a:r>
            <a:r>
              <a:rPr lang="hu-HU" dirty="0" err="1" smtClean="0"/>
              <a:t>mistakes</a:t>
            </a:r>
            <a:r>
              <a:rPr lang="hu-HU" dirty="0" smtClean="0"/>
              <a:t> (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wrong</a:t>
            </a:r>
            <a:r>
              <a:rPr lang="hu-HU" dirty="0" smtClean="0"/>
              <a:t> </a:t>
            </a:r>
            <a:r>
              <a:rPr lang="hu-HU" dirty="0" err="1" smtClean="0"/>
              <a:t>sense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junk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text (</a:t>
            </a:r>
            <a:r>
              <a:rPr lang="hu-HU" dirty="0" err="1" smtClean="0"/>
              <a:t>e.g</a:t>
            </a:r>
            <a:r>
              <a:rPr lang="hu-HU" dirty="0" smtClean="0"/>
              <a:t>. HTML </a:t>
            </a:r>
            <a:r>
              <a:rPr lang="hu-HU" dirty="0" err="1" smtClean="0"/>
              <a:t>code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removed</a:t>
            </a:r>
            <a:r>
              <a:rPr lang="hu-HU" dirty="0" smtClean="0"/>
              <a:t>, OCR </a:t>
            </a:r>
            <a:r>
              <a:rPr lang="hu-HU" dirty="0" err="1" smtClean="0"/>
              <a:t>errors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not</a:t>
            </a:r>
            <a:r>
              <a:rPr lang="hu-HU" dirty="0" smtClean="0"/>
              <a:t> text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tables</a:t>
            </a:r>
            <a:r>
              <a:rPr lang="hu-HU" dirty="0" smtClean="0"/>
              <a:t>, </a:t>
            </a:r>
            <a:r>
              <a:rPr lang="hu-HU" dirty="0" err="1" smtClean="0"/>
              <a:t>numbers</a:t>
            </a:r>
            <a:r>
              <a:rPr lang="hu-HU" dirty="0" smtClean="0"/>
              <a:t>, etc. (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unpredictable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terminology</a:t>
            </a:r>
            <a:r>
              <a:rPr lang="hu-HU" dirty="0" smtClean="0"/>
              <a:t> and </a:t>
            </a:r>
            <a:r>
              <a:rPr lang="hu-HU" dirty="0" err="1" smtClean="0"/>
              <a:t>topic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endParaRPr lang="hu-HU" dirty="0" smtClean="0"/>
          </a:p>
          <a:p>
            <a:pPr lvl="1"/>
            <a:r>
              <a:rPr lang="hu-HU" dirty="0" err="1" smtClean="0"/>
              <a:t>style</a:t>
            </a:r>
            <a:r>
              <a:rPr lang="hu-HU" dirty="0" smtClean="0"/>
              <a:t>: </a:t>
            </a:r>
            <a:r>
              <a:rPr lang="hu-HU" dirty="0" err="1" smtClean="0"/>
              <a:t>author</a:t>
            </a:r>
            <a:r>
              <a:rPr lang="hu-HU" dirty="0" smtClean="0"/>
              <a:t> </a:t>
            </a:r>
            <a:r>
              <a:rPr lang="hu-HU" dirty="0" err="1" smtClean="0"/>
              <a:t>uses</a:t>
            </a:r>
            <a:r>
              <a:rPr lang="hu-HU" dirty="0" smtClean="0"/>
              <a:t> </a:t>
            </a:r>
            <a:r>
              <a:rPr lang="hu-HU" dirty="0" err="1" smtClean="0"/>
              <a:t>rare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stylistic</a:t>
            </a:r>
            <a:r>
              <a:rPr lang="hu-HU" dirty="0" smtClean="0"/>
              <a:t> </a:t>
            </a:r>
            <a:r>
              <a:rPr lang="hu-HU" dirty="0" err="1" smtClean="0"/>
              <a:t>effect</a:t>
            </a:r>
            <a:r>
              <a:rPr lang="hu-HU" dirty="0" smtClean="0"/>
              <a:t> (</a:t>
            </a:r>
            <a:r>
              <a:rPr lang="hu-HU" dirty="0" err="1" smtClean="0"/>
              <a:t>literary</a:t>
            </a:r>
            <a:r>
              <a:rPr lang="hu-HU" dirty="0" smtClean="0"/>
              <a:t> text)</a:t>
            </a:r>
          </a:p>
          <a:p>
            <a:pPr lvl="1"/>
            <a:r>
              <a:rPr lang="hu-HU" dirty="0" err="1" smtClean="0"/>
              <a:t>aesthetic</a:t>
            </a:r>
            <a:r>
              <a:rPr lang="hu-HU" dirty="0" smtClean="0"/>
              <a:t> </a:t>
            </a:r>
            <a:r>
              <a:rPr lang="hu-HU" dirty="0" err="1" smtClean="0"/>
              <a:t>appeal</a:t>
            </a:r>
            <a:r>
              <a:rPr lang="hu-HU" dirty="0" smtClean="0"/>
              <a:t>?</a:t>
            </a:r>
          </a:p>
          <a:p>
            <a:pPr lvl="1"/>
            <a:r>
              <a:rPr lang="hu-HU" dirty="0" err="1" smtClean="0"/>
              <a:t>truthfulness</a:t>
            </a:r>
            <a:r>
              <a:rPr lang="hu-HU" dirty="0" smtClean="0"/>
              <a:t>?</a:t>
            </a:r>
          </a:p>
          <a:p>
            <a:r>
              <a:rPr lang="hu-HU" dirty="0" err="1" smtClean="0"/>
              <a:t>High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indicates</a:t>
            </a:r>
            <a:r>
              <a:rPr lang="hu-HU" dirty="0" smtClean="0"/>
              <a:t> </a:t>
            </a:r>
            <a:r>
              <a:rPr lang="hu-HU" dirty="0" err="1" smtClean="0"/>
              <a:t>junk</a:t>
            </a:r>
            <a:r>
              <a:rPr lang="hu-HU" dirty="0" smtClean="0"/>
              <a:t>, </a:t>
            </a:r>
            <a:r>
              <a:rPr lang="hu-HU" dirty="0" err="1" smtClean="0"/>
              <a:t>something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equipped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handle</a:t>
            </a:r>
            <a:endParaRPr lang="hu-HU" dirty="0" smtClean="0"/>
          </a:p>
          <a:p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high</a:t>
            </a:r>
            <a:r>
              <a:rPr lang="hu-HU" dirty="0" smtClean="0"/>
              <a:t> </a:t>
            </a:r>
            <a:r>
              <a:rPr lang="hu-HU" dirty="0" err="1" smtClean="0"/>
              <a:t>perplexity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filtering</a:t>
            </a:r>
            <a:r>
              <a:rPr lang="hu-HU" dirty="0" smtClean="0"/>
              <a:t> out </a:t>
            </a:r>
            <a:r>
              <a:rPr lang="hu-HU" dirty="0" err="1" smtClean="0"/>
              <a:t>junk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</a:t>
            </a:r>
          </a:p>
        </p:txBody>
      </p:sp>
    </p:spTree>
    <p:extLst>
      <p:ext uri="{BB962C8B-B14F-4D97-AF65-F5344CB8AC3E}">
        <p14:creationId xmlns:p14="http://schemas.microsoft.com/office/powerpoint/2010/main" val="374099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2546</Words>
  <Application>Microsoft Office PowerPoint</Application>
  <PresentationFormat>Diavetítés a képernyőre (4:3 oldalarány)</PresentationFormat>
  <Paragraphs>171</Paragraphs>
  <Slides>17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18" baseType="lpstr">
      <vt:lpstr>Office-téma</vt:lpstr>
      <vt:lpstr>Natural Language Processing Probabilistic Language Modelling</vt:lpstr>
      <vt:lpstr>Problem</vt:lpstr>
      <vt:lpstr>Language as a Stochastic Process</vt:lpstr>
      <vt:lpstr>Markov Chains</vt:lpstr>
      <vt:lpstr>Maximum Likelihood Estimation</vt:lpstr>
      <vt:lpstr>Maximum Likelihood Estimation</vt:lpstr>
      <vt:lpstr>Maximum Likelihood Estimation</vt:lpstr>
      <vt:lpstr>N-gram Language Models</vt:lpstr>
      <vt:lpstr>Tries</vt:lpstr>
      <vt:lpstr>Smoothing</vt:lpstr>
      <vt:lpstr>Backoff</vt:lpstr>
      <vt:lpstr>Use of N-gram Language Models</vt:lpstr>
      <vt:lpstr>Use of N-gram Language Models</vt:lpstr>
      <vt:lpstr>Surprisal and perplexity</vt:lpstr>
      <vt:lpstr>Perplexity</vt:lpstr>
      <vt:lpstr>Perplexity</vt:lpstr>
      <vt:lpstr>Perplexity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Probabilistic Language Modelling</dc:title>
  <dc:creator>Anonim</dc:creator>
  <cp:lastModifiedBy>Anonim</cp:lastModifiedBy>
  <cp:revision>48</cp:revision>
  <dcterms:created xsi:type="dcterms:W3CDTF">2025-11-03T20:10:41Z</dcterms:created>
  <dcterms:modified xsi:type="dcterms:W3CDTF">2025-11-15T13:55:45Z</dcterms:modified>
</cp:coreProperties>
</file>